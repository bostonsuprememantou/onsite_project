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slides/charts/chart1.xml" ContentType="application/vnd.openxmlformats-officedocument.drawingml.chart+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2.xml" ContentType="application/vnd.openxmlformats-officedocument.drawingml.chart+xml"/>
  <Override PartName="/ppt/slides/charts/chart3.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4.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5.xml" ContentType="application/vnd.openxmlformats-officedocument.drawingml.chart+xml"/>
  <Override PartName="/ppt/notesSlides/notesSlide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0a4af2a01834e8e" /><Relationship Type="http://schemas.openxmlformats.org/officeDocument/2006/relationships/extended-properties" Target="/docProps/app.xml" Id="R77f058e5eea74afc" /><Relationship Type="http://schemas.openxmlformats.org/officeDocument/2006/relationships/officeDocument" Target="/ppt/presentation.xml" Id="R34ee054c92104edb" /></Relationships>
</file>

<file path=ppt/presentation.xml><?xml version="1.0" encoding="utf-8"?>
<p:presentation xmlns:p="http://schemas.openxmlformats.org/presentationml/2006/main">
  <p:sldMasterIdLst>
    <p:sldMasterId xmlns:r="http://schemas.openxmlformats.org/officeDocument/2006/relationships" id="2147483648" r:id="R778ab3701b814490"/>
  </p:sldMasterIdLst>
  <p:notesMasterIdLst>
    <p:notesMasterId xmlns:r="http://schemas.openxmlformats.org/officeDocument/2006/relationships" r:id="Rdc93340fec654148"/>
  </p:notesMasterIdLst>
  <p:sldIdLst>
    <p:sldId xmlns:r="http://schemas.openxmlformats.org/officeDocument/2006/relationships" id="256" r:id="R93203bb4ca784b82"/>
    <p:sldId xmlns:r="http://schemas.openxmlformats.org/officeDocument/2006/relationships" id="257" r:id="R0ca987cedb014f98"/>
    <p:sldId xmlns:r="http://schemas.openxmlformats.org/officeDocument/2006/relationships" id="258" r:id="Redc741d5cb5f46b7"/>
    <p:sldId xmlns:r="http://schemas.openxmlformats.org/officeDocument/2006/relationships" id="259" r:id="Red9b7cb8bb3a4fc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b65096e91c94e90" /><Relationship Type="http://schemas.openxmlformats.org/officeDocument/2006/relationships/slideMaster" Target="/ppt/slideMasters/slideMaster1.xml" Id="R778ab3701b814490" /><Relationship Type="http://schemas.openxmlformats.org/officeDocument/2006/relationships/notesMaster" Target="/ppt/notesMasters/notesMaster1.xml" Id="Rdc93340fec654148" /><Relationship Type="http://schemas.openxmlformats.org/officeDocument/2006/relationships/presProps" Target="/ppt/presProps.xml" Id="R068bf6c713d548cb" /><Relationship Type="http://schemas.openxmlformats.org/officeDocument/2006/relationships/tableStyles" Target="/ppt/tableStyles.xml" Id="Rf811e17288a14397" /><Relationship Type="http://schemas.openxmlformats.org/officeDocument/2006/relationships/slide" Target="/ppt/slides/slide1.xml" Id="R93203bb4ca784b82" /><Relationship Type="http://schemas.openxmlformats.org/officeDocument/2006/relationships/slide" Target="/ppt/slides/slide2.xml" Id="R0ca987cedb014f98" /><Relationship Type="http://schemas.openxmlformats.org/officeDocument/2006/relationships/slide" Target="/ppt/slides/slide3.xml" Id="Redc741d5cb5f46b7" /><Relationship Type="http://schemas.openxmlformats.org/officeDocument/2006/relationships/slide" Target="/ppt/slides/slide4.xml" Id="Red9b7cb8bb3a4fc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ea3789a82cd462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999595c0e2a46fb" /><Relationship Type="http://schemas.openxmlformats.org/officeDocument/2006/relationships/notesMaster" Target="/ppt/notesMasters/notesMaster1.xml" Id="R3bda5c3c8365402d" /></Relationships>
</file>

<file path=ppt/notesSlides/_rels/notesSlide2.xml.rels>&#65279;<?xml version="1.0" encoding="utf-8"?><Relationships xmlns="http://schemas.openxmlformats.org/package/2006/relationships"><Relationship Type="http://schemas.openxmlformats.org/officeDocument/2006/relationships/slide" Target="/ppt/slides/slide2.xml" Id="Ra57c82f3c39e4540" /><Relationship Type="http://schemas.openxmlformats.org/officeDocument/2006/relationships/notesMaster" Target="/ppt/notesMasters/notesMaster1.xml" Id="R9c82623113404d00" /></Relationships>
</file>

<file path=ppt/notesSlides/_rels/notesSlide3.xml.rels>&#65279;<?xml version="1.0" encoding="utf-8"?><Relationships xmlns="http://schemas.openxmlformats.org/package/2006/relationships"><Relationship Type="http://schemas.openxmlformats.org/officeDocument/2006/relationships/slide" Target="/ppt/slides/slide3.xml" Id="Rbb9e271d8f114724" /><Relationship Type="http://schemas.openxmlformats.org/officeDocument/2006/relationships/notesMaster" Target="/ppt/notesMasters/notesMaster1.xml" Id="Ra2dc68a79bf1465d" /></Relationships>
</file>

<file path=ppt/notesSlides/_rels/notesSlide4.xml.rels>&#65279;<?xml version="1.0" encoding="utf-8"?><Relationships xmlns="http://schemas.openxmlformats.org/package/2006/relationships"><Relationship Type="http://schemas.openxmlformats.org/officeDocument/2006/relationships/slide" Target="/ppt/slides/slide4.xml" Id="R474b8ac03b8c4794" /><Relationship Type="http://schemas.openxmlformats.org/officeDocument/2006/relationships/notesMaster" Target="/ppt/notesMasters/notesMaster1.xml" Id="Rcdfd228991c34b2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Meds Counsulting LLC and the NHN project charter. Explain NHN scale, the rising readmission problem, team workstreams, stakeholders, and the working hypothesis.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the initial data analysis. Start with the 12,000-patient dataset and 43.2 percent readmission rate. Explain that missing follow-up status is the largest data gap, outliers affect length of stay and financial fields, high-risk segments concentrate readmissions, and correlations point toward prior admissions and chronic conditions as early risk signals.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why the approach uses three methods. Regression analysis quantifies risk drivers, customer segmentation turns the model into action groups, and market basic analysis adds operational and financial context. Point to the model evidence chart: the expanded clinical model improves ROC-AUC to about 0.74, so it is useful for risk-tier decisions, not just reporting.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to explain the team's business insights. The major drivers are chronic burden, prior admissions, emergency admission, and skilled nursing discharge. Hidden opportunities come from risk-tier targeting. Risk factors include unknown follow-up status, high-acuity discharge, repeat utilization, and financial data quality. Distinguish statistical significance from practical significance and business significance. The risk-decile chart supports the statistical case, while the ROI scenario supports the business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4b24390ad19468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fcd33355f6d4eff" /><Relationship Type="http://schemas.openxmlformats.org/officeDocument/2006/relationships/slideLayout" Target="/ppt/slideLayouts/slideLayout1.xml" Id="Rfab8b5b54975464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ab8b5b54975464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c7f053f56d94b0e" /><Relationship Type="http://schemas.openxmlformats.org/officeDocument/2006/relationships/chart" Target="/ppt/slides/charts/chart1.xml" Id="Rf0fcadf4c1644f50" /><Relationship Type="http://schemas.openxmlformats.org/officeDocument/2006/relationships/notesSlide" Target="/ppt/notesSlides/notesSlide1.xml" Id="R5d82f8960559472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6c25314dc3043bb" /><Relationship Type="http://schemas.openxmlformats.org/officeDocument/2006/relationships/chart" Target="/ppt/slides/charts/chart2.xml" Id="Rcd094564a20d409a" /><Relationship Type="http://schemas.openxmlformats.org/officeDocument/2006/relationships/chart" Target="/ppt/slides/charts/chart3.xml" Id="Rd276613a7b99405a" /><Relationship Type="http://schemas.openxmlformats.org/officeDocument/2006/relationships/notesSlide" Target="/ppt/notesSlides/notesSlide2.xml" Id="R1e0183bb38e943c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5a4240eafd74c28" /><Relationship Type="http://schemas.openxmlformats.org/officeDocument/2006/relationships/chart" Target="/ppt/slides/charts/chart4.xml" Id="R245aa5ae02df443f" /><Relationship Type="http://schemas.openxmlformats.org/officeDocument/2006/relationships/notesSlide" Target="/ppt/notesSlides/notesSlide3.xml" Id="Rd6f2931ecfd645f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4dded5d342d4da6" /><Relationship Type="http://schemas.openxmlformats.org/officeDocument/2006/relationships/chart" Target="/ppt/slides/charts/chart5.xml" Id="R4426ab9da4634f83" /><Relationship Type="http://schemas.openxmlformats.org/officeDocument/2006/relationships/notesSlide" Target="/ppt/notesSlides/notesSlide4.xml" Id="R632fd464bca1496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chart1.xml><?xml version="1.0" encoding="utf-8"?>
<c:chartSpace xmlns:c="http://schemas.openxmlformats.org/drawingml/2006/chart" xmlns:r="http://schemas.openxmlformats.org/officeDocument/2006/relationships">
  <c:lang val="en-US"/>
  <c:chart>
    <c:plotArea>
      <c:lineChart>
        <c:grouping val="standard"/>
        <c:ser>
          <c:idx val="0"/>
          <c:order val="0"/>
          <c:tx>
            <c:v>Readmission rate</c:v>
          </c:tx>
          <c:spPr>
            <a:ln xmlns:a="http://schemas.openxmlformats.org/drawingml/2006/main" w="38100">
              <a:solidFill>
                <a:srgbClr val="0F6F73"/>
              </a:solidFill>
              <a:prstDash val="solid"/>
            </a:ln>
          </c:spPr>
          <c:marker>
            <c:symbol val="circle"/>
            <c:size val="8"/>
            <c:spPr>
              <a:solidFill xmlns:a="http://schemas.openxmlformats.org/drawingml/2006/main">
                <a:srgbClr val="0F6F73"/>
              </a:solidFill>
            </c:spPr>
          </c:marker>
          <c:cat>
            <c:numRef>
              <c:f>'Chart Data'!$A$2:$A$3</c:f>
              <c:numCache>
                <c:formatCode>General</c:formatCode>
                <c:ptCount val="2"/>
                <c:pt idx="0">
                  <c:v>2022</c:v>
                </c:pt>
                <c:pt idx="1">
                  <c:v>2025</c:v>
                </c:pt>
              </c:numCache>
            </c:numRef>
          </c:cat>
          <c:val>
            <c:numRef>
              <c:f>'Chart Data'!$B$2:$B$3</c:f>
              <c:numCache>
                <c:formatCode>0.0%</c:formatCode>
                <c:ptCount val="2"/>
                <c:pt idx="0">
                  <c:v>0.142</c:v>
                </c:pt>
                <c:pt idx="1">
                  <c:v>0.184</c:v>
                </c:pt>
              </c:numCache>
            </c:numRef>
          </c:val>
        </c:ser>
        <c:dLbls>
          <c:txPr>
            <a:bodyPr xmlns:a="http://schemas.openxmlformats.org/drawingml/2006/main" anchorCtr="1"/>
            <a:lstStyle xmlns:a="http://schemas.openxmlformats.org/drawingml/2006/main"/>
            <a:p xmlns:a="http://schemas.openxmlformats.org/drawingml/2006/main">
              <a:pPr>
                <a:defRPr sz="660" b="1">
                  <a:solidFill>
                    <a:srgbClr val="102A34"/>
                  </a:solidFill>
                  <a:latin typeface="Helvetica Neue"/>
                  <a:ea typeface="Helvetica Neue"/>
                  <a:cs typeface="Helvetica Neue"/>
                </a:defRPr>
              </a:pPr>
            </a:p>
          </c:txPr>
          <c:showLegendKey val="0"/>
          <c:showVal val="1"/>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B8CDD3"/>
            </a:solidFill>
            <a:prstDash val="solid"/>
          </a:ln>
        </c:spPr>
        <c:txPr>
          <a:bodyPr xmlns:a="http://schemas.openxmlformats.org/drawingml/2006/main" anchorCtr="1"/>
          <a:lstStyle xmlns:a="http://schemas.openxmlformats.org/drawingml/2006/main"/>
          <a:p xmlns:a="http://schemas.openxmlformats.org/drawingml/2006/main">
            <a:pPr>
              <a:defRPr sz="660">
                <a:solidFill>
                  <a:srgbClr val="50636B"/>
                </a:solidFill>
                <a:latin typeface="Helvetica Neue"/>
                <a:ea typeface="Helvetica Neue"/>
                <a:cs typeface="Helvetica Neue"/>
              </a:defRPr>
            </a:pPr>
          </a:p>
        </c:txPr>
        <c:crossAx val="48672768"/>
      </c:catAx>
      <c:valAx>
        <c:axId val="48672768"/>
        <c:scaling>
          <c:orientation val="minMax"/>
          <c:max val="0.2"/>
          <c:min val="0.12"/>
        </c:scaling>
        <c:delete val="0"/>
        <c:axPos val="l"/>
        <c:majorGridlines>
          <c:spPr>
            <a:ln xmlns:a="http://schemas.openxmlformats.org/drawingml/2006/main" w="9525">
              <a:solidFill>
                <a:srgbClr val="D8E6EA"/>
              </a:solidFill>
              <a:prstDash val="solid"/>
            </a:ln>
          </c:spPr>
        </c:majorGridlines>
        <c:numFmt formatCode="0%"/>
        <c:majorTickMark val="none"/>
        <c:minorTickMark val="none"/>
        <c:spPr>
          <a:ln xmlns:a="http://schemas.openxmlformats.org/drawingml/2006/main" w="9525">
            <a:solidFill>
              <a:srgbClr val="B8CDD3"/>
            </a:solidFill>
            <a:prstDash val="solid"/>
          </a:ln>
        </c:spPr>
        <c:txPr>
          <a:bodyPr xmlns:a="http://schemas.openxmlformats.org/drawingml/2006/main" anchorCtr="1"/>
          <a:lstStyle xmlns:a="http://schemas.openxmlformats.org/drawingml/2006/main"/>
          <a:p xmlns:a="http://schemas.openxmlformats.org/drawingml/2006/main">
            <a:pPr>
              <a:defRPr sz="630">
                <a:solidFill>
                  <a:srgbClr val="50636B"/>
                </a:solidFill>
                <a:latin typeface="Helvetica Neue"/>
                <a:ea typeface="Helvetica Neue"/>
                <a:cs typeface="Helvetica Neue"/>
              </a:defRPr>
            </a:pPr>
          </a:p>
        </c:txPr>
        <c:crossAx val="48650112"/>
        <c:crossBetween val="between"/>
        <c:majorUnit val="0.02"/>
      </c:valAx>
      <c:spPr>
        <a:solidFill xmlns:a="http://schemas.openxmlformats.org/drawingml/2006/main">
          <a:srgbClr val="F8FBFC"/>
        </a:solidFill>
        <a:ln xmlns:a="http://schemas.openxmlformats.org/drawingml/2006/main" w="0">
          <a:noFill/>
          <a:prstDash val="solid"/>
        </a:ln>
      </c:spPr>
    </c:plotArea>
    <c:plotVisOnly val="1"/>
  </c:chart>
  <c:spPr>
    <a:solidFill xmlns:a="http://schemas.openxmlformats.org/drawingml/2006/main">
      <a:srgbClr val="F8FBFC"/>
    </a:solidFill>
    <a:ln xmlns:a="http://schemas.openxmlformats.org/drawingml/2006/main" w="0">
      <a:noFill/>
      <a:prstDash val="solid"/>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Readmission rate</c:v>
          </c:tx>
          <c:spPr>
            <a:solidFill xmlns:a="http://schemas.openxmlformats.org/drawingml/2006/main">
              <a:srgbClr val="0F6F73"/>
            </a:solidFill>
          </c:spPr>
          <c:cat>
            <c:strRef>
              <c:f>'Chart Data'!$A$2:$A$6</c:f>
              <c:strCache>
                <c:ptCount val="5"/>
                <c:pt idx="0">
                  <c:v>5+ chronic</c:v>
                </c:pt>
                <c:pt idx="1">
                  <c:v>Unknown follow-up</c:v>
                </c:pt>
                <c:pt idx="2">
                  <c:v>3+ prior admit</c:v>
                </c:pt>
                <c:pt idx="3">
                  <c:v>Skilled nursing</c:v>
                </c:pt>
                <c:pt idx="4">
                  <c:v>Emergency admit</c:v>
                </c:pt>
              </c:strCache>
            </c:strRef>
          </c:cat>
          <c:val>
            <c:numRef>
              <c:f>'Chart Data'!$B$2:$B$6</c:f>
              <c:numCache>
                <c:formatCode>0.0%</c:formatCode>
                <c:ptCount val="5"/>
                <c:pt idx="0">
                  <c:v>0.6233864844</c:v>
                </c:pt>
                <c:pt idx="1">
                  <c:v>0.6030150754</c:v>
                </c:pt>
                <c:pt idx="2">
                  <c:v>0.5702325581</c:v>
                </c:pt>
                <c:pt idx="3">
                  <c:v>0.5435385469</c:v>
                </c:pt>
                <c:pt idx="4">
                  <c:v>0.5088090204</c:v>
                </c:pt>
              </c:numCache>
            </c:numRef>
          </c:val>
        </c:ser>
        <c:dLbls>
          <c:txPr>
            <a:bodyPr xmlns:a="http://schemas.openxmlformats.org/drawingml/2006/main" anchorCtr="1"/>
            <a:lstStyle xmlns:a="http://schemas.openxmlformats.org/drawingml/2006/main"/>
            <a:p xmlns:a="http://schemas.openxmlformats.org/drawingml/2006/main">
              <a:pPr>
                <a:defRPr sz="615" b="1">
                  <a:solidFill>
                    <a:srgbClr val="102A34"/>
                  </a:solidFill>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l"/>
        <c:majorGridlines>
          <c:spPr>
            <a:ln xmlns:a="http://schemas.openxmlformats.org/drawingml/2006/main" w="9525">
              <a:solidFill>
                <a:srgbClr val="D8E6EA"/>
              </a:solidFill>
              <a:prstDash val="solid"/>
            </a:ln>
          </c:spPr>
        </c:majorGridlines>
        <c:numFmt formatCode="0%"/>
        <c:majorTickMark val="none"/>
        <c:minorTickMark val="none"/>
        <c:spPr>
          <a:ln xmlns:a="http://schemas.openxmlformats.org/drawingml/2006/main" w="9525">
            <a:solidFill>
              <a:srgbClr val="B8CDD3"/>
            </a:solidFill>
            <a:prstDash val="solid"/>
          </a:ln>
        </c:spPr>
        <c:txPr>
          <a:bodyPr xmlns:a="http://schemas.openxmlformats.org/drawingml/2006/main" anchorCtr="1"/>
          <a:lstStyle xmlns:a="http://schemas.openxmlformats.org/drawingml/2006/main"/>
          <a:p xmlns:a="http://schemas.openxmlformats.org/drawingml/2006/main">
            <a:pPr>
              <a:defRPr sz="600">
                <a:solidFill>
                  <a:srgbClr val="50636B"/>
                </a:solidFill>
                <a:latin typeface="Helvetica Neue"/>
                <a:ea typeface="Helvetica Neue"/>
                <a:cs typeface="Helvetica Neue"/>
              </a:defRPr>
            </a:pPr>
          </a:p>
        </c:txPr>
        <c:crossAx val="48672768"/>
      </c:catAx>
      <c:valAx>
        <c:axId val="48672768"/>
        <c:scaling>
          <c:orientation val="minMax"/>
        </c:scaling>
        <c:delete val="0"/>
        <c:axPos val="b"/>
        <c:numFmt formatCode="General"/>
        <c:majorTickMark val="none"/>
        <c:minorTickMark val="none"/>
        <c:spPr>
          <a:ln xmlns:a="http://schemas.openxmlformats.org/drawingml/2006/main" w="0">
            <a:noFill/>
            <a:prstDash val="solid"/>
          </a:ln>
        </c:spPr>
        <c:txPr>
          <a:bodyPr xmlns:a="http://schemas.openxmlformats.org/drawingml/2006/main" anchorCtr="1"/>
          <a:lstStyle xmlns:a="http://schemas.openxmlformats.org/drawingml/2006/main"/>
          <a:p xmlns:a="http://schemas.openxmlformats.org/drawingml/2006/main">
            <a:pPr>
              <a:defRPr sz="660">
                <a:solidFill>
                  <a:srgbClr val="344B54"/>
                </a:solidFill>
                <a:latin typeface="Helvetica Neue"/>
                <a:ea typeface="Helvetica Neue"/>
                <a:cs typeface="Helvetica Neue"/>
              </a:defRPr>
            </a:pPr>
          </a:p>
        </c:txPr>
        <c:crossAx val="48650112"/>
        <c:crossBetween val="between"/>
      </c:valAx>
      <c:spPr>
        <a:solidFill xmlns:a="http://schemas.openxmlformats.org/drawingml/2006/main">
          <a:srgbClr val="F8FBFC"/>
        </a:solidFill>
        <a:ln xmlns:a="http://schemas.openxmlformats.org/drawingml/2006/main" w="0">
          <a:noFill/>
          <a:prstDash val="solid"/>
        </a:ln>
      </c:spPr>
    </c:plotArea>
    <c:plotVisOnly val="1"/>
  </c:chart>
  <c:spPr>
    <a:solidFill xmlns:a="http://schemas.openxmlformats.org/drawingml/2006/main">
      <a:srgbClr val="F8FBFC"/>
    </a:solidFill>
    <a:ln xmlns:a="http://schemas.openxmlformats.org/drawingml/2006/main" w="0">
      <a:noFill/>
      <a:prstDash val="solid"/>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Correlation</c:v>
          </c:tx>
          <c:spPr>
            <a:solidFill xmlns:a="http://schemas.openxmlformats.org/drawingml/2006/main">
              <a:srgbClr val="0F6F73"/>
            </a:solidFill>
          </c:spPr>
          <c:cat>
            <c:strRef>
              <c:f>'Chart Data'!$A$2:$A$5</c:f>
              <c:strCache>
                <c:ptCount val="4"/>
                <c:pt idx="0">
                  <c:v>Prior admits</c:v>
                </c:pt>
                <c:pt idx="1">
                  <c:v>Chronic cond.</c:v>
                </c:pt>
                <c:pt idx="2">
                  <c:v>Length of stay</c:v>
                </c:pt>
                <c:pt idx="3">
                  <c:v>Age</c:v>
                </c:pt>
              </c:strCache>
            </c:strRef>
          </c:cat>
          <c:val>
            <c:numRef>
              <c:f>'Chart Data'!$B$2:$B$5</c:f>
              <c:numCache>
                <c:formatCode>0.00</c:formatCode>
                <c:ptCount val="4"/>
                <c:pt idx="0">
                  <c:v>0.22</c:v>
                </c:pt>
                <c:pt idx="1">
                  <c:v>0.213</c:v>
                </c:pt>
                <c:pt idx="2">
                  <c:v>0.151</c:v>
                </c:pt>
                <c:pt idx="3">
                  <c:v>0.142</c:v>
                </c:pt>
              </c:numCache>
            </c:numRef>
          </c:val>
        </c:ser>
        <c:dLbls>
          <c:txPr>
            <a:bodyPr xmlns:a="http://schemas.openxmlformats.org/drawingml/2006/main" anchorCtr="1"/>
            <a:lstStyle xmlns:a="http://schemas.openxmlformats.org/drawingml/2006/main"/>
            <a:p xmlns:a="http://schemas.openxmlformats.org/drawingml/2006/main">
              <a:pPr>
                <a:defRPr sz="555" b="1">
                  <a:solidFill>
                    <a:srgbClr val="102A34"/>
                  </a:solidFill>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l"/>
        <c:majorGridlines>
          <c:spPr>
            <a:ln xmlns:a="http://schemas.openxmlformats.org/drawingml/2006/main" w="9525">
              <a:solidFill>
                <a:srgbClr val="D8E6EA"/>
              </a:solidFill>
              <a:prstDash val="solid"/>
            </a:ln>
          </c:spPr>
        </c:majorGridlines>
        <c:numFmt formatCode="0.00"/>
        <c:majorTickMark val="none"/>
        <c:minorTickMark val="none"/>
        <c:spPr>
          <a:ln xmlns:a="http://schemas.openxmlformats.org/drawingml/2006/main" w="9525">
            <a:solidFill>
              <a:srgbClr val="B8CDD3"/>
            </a:solidFill>
            <a:prstDash val="solid"/>
          </a:ln>
        </c:spPr>
        <c:txPr>
          <a:bodyPr xmlns:a="http://schemas.openxmlformats.org/drawingml/2006/main" anchorCtr="1"/>
          <a:lstStyle xmlns:a="http://schemas.openxmlformats.org/drawingml/2006/main"/>
          <a:p xmlns:a="http://schemas.openxmlformats.org/drawingml/2006/main">
            <a:pPr>
              <a:defRPr sz="540">
                <a:solidFill>
                  <a:srgbClr val="50636B"/>
                </a:solidFill>
                <a:latin typeface="Helvetica Neue"/>
                <a:ea typeface="Helvetica Neue"/>
                <a:cs typeface="Helvetica Neue"/>
              </a:defRPr>
            </a:pPr>
          </a:p>
        </c:txPr>
        <c:crossAx val="48672768"/>
      </c:catAx>
      <c:valAx>
        <c:axId val="48672768"/>
        <c:scaling>
          <c:orientation val="minMax"/>
        </c:scaling>
        <c:delete val="0"/>
        <c:axPos val="b"/>
        <c:numFmt formatCode="General"/>
        <c:majorTickMark val="none"/>
        <c:minorTickMark val="none"/>
        <c:spPr>
          <a:ln xmlns:a="http://schemas.openxmlformats.org/drawingml/2006/main" w="0">
            <a:noFill/>
            <a:prstDash val="solid"/>
          </a:ln>
        </c:spPr>
        <c:txPr>
          <a:bodyPr xmlns:a="http://schemas.openxmlformats.org/drawingml/2006/main" anchorCtr="1"/>
          <a:lstStyle xmlns:a="http://schemas.openxmlformats.org/drawingml/2006/main"/>
          <a:p xmlns:a="http://schemas.openxmlformats.org/drawingml/2006/main">
            <a:pPr>
              <a:defRPr sz="563">
                <a:solidFill>
                  <a:srgbClr val="344B54"/>
                </a:solidFill>
                <a:latin typeface="Helvetica Neue"/>
                <a:ea typeface="Helvetica Neue"/>
                <a:cs typeface="Helvetica Neue"/>
              </a:defRPr>
            </a:pPr>
          </a:p>
        </c:txPr>
        <c:crossAx val="48650112"/>
        <c:crossBetween val="between"/>
      </c:valAx>
      <c:spPr>
        <a:solidFill xmlns:a="http://schemas.openxmlformats.org/drawingml/2006/main">
          <a:srgbClr val="F8FBFC"/>
        </a:solidFill>
        <a:ln xmlns:a="http://schemas.openxmlformats.org/drawingml/2006/main" w="0">
          <a:noFill/>
          <a:prstDash val="solid"/>
        </a:ln>
      </c:spPr>
    </c:plotArea>
    <c:plotVisOnly val="1"/>
  </c:chart>
  <c:spPr>
    <a:solidFill xmlns:a="http://schemas.openxmlformats.org/drawingml/2006/main">
      <a:srgbClr val="F8FBFC"/>
    </a:solidFill>
    <a:ln xmlns:a="http://schemas.openxmlformats.org/drawingml/2006/main" w="0">
      <a:noFill/>
      <a:prstDash val="solid"/>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Baseline</c:v>
          </c:tx>
          <c:spPr>
            <a:solidFill xmlns:a="http://schemas.openxmlformats.org/drawingml/2006/main">
              <a:srgbClr val="8AA6AD"/>
            </a:solidFill>
          </c:spPr>
          <c:cat>
            <c:strRef>
              <c:f>'Chart Data'!$A$2:$A$5</c:f>
              <c:strCache>
                <c:ptCount val="4"/>
                <c:pt idx="0">
                  <c:v>Accuracy</c:v>
                </c:pt>
                <c:pt idx="1">
                  <c:v>Recall</c:v>
                </c:pt>
                <c:pt idx="2">
                  <c:v>F1 score</c:v>
                </c:pt>
                <c:pt idx="3">
                  <c:v>ROC-AUC</c:v>
                </c:pt>
              </c:strCache>
            </c:strRef>
          </c:cat>
          <c:val>
            <c:numRef>
              <c:f>'Chart Data'!$B$2:$B$5</c:f>
              <c:numCache>
                <c:formatCode>0.0%</c:formatCode>
                <c:ptCount val="4"/>
                <c:pt idx="0">
                  <c:v>0.6572222222</c:v>
                </c:pt>
                <c:pt idx="1">
                  <c:v>0.5012787724</c:v>
                </c:pt>
                <c:pt idx="2">
                  <c:v>0.5596002855</c:v>
                </c:pt>
                <c:pt idx="3">
                  <c:v>0.7071174737</c:v>
                </c:pt>
              </c:numCache>
            </c:numRef>
          </c:val>
        </c:ser>
        <c:ser>
          <c:idx val="1"/>
          <c:order val="1"/>
          <c:tx>
            <c:v>Expanded</c:v>
          </c:tx>
          <c:spPr>
            <a:solidFill xmlns:a="http://schemas.openxmlformats.org/drawingml/2006/main">
              <a:srgbClr val="0F6F73"/>
            </a:solidFill>
          </c:spPr>
          <c:cat>
            <c:strRef>
              <c:f>'Chart Data'!$C$2:$C$5</c:f>
              <c:strCache>
                <c:ptCount val="4"/>
                <c:pt idx="0">
                  <c:v>Accuracy</c:v>
                </c:pt>
                <c:pt idx="1">
                  <c:v>Recall</c:v>
                </c:pt>
                <c:pt idx="2">
                  <c:v>F1 score</c:v>
                </c:pt>
                <c:pt idx="3">
                  <c:v>ROC-AUC</c:v>
                </c:pt>
              </c:strCache>
            </c:strRef>
          </c:cat>
          <c:val>
            <c:numRef>
              <c:f>'Chart Data'!$D$2:$D$5</c:f>
              <c:numCache>
                <c:formatCode>0.0%</c:formatCode>
                <c:ptCount val="4"/>
                <c:pt idx="0">
                  <c:v>0.6830555556</c:v>
                </c:pt>
                <c:pt idx="1">
                  <c:v>0.5530690537</c:v>
                </c:pt>
                <c:pt idx="2">
                  <c:v>0.6025774991</c:v>
                </c:pt>
                <c:pt idx="3">
                  <c:v>0.7396482873</c:v>
                </c:pt>
              </c:numCache>
            </c:numRef>
          </c: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dLblPos val="outEnd"/>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8CDD3"/>
            </a:solidFill>
            <a:prstDash val="solid"/>
          </a:ln>
        </c:spPr>
        <c:txPr>
          <a:bodyPr xmlns:a="http://schemas.openxmlformats.org/drawingml/2006/main" anchorCtr="1"/>
          <a:lstStyle xmlns:a="http://schemas.openxmlformats.org/drawingml/2006/main"/>
          <a:p xmlns:a="http://schemas.openxmlformats.org/drawingml/2006/main">
            <a:pPr>
              <a:defRPr sz="615">
                <a:solidFill>
                  <a:srgbClr val="344B54"/>
                </a:solidFill>
                <a:latin typeface="Helvetica Neue"/>
                <a:ea typeface="Helvetica Neue"/>
                <a:cs typeface="Helvetica Neue"/>
              </a:defRPr>
            </a:pPr>
          </a:p>
        </c:txPr>
        <c:crossAx val="48672768"/>
      </c:catAx>
      <c:valAx>
        <c:axId val="48672768"/>
        <c:scaling>
          <c:orientation val="minMax"/>
          <c:max val="0.8"/>
          <c:min val="0.4"/>
        </c:scaling>
        <c:delete val="0"/>
        <c:axPos val="l"/>
        <c:majorGridlines>
          <c:spPr>
            <a:ln xmlns:a="http://schemas.openxmlformats.org/drawingml/2006/main" w="9525">
              <a:solidFill>
                <a:srgbClr val="D8E6EA"/>
              </a:solidFill>
              <a:prstDash val="solid"/>
            </a:ln>
          </c:spPr>
        </c:majorGridlines>
        <c:numFmt formatCode="0%"/>
        <c:majorTickMark val="none"/>
        <c:minorTickMark val="none"/>
        <c:spPr>
          <a:ln xmlns:a="http://schemas.openxmlformats.org/drawingml/2006/main" w="9525">
            <a:solidFill>
              <a:srgbClr val="B8CDD3"/>
            </a:solidFill>
            <a:prstDash val="solid"/>
          </a:ln>
        </c:spPr>
        <c:txPr>
          <a:bodyPr xmlns:a="http://schemas.openxmlformats.org/drawingml/2006/main" anchorCtr="1"/>
          <a:lstStyle xmlns:a="http://schemas.openxmlformats.org/drawingml/2006/main"/>
          <a:p xmlns:a="http://schemas.openxmlformats.org/drawingml/2006/main">
            <a:pPr>
              <a:defRPr sz="600">
                <a:solidFill>
                  <a:srgbClr val="50636B"/>
                </a:solidFill>
                <a:latin typeface="Helvetica Neue"/>
                <a:ea typeface="Helvetica Neue"/>
                <a:cs typeface="Helvetica Neue"/>
              </a:defRPr>
            </a:pPr>
          </a:p>
        </c:txPr>
        <c:crossAx val="48650112"/>
        <c:crossBetween val="between"/>
        <c:majorUnit val="0.1"/>
      </c:valAx>
      <c:spPr>
        <a:solidFill xmlns:a="http://schemas.openxmlformats.org/drawingml/2006/main">
          <a:srgbClr val="F8FBFC"/>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630">
              <a:solidFill>
                <a:srgbClr val="50636B"/>
              </a:solidFill>
              <a:latin typeface="Helvetica Neue"/>
              <a:ea typeface="Helvetica Neue"/>
              <a:cs typeface="Helvetica Neue"/>
            </a:defRPr>
          </a:pPr>
        </a:p>
      </c:txPr>
    </c:legend>
    <c:plotVisOnly val="1"/>
  </c:chart>
  <c:spPr>
    <a:solidFill xmlns:a="http://schemas.openxmlformats.org/drawingml/2006/main">
      <a:srgbClr val="F8FBFC"/>
    </a:solidFill>
    <a:ln xmlns:a="http://schemas.openxmlformats.org/drawingml/2006/main" w="0">
      <a:noFill/>
      <a:prstDash val="solid"/>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Readmission rate</c:v>
          </c:tx>
          <c:spPr>
            <a:solidFill xmlns:a="http://schemas.openxmlformats.org/drawingml/2006/main">
              <a:srgbClr val="0F6F73"/>
            </a:solidFill>
          </c:spPr>
          <c:cat>
            <c:strRef>
              <c:f>'Chart Data'!$A$2:$A$11</c:f>
              <c:strCache>
                <c:ptCount val="10"/>
                <c:pt idx="0">
                  <c:v>D1</c:v>
                </c:pt>
                <c:pt idx="1">
                  <c:v>D2</c:v>
                </c:pt>
                <c:pt idx="2">
                  <c:v>D3</c:v>
                </c:pt>
                <c:pt idx="3">
                  <c:v>D4</c:v>
                </c:pt>
                <c:pt idx="4">
                  <c:v>D5</c:v>
                </c:pt>
                <c:pt idx="5">
                  <c:v>D6</c:v>
                </c:pt>
                <c:pt idx="6">
                  <c:v>D7</c:v>
                </c:pt>
                <c:pt idx="7">
                  <c:v>D8</c:v>
                </c:pt>
                <c:pt idx="8">
                  <c:v>D9</c:v>
                </c:pt>
                <c:pt idx="9">
                  <c:v>D10</c:v>
                </c:pt>
              </c:strCache>
            </c:strRef>
          </c:cat>
          <c:val>
            <c:numRef>
              <c:f>'Chart Data'!$B$2:$B$11</c:f>
              <c:numCache>
                <c:formatCode>0.0%</c:formatCode>
                <c:ptCount val="10"/>
                <c:pt idx="0">
                  <c:v>0.1183333333</c:v>
                </c:pt>
                <c:pt idx="1">
                  <c:v>0.2083333333</c:v>
                </c:pt>
                <c:pt idx="2">
                  <c:v>0.2575</c:v>
                </c:pt>
                <c:pt idx="3">
                  <c:v>0.3033333333</c:v>
                </c:pt>
                <c:pt idx="4">
                  <c:v>0.365</c:v>
                </c:pt>
                <c:pt idx="5">
                  <c:v>0.4675</c:v>
                </c:pt>
                <c:pt idx="6">
                  <c:v>0.5183333333</c:v>
                </c:pt>
                <c:pt idx="7">
                  <c:v>0.5766666667</c:v>
                </c:pt>
                <c:pt idx="8">
                  <c:v>0.6816666667</c:v>
                </c:pt>
                <c:pt idx="9">
                  <c:v>0.8233333333</c:v>
                </c:pt>
              </c:numCache>
            </c:numRef>
          </c: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8CDD3"/>
            </a:solidFill>
            <a:prstDash val="solid"/>
          </a:ln>
        </c:spPr>
        <c:txPr>
          <a:bodyPr xmlns:a="http://schemas.openxmlformats.org/drawingml/2006/main" anchorCtr="1"/>
          <a:lstStyle xmlns:a="http://schemas.openxmlformats.org/drawingml/2006/main"/>
          <a:p xmlns:a="http://schemas.openxmlformats.org/drawingml/2006/main">
            <a:pPr>
              <a:defRPr sz="600">
                <a:solidFill>
                  <a:srgbClr val="344B54"/>
                </a:solidFill>
                <a:latin typeface="Helvetica Neue"/>
                <a:ea typeface="Helvetica Neue"/>
                <a:cs typeface="Helvetica Neue"/>
              </a:defRPr>
            </a:pPr>
          </a:p>
        </c:txPr>
        <c:crossAx val="48672768"/>
      </c:catAx>
      <c:valAx>
        <c:axId val="48672768"/>
        <c:scaling>
          <c:orientation val="minMax"/>
          <c:max val="0.9"/>
          <c:min val="0"/>
        </c:scaling>
        <c:delete val="0"/>
        <c:axPos val="l"/>
        <c:majorGridlines>
          <c:spPr>
            <a:ln xmlns:a="http://schemas.openxmlformats.org/drawingml/2006/main" w="9525">
              <a:solidFill>
                <a:srgbClr val="D8E6EA"/>
              </a:solidFill>
              <a:prstDash val="solid"/>
            </a:ln>
          </c:spPr>
        </c:majorGridlines>
        <c:numFmt formatCode="0%"/>
        <c:majorTickMark val="none"/>
        <c:minorTickMark val="none"/>
        <c:spPr>
          <a:ln xmlns:a="http://schemas.openxmlformats.org/drawingml/2006/main" w="9525">
            <a:solidFill>
              <a:srgbClr val="B8CDD3"/>
            </a:solidFill>
            <a:prstDash val="solid"/>
          </a:ln>
        </c:spPr>
        <c:txPr>
          <a:bodyPr xmlns:a="http://schemas.openxmlformats.org/drawingml/2006/main" anchorCtr="1"/>
          <a:lstStyle xmlns:a="http://schemas.openxmlformats.org/drawingml/2006/main"/>
          <a:p xmlns:a="http://schemas.openxmlformats.org/drawingml/2006/main">
            <a:pPr>
              <a:defRPr sz="585">
                <a:solidFill>
                  <a:srgbClr val="50636B"/>
                </a:solidFill>
                <a:latin typeface="Helvetica Neue"/>
                <a:ea typeface="Helvetica Neue"/>
                <a:cs typeface="Helvetica Neue"/>
              </a:defRPr>
            </a:pPr>
          </a:p>
        </c:txPr>
        <c:crossAx val="48650112"/>
        <c:crossBetween val="between"/>
        <c:majorUnit val="0.2"/>
      </c:valAx>
      <c:spPr>
        <a:solidFill xmlns:a="http://schemas.openxmlformats.org/drawingml/2006/main">
          <a:srgbClr val="F8FBFC"/>
        </a:solidFill>
        <a:ln xmlns:a="http://schemas.openxmlformats.org/drawingml/2006/main" w="0">
          <a:noFill/>
          <a:prstDash val="solid"/>
        </a:ln>
      </c:spPr>
    </c:plotArea>
    <c:plotVisOnly val="1"/>
  </c:chart>
  <c:spPr>
    <a:solidFill xmlns:a="http://schemas.openxmlformats.org/drawingml/2006/main">
      <a:srgbClr val="F8FBFC"/>
    </a:solidFill>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8FBFC"/>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840958B4-1550-4B8A-997E-AE80BD142712}"/>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0F4C5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4534141-7F0F-4F4B-A4BA-9BC50C6C1CEF}"/>
              </a:ext>
            </a:extLst>
          </p:cNvPr>
          <p:cNvSpPr>
            <a:spLocks xmlns:a="http://schemas.openxmlformats.org/drawingml/2006/main" noGrp="1"/>
          </p:cNvSpPr>
          <p:nvPr/>
        </p:nvSpPr>
        <p:spPr>
          <a:xfrm xmlns:a="http://schemas.openxmlformats.org/drawingml/2006/main">
            <a:off x="514350" y="3619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275" b="1">
                <a:solidFill>
                  <a:srgbClr val="0F6F73"/>
                </a:solidFill>
                <a:latin typeface="Helvetica Neue"/>
                <a:ea typeface="Helvetica Neue"/>
                <a:cs typeface="Helvetica Neue"/>
              </a:defRPr>
            </a:pPr>
            <a:r>
              <a:rPr sz="1275" b="1">
                <a:solidFill>
                  <a:srgbClr val="0F6F73"/>
                </a:solidFill>
                <a:latin typeface="Helvetica Neue"/>
                <a:ea typeface="Helvetica Neue"/>
                <a:cs typeface="Helvetica Neue"/>
              </a:rPr>
              <a:t>Meds Counsulting LLC</a:t>
            </a:r>
          </a:p>
        </p:txBody>
      </p:sp>
      <p:sp>
        <p:nvSpPr>
          <p:cNvPr id="3" name="">
            <a:extLst xmlns:a="http://schemas.openxmlformats.org/drawingml/2006/main">
              <a:ext uri="{FF2B5EF4-FFF2-40B4-BE49-F238E27FC236}">
                <a16:creationId xmlns:a16="http://schemas.microsoft.com/office/drawing/2014/main" id="{621ABB3A-A66B-404C-B66A-BB5F398DFE6D}"/>
              </a:ext>
            </a:extLst>
          </p:cNvPr>
          <p:cNvSpPr>
            <a:spLocks xmlns:a="http://schemas.openxmlformats.org/drawingml/2006/main" noGrp="1"/>
          </p:cNvSpPr>
          <p:nvPr/>
        </p:nvSpPr>
        <p:spPr>
          <a:xfrm xmlns:a="http://schemas.openxmlformats.org/drawingml/2006/main">
            <a:off x="514350" y="723900"/>
            <a:ext cx="819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2700" b="1">
                <a:solidFill>
                  <a:srgbClr val="102A34"/>
                </a:solidFill>
                <a:latin typeface="Helvetica Neue"/>
                <a:ea typeface="Helvetica Neue"/>
                <a:cs typeface="Helvetica Neue"/>
              </a:defRPr>
            </a:pPr>
            <a:r>
              <a:rPr sz="2700" b="1">
                <a:solidFill>
                  <a:srgbClr val="102A34"/>
                </a:solidFill>
                <a:latin typeface="Helvetica Neue"/>
                <a:ea typeface="Helvetica Neue"/>
                <a:cs typeface="Helvetica Neue"/>
              </a:rPr>
              <a:t>National Hospital Network project charter</a:t>
            </a:r>
          </a:p>
        </p:txBody>
      </p:sp>
      <p:sp>
        <p:nvSpPr>
          <p:cNvPr id="4" name="">
            <a:extLst xmlns:a="http://schemas.openxmlformats.org/drawingml/2006/main">
              <a:ext uri="{FF2B5EF4-FFF2-40B4-BE49-F238E27FC236}">
                <a16:creationId xmlns:a16="http://schemas.microsoft.com/office/drawing/2014/main" id="{79CF29B1-FD1D-4596-A35C-CF2E7CC1DD52}"/>
              </a:ext>
            </a:extLst>
          </p:cNvPr>
          <p:cNvSpPr>
            <a:spLocks xmlns:a="http://schemas.openxmlformats.org/drawingml/2006/main" noGrp="1"/>
          </p:cNvSpPr>
          <p:nvPr/>
        </p:nvSpPr>
        <p:spPr>
          <a:xfrm xmlns:a="http://schemas.openxmlformats.org/drawingml/2006/main">
            <a:off x="514350" y="1162050"/>
            <a:ext cx="809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r>
              <a:t/>
            </a:r>
          </a:p>
        </p:txBody>
      </p:sp>
      <p:sp>
        <p:nvSpPr>
          <p:cNvPr id="5" name="">
            <a:extLst xmlns:a="http://schemas.openxmlformats.org/drawingml/2006/main">
              <a:ext uri="{FF2B5EF4-FFF2-40B4-BE49-F238E27FC236}">
                <a16:creationId xmlns:a16="http://schemas.microsoft.com/office/drawing/2014/main" id="{1179516A-3953-47DC-9FB1-1A5CA96F1743}"/>
              </a:ext>
            </a:extLst>
          </p:cNvPr>
          <p:cNvSpPr>
            <a:spLocks xmlns:a="http://schemas.openxmlformats.org/drawingml/2006/main" noGrp="1"/>
          </p:cNvSpPr>
          <p:nvPr/>
        </p:nvSpPr>
        <p:spPr>
          <a:xfrm xmlns:a="http://schemas.openxmlformats.org/drawingml/2006/main">
            <a:off x="514350" y="1466850"/>
            <a:ext cx="10287000" cy="28575"/>
          </a:xfrm>
          <a:prstGeom xmlns:a="http://schemas.openxmlformats.org/drawingml/2006/main" prst="rect">
            <a:avLst/>
          </a:prstGeom>
          <a:solidFill xmlns:a="http://schemas.openxmlformats.org/drawingml/2006/main">
            <a:srgbClr val="E9A93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11F4F45-399F-445C-8698-66C52DC9A195}"/>
              </a:ext>
            </a:extLst>
          </p:cNvPr>
          <p:cNvSpPr>
            <a:spLocks xmlns:a="http://schemas.openxmlformats.org/drawingml/2006/main" noGrp="1"/>
          </p:cNvSpPr>
          <p:nvPr/>
        </p:nvSpPr>
        <p:spPr>
          <a:xfrm xmlns:a="http://schemas.openxmlformats.org/drawingml/2006/main">
            <a:off x="514350" y="1724025"/>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650" b="1">
                <a:solidFill>
                  <a:srgbClr val="102A34"/>
                </a:solidFill>
                <a:latin typeface="Helvetica Neue"/>
                <a:ea typeface="Helvetica Neue"/>
                <a:cs typeface="Helvetica Neue"/>
              </a:defRPr>
            </a:pPr>
            <a:r>
              <a:rPr sz="1650" b="1">
                <a:solidFill>
                  <a:srgbClr val="102A34"/>
                </a:solidFill>
                <a:latin typeface="Helvetica Neue"/>
                <a:ea typeface="Helvetica Neue"/>
                <a:cs typeface="Helvetica Neue"/>
              </a:rPr>
              <a:t>Overview of the business</a:t>
            </a:r>
          </a:p>
        </p:txBody>
      </p:sp>
      <p:sp>
        <p:nvSpPr>
          <p:cNvPr id="7" name="">
            <a:extLst xmlns:a="http://schemas.openxmlformats.org/drawingml/2006/main">
              <a:ext uri="{FF2B5EF4-FFF2-40B4-BE49-F238E27FC236}">
                <a16:creationId xmlns:a16="http://schemas.microsoft.com/office/drawing/2014/main" id="{160A3781-174D-446D-AEE7-5CC33A3F801A}"/>
              </a:ext>
            </a:extLst>
          </p:cNvPr>
          <p:cNvSpPr>
            <a:spLocks xmlns:a="http://schemas.openxmlformats.org/drawingml/2006/main" noGrp="1"/>
          </p:cNvSpPr>
          <p:nvPr/>
        </p:nvSpPr>
        <p:spPr>
          <a:xfrm xmlns:a="http://schemas.openxmlformats.org/drawingml/2006/main">
            <a:off x="514350" y="2076450"/>
            <a:ext cx="5334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6000"/>
              </a:lnSpc>
              <a:buNone/>
              <a:defRPr sz="1013">
                <a:solidFill>
                  <a:srgbClr val="253B44"/>
                </a:solidFill>
                <a:latin typeface="Helvetica Neue"/>
                <a:ea typeface="Helvetica Neue"/>
                <a:cs typeface="Helvetica Neue"/>
              </a:defRPr>
            </a:pPr>
            <a:r>
              <a:rPr sz="1013">
                <a:solidFill>
                  <a:srgbClr val="253B44"/>
                </a:solidFill>
                <a:latin typeface="Helvetica Neue"/>
                <a:ea typeface="Helvetica Neue"/>
                <a:cs typeface="Helvetica Neue"/>
              </a:rPr>
              <a:t>NHN is a large integrated healthcare system serving patients across a broad hospital and outpatient network.</a:t>
            </a:r>
          </a:p>
        </p:txBody>
      </p:sp>
      <p:graphicFrame>
        <p:nvGraphicFramePr>
          <p:cNvPr id="29" name=""/>
          <p:cNvGraphicFramePr/>
          <p:nvPr/>
        </p:nvGraphicFramePr>
        <p:xfrm>
          <a:off xmlns:a="http://schemas.openxmlformats.org/drawingml/2006/main" x="514350" y="2609850"/>
          <a:ext xmlns:a="http://schemas.openxmlformats.org/drawingml/2006/main" cx="5543550" cy="1143000"/>
        </p:xfrm>
        <a:graphic xmlns:a="http://schemas.openxmlformats.org/drawingml/2006/main">
          <a:graphicData uri="http://schemas.openxmlformats.org/drawingml/2006/table">
            <a:tbl>
              <a:tblPr/>
              <a:tblGrid>
                <a:gridCol w="1385888"/>
                <a:gridCol w="1385888"/>
                <a:gridCol w="1385888"/>
                <a:gridCol w="1385888"/>
              </a:tblGrid>
              <a:tr h="571500">
                <a:tc>
                  <a:txBody>
                    <a:bodyPr lIns="66675" tIns="28575" rIns="57150" bIns="28575">
                      <a:noAutofit/>
                    </a:bodyPr>
                    <a:lstStyle/>
                    <a:p>
                      <a:pPr algn="ctr"/>
                      <a:r>
                        <a:rPr sz="1650" b="1">
                          <a:solidFill>
                            <a:srgbClr val="0F4C5C"/>
                          </a:solidFill>
                          <a:latin typeface="Helvetica Neue"/>
                          <a:ea typeface="Helvetica Neue"/>
                          <a:cs typeface="Helvetica Neue"/>
                        </a:rPr>
                        <a:t>42</a:t>
                      </a:r>
                    </a:p>
                  </a:txBody>
                  <a:tcPr marL="91440" marR="91440" marT="45720" marB="45720" anchor="ctr">
                    <a:solidFill>
                      <a:srgbClr val="EEF6F7"/>
                    </a:solidFill>
                  </a:tcPr>
                </a:tc>
                <a:tc>
                  <a:txBody>
                    <a:bodyPr lIns="66675" tIns="28575" rIns="57150" bIns="28575">
                      <a:noAutofit/>
                    </a:bodyPr>
                    <a:lstStyle/>
                    <a:p>
                      <a:pPr algn="ctr"/>
                      <a:r>
                        <a:rPr sz="1650" b="1">
                          <a:solidFill>
                            <a:srgbClr val="0F4C5C"/>
                          </a:solidFill>
                          <a:latin typeface="Helvetica Neue"/>
                          <a:ea typeface="Helvetica Neue"/>
                          <a:cs typeface="Helvetica Neue"/>
                        </a:rPr>
                        <a:t>300+</a:t>
                      </a:r>
                    </a:p>
                  </a:txBody>
                  <a:tcPr marL="91440" marR="91440" marT="45720" marB="45720" anchor="ctr">
                    <a:solidFill>
                      <a:srgbClr val="EEF6F7"/>
                    </a:solidFill>
                  </a:tcPr>
                </a:tc>
                <a:tc>
                  <a:txBody>
                    <a:bodyPr lIns="66675" tIns="28575" rIns="57150" bIns="28575">
                      <a:noAutofit/>
                    </a:bodyPr>
                    <a:lstStyle/>
                    <a:p>
                      <a:pPr algn="ctr"/>
                      <a:r>
                        <a:rPr sz="1650" b="1">
                          <a:solidFill>
                            <a:srgbClr val="0F4C5C"/>
                          </a:solidFill>
                          <a:latin typeface="Helvetica Neue"/>
                          <a:ea typeface="Helvetica Neue"/>
                          <a:cs typeface="Helvetica Neue"/>
                        </a:rPr>
                        <a:t>11</a:t>
                      </a:r>
                    </a:p>
                  </a:txBody>
                  <a:tcPr marL="91440" marR="91440" marT="45720" marB="45720" anchor="ctr">
                    <a:solidFill>
                      <a:srgbClr val="EEF6F7"/>
                    </a:solidFill>
                  </a:tcPr>
                </a:tc>
                <a:tc>
                  <a:txBody>
                    <a:bodyPr lIns="66675" tIns="28575" rIns="57150" bIns="28575">
                      <a:noAutofit/>
                    </a:bodyPr>
                    <a:lstStyle/>
                    <a:p>
                      <a:pPr algn="ctr"/>
                      <a:r>
                        <a:rPr sz="1650" b="1">
                          <a:solidFill>
                            <a:srgbClr val="0F4C5C"/>
                          </a:solidFill>
                          <a:latin typeface="Helvetica Neue"/>
                          <a:ea typeface="Helvetica Neue"/>
                          <a:cs typeface="Helvetica Neue"/>
                        </a:rPr>
                        <a:t>2.3M</a:t>
                      </a:r>
                    </a:p>
                  </a:txBody>
                  <a:tcPr marL="91440" marR="91440" marT="45720" marB="45720" anchor="ctr">
                    <a:solidFill>
                      <a:srgbClr val="EEF6F7"/>
                    </a:solidFill>
                  </a:tcPr>
                </a:tc>
              </a:tr>
              <a:tr h="571500">
                <a:tc>
                  <a:txBody>
                    <a:bodyPr lIns="66675" tIns="28575" rIns="57150" bIns="28575">
                      <a:noAutofit/>
                    </a:bodyPr>
                    <a:lstStyle/>
                    <a:p>
                      <a:pPr algn="ctr"/>
                      <a:r>
                        <a:rPr sz="705" b="0">
                          <a:solidFill>
                            <a:srgbClr val="50636B"/>
                          </a:solidFill>
                          <a:latin typeface="Helvetica Neue"/>
                          <a:ea typeface="Helvetica Neue"/>
                          <a:cs typeface="Helvetica Neue"/>
                        </a:rPr>
                        <a:t>Hospitals</a:t>
                      </a:r>
                    </a:p>
                  </a:txBody>
                  <a:tcPr marL="91440" marR="91440" marT="45720" marB="45720" anchor="ctr">
                    <a:solidFill>
                      <a:srgbClr val="F8FBFC"/>
                    </a:solidFill>
                  </a:tcPr>
                </a:tc>
                <a:tc>
                  <a:txBody>
                    <a:bodyPr lIns="66675" tIns="28575" rIns="57150" bIns="28575">
                      <a:noAutofit/>
                    </a:bodyPr>
                    <a:lstStyle/>
                    <a:p>
                      <a:pPr algn="ctr"/>
                      <a:r>
                        <a:rPr sz="705" b="0">
                          <a:solidFill>
                            <a:srgbClr val="50636B"/>
                          </a:solidFill>
                          <a:latin typeface="Helvetica Neue"/>
                          <a:ea typeface="Helvetica Neue"/>
                          <a:cs typeface="Helvetica Neue"/>
                        </a:rPr>
                        <a:t>Outpatient sites</a:t>
                      </a:r>
                    </a:p>
                  </a:txBody>
                  <a:tcPr marL="91440" marR="91440" marT="45720" marB="45720" anchor="ctr">
                    <a:solidFill>
                      <a:srgbClr val="F8FBFC"/>
                    </a:solidFill>
                  </a:tcPr>
                </a:tc>
                <a:tc>
                  <a:txBody>
                    <a:bodyPr lIns="66675" tIns="28575" rIns="57150" bIns="28575">
                      <a:noAutofit/>
                    </a:bodyPr>
                    <a:lstStyle/>
                    <a:p>
                      <a:pPr algn="ctr"/>
                      <a:r>
                        <a:rPr sz="705" b="0">
                          <a:solidFill>
                            <a:srgbClr val="50636B"/>
                          </a:solidFill>
                          <a:latin typeface="Helvetica Neue"/>
                          <a:ea typeface="Helvetica Neue"/>
                          <a:cs typeface="Helvetica Neue"/>
                        </a:rPr>
                        <a:t>States</a:t>
                      </a:r>
                    </a:p>
                  </a:txBody>
                  <a:tcPr marL="91440" marR="91440" marT="45720" marB="45720" anchor="ctr">
                    <a:solidFill>
                      <a:srgbClr val="F8FBFC"/>
                    </a:solidFill>
                  </a:tcPr>
                </a:tc>
                <a:tc>
                  <a:txBody>
                    <a:bodyPr lIns="66675" tIns="28575" rIns="57150" bIns="28575">
                      <a:noAutofit/>
                    </a:bodyPr>
                    <a:lstStyle/>
                    <a:p>
                      <a:pPr algn="ctr"/>
                      <a:r>
                        <a:rPr sz="705" b="0">
                          <a:solidFill>
                            <a:srgbClr val="50636B"/>
                          </a:solidFill>
                          <a:latin typeface="Helvetica Neue"/>
                          <a:ea typeface="Helvetica Neue"/>
                          <a:cs typeface="Helvetica Neue"/>
                        </a:rPr>
                        <a:t>Patients per year</a:t>
                      </a:r>
                    </a:p>
                  </a:txBody>
                  <a:tcPr marL="91440" marR="91440" marT="45720" marB="45720" anchor="ctr">
                    <a:solidFill>
                      <a:srgbClr val="F8FBFC"/>
                    </a:solidFill>
                  </a:tcPr>
                </a:tc>
              </a:tr>
            </a:tbl>
          </a:graphicData>
        </a:graphic>
      </p:graphicFrame>
      <p:sp>
        <p:nvSpPr>
          <p:cNvPr id="9" name="">
            <a:extLst xmlns:a="http://schemas.openxmlformats.org/drawingml/2006/main">
              <a:ext uri="{FF2B5EF4-FFF2-40B4-BE49-F238E27FC236}">
                <a16:creationId xmlns:a16="http://schemas.microsoft.com/office/drawing/2014/main" id="{FEDE8069-3F1A-4E43-A2D0-61E028E57AB7}"/>
              </a:ext>
            </a:extLst>
          </p:cNvPr>
          <p:cNvSpPr>
            <a:spLocks xmlns:a="http://schemas.openxmlformats.org/drawingml/2006/main" noGrp="1"/>
          </p:cNvSpPr>
          <p:nvPr/>
        </p:nvSpPr>
        <p:spPr>
          <a:xfrm xmlns:a="http://schemas.openxmlformats.org/drawingml/2006/main">
            <a:off x="6515100" y="1724025"/>
            <a:ext cx="3714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650" b="1">
                <a:solidFill>
                  <a:srgbClr val="102A34"/>
                </a:solidFill>
                <a:latin typeface="Helvetica Neue"/>
                <a:ea typeface="Helvetica Neue"/>
                <a:cs typeface="Helvetica Neue"/>
              </a:defRPr>
            </a:pPr>
            <a:r>
              <a:rPr sz="1650" b="1">
                <a:solidFill>
                  <a:srgbClr val="102A34"/>
                </a:solidFill>
                <a:latin typeface="Helvetica Neue"/>
                <a:ea typeface="Helvetica Neue"/>
                <a:cs typeface="Helvetica Neue"/>
              </a:rPr>
              <a:t>Problem statement</a:t>
            </a:r>
          </a:p>
        </p:txBody>
      </p:sp>
      <p:sp>
        <p:nvSpPr>
          <p:cNvPr id="10" name="">
            <a:extLst xmlns:a="http://schemas.openxmlformats.org/drawingml/2006/main">
              <a:ext uri="{FF2B5EF4-FFF2-40B4-BE49-F238E27FC236}">
                <a16:creationId xmlns:a16="http://schemas.microsoft.com/office/drawing/2014/main" id="{F56439E0-A195-4924-9A4E-F13465DEAEAC}"/>
              </a:ext>
            </a:extLst>
          </p:cNvPr>
          <p:cNvSpPr>
            <a:spLocks xmlns:a="http://schemas.openxmlformats.org/drawingml/2006/main" noGrp="1"/>
          </p:cNvSpPr>
          <p:nvPr/>
        </p:nvSpPr>
        <p:spPr>
          <a:xfrm xmlns:a="http://schemas.openxmlformats.org/drawingml/2006/main">
            <a:off x="6515100" y="2076450"/>
            <a:ext cx="447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5000"/>
              </a:lnSpc>
              <a:buNone/>
              <a:defRPr sz="1005">
                <a:solidFill>
                  <a:srgbClr val="253B44"/>
                </a:solidFill>
                <a:latin typeface="Helvetica Neue"/>
                <a:ea typeface="Helvetica Neue"/>
                <a:cs typeface="Helvetica Neue"/>
              </a:defRPr>
            </a:pPr>
            <a:r>
              <a:rPr sz="1005">
                <a:solidFill>
                  <a:srgbClr val="253B44"/>
                </a:solidFill>
                <a:latin typeface="Helvetica Neue"/>
                <a:ea typeface="Helvetica Neue"/>
                <a:cs typeface="Helvetica Neue"/>
              </a:rPr>
              <a:t>Readmissions are rising despite investment in discharge planning, care coordination, and follow-up services.</a:t>
            </a:r>
          </a:p>
        </p:txBody>
      </p:sp>
      <p:graphicFrame>
        <p:nvGraphicFramePr>
          <p:cNvPr id="32" name="Chart"/>
          <p:cNvGraphicFramePr/>
          <p:nvPr/>
        </p:nvGraphicFramePr>
        <p:xfrm>
          <a:off xmlns:a="http://schemas.openxmlformats.org/drawingml/2006/main" x="6667500" y="2657475"/>
          <a:ext xmlns:a="http://schemas.openxmlformats.org/drawingml/2006/main" cx="4048125" cy="904875"/>
        </p:xfrm>
        <a:graphic xmlns:a="http://schemas.openxmlformats.org/drawingml/2006/main">
          <a:graphicData uri="http://schemas.openxmlformats.org/drawingml/2006/chart">
            <c:chart xmlns:r="http://schemas.openxmlformats.org/officeDocument/2006/relationships" xmlns:c="http://schemas.openxmlformats.org/drawingml/2006/chart" r:id="Rf0fcadf4c1644f50"/>
          </a:graphicData>
        </a:graphic>
      </p:graphicFrame>
      <p:sp>
        <p:nvSpPr>
          <p:cNvPr id="12" name="">
            <a:extLst xmlns:a="http://schemas.openxmlformats.org/drawingml/2006/main">
              <a:ext uri="{FF2B5EF4-FFF2-40B4-BE49-F238E27FC236}">
                <a16:creationId xmlns:a16="http://schemas.microsoft.com/office/drawing/2014/main" id="{69E775F8-1E87-4F40-A977-0E08ED4F8D8A}"/>
              </a:ext>
            </a:extLst>
          </p:cNvPr>
          <p:cNvSpPr>
            <a:spLocks xmlns:a="http://schemas.openxmlformats.org/drawingml/2006/main" noGrp="1"/>
          </p:cNvSpPr>
          <p:nvPr/>
        </p:nvSpPr>
        <p:spPr>
          <a:xfrm xmlns:a="http://schemas.openxmlformats.org/drawingml/2006/main">
            <a:off x="6515100" y="3838575"/>
            <a:ext cx="428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200" b="1">
                <a:solidFill>
                  <a:srgbClr val="0F4C5C"/>
                </a:solidFill>
                <a:latin typeface="Helvetica Neue"/>
                <a:ea typeface="Helvetica Neue"/>
                <a:cs typeface="Helvetica Neue"/>
              </a:defRPr>
            </a:pPr>
            <a:r>
              <a:rPr sz="1200" b="1">
                <a:solidFill>
                  <a:srgbClr val="0F4C5C"/>
                </a:solidFill>
                <a:latin typeface="Helvetica Neue"/>
                <a:ea typeface="Helvetica Neue"/>
                <a:cs typeface="Helvetica Neue"/>
              </a:rPr>
              <a:t>Annual cost exposure: more than $42M</a:t>
            </a:r>
          </a:p>
        </p:txBody>
      </p:sp>
      <p:sp>
        <p:nvSpPr>
          <p:cNvPr id="13" name="">
            <a:extLst xmlns:a="http://schemas.openxmlformats.org/drawingml/2006/main">
              <a:ext uri="{FF2B5EF4-FFF2-40B4-BE49-F238E27FC236}">
                <a16:creationId xmlns:a16="http://schemas.microsoft.com/office/drawing/2014/main" id="{F3998250-408D-437E-BDF9-BD42097F2A51}"/>
              </a:ext>
            </a:extLst>
          </p:cNvPr>
          <p:cNvSpPr>
            <a:spLocks xmlns:a="http://schemas.openxmlformats.org/drawingml/2006/main" noGrp="1"/>
          </p:cNvSpPr>
          <p:nvPr/>
        </p:nvSpPr>
        <p:spPr>
          <a:xfrm xmlns:a="http://schemas.openxmlformats.org/drawingml/2006/main">
            <a:off x="514350" y="4114800"/>
            <a:ext cx="10287000" cy="14288"/>
          </a:xfrm>
          <a:prstGeom xmlns:a="http://schemas.openxmlformats.org/drawingml/2006/main" prst="rect">
            <a:avLst/>
          </a:prstGeom>
          <a:solidFill xmlns:a="http://schemas.openxmlformats.org/drawingml/2006/main">
            <a:srgbClr val="D1E1E5"/>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80B1D63-3E53-4D04-8373-C27589FDF00A}"/>
              </a:ext>
            </a:extLst>
          </p:cNvPr>
          <p:cNvSpPr>
            <a:spLocks xmlns:a="http://schemas.openxmlformats.org/drawingml/2006/main" noGrp="1"/>
          </p:cNvSpPr>
          <p:nvPr/>
        </p:nvSpPr>
        <p:spPr>
          <a:xfrm xmlns:a="http://schemas.openxmlformats.org/drawingml/2006/main">
            <a:off x="514350" y="437197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Team roles by workstream</a:t>
            </a:r>
          </a:p>
        </p:txBody>
      </p:sp>
      <p:graphicFrame>
        <p:nvGraphicFramePr>
          <p:cNvPr id="36" name=""/>
          <p:cNvGraphicFramePr/>
          <p:nvPr/>
        </p:nvGraphicFramePr>
        <p:xfrm>
          <a:off xmlns:a="http://schemas.openxmlformats.org/drawingml/2006/main" x="514350" y="4686300"/>
          <a:ext xmlns:a="http://schemas.openxmlformats.org/drawingml/2006/main" cx="5543550" cy="1609725"/>
        </p:xfrm>
        <a:graphic xmlns:a="http://schemas.openxmlformats.org/drawingml/2006/main">
          <a:graphicData uri="http://schemas.openxmlformats.org/drawingml/2006/table">
            <a:tbl>
              <a:tblPr/>
              <a:tblGrid>
                <a:gridCol w="2114550"/>
                <a:gridCol w="3429000"/>
              </a:tblGrid>
              <a:tr h="201216">
                <a:tc>
                  <a:txBody>
                    <a:bodyPr lIns="66675" tIns="28575" rIns="57150" bIns="28575">
                      <a:noAutofit/>
                    </a:bodyPr>
                    <a:lstStyle/>
                    <a:p>
                      <a:pPr algn="l"/>
                      <a:r>
                        <a:rPr sz="638" b="1">
                          <a:solidFill>
                            <a:srgbClr val="FFFFFF"/>
                          </a:solidFill>
                          <a:latin typeface="Helvetica Neue"/>
                          <a:ea typeface="Helvetica Neue"/>
                          <a:cs typeface="Helvetica Neue"/>
                        </a:rPr>
                        <a:t>Workstream</a:t>
                      </a:r>
                    </a:p>
                  </a:txBody>
                  <a:tcPr marL="91440" marR="91440" marT="45720" marB="45720" anchor="ctr">
                    <a:solidFill>
                      <a:srgbClr val="0F4C5C"/>
                    </a:solidFill>
                  </a:tcPr>
                </a:tc>
                <a:tc>
                  <a:txBody>
                    <a:bodyPr lIns="66675" tIns="28575" rIns="57150" bIns="28575">
                      <a:noAutofit/>
                    </a:bodyPr>
                    <a:lstStyle/>
                    <a:p>
                      <a:pPr algn="l"/>
                      <a:r>
                        <a:rPr sz="638" b="1">
                          <a:solidFill>
                            <a:srgbClr val="FFFFFF"/>
                          </a:solidFill>
                          <a:latin typeface="Helvetica Neue"/>
                          <a:ea typeface="Helvetica Neue"/>
                          <a:cs typeface="Helvetica Neue"/>
                        </a:rPr>
                        <a:t>Owner</a:t>
                      </a:r>
                    </a:p>
                  </a:txBody>
                  <a:tcPr marL="91440" marR="91440" marT="45720" marB="45720" anchor="ctr">
                    <a:solidFill>
                      <a:srgbClr val="0F4C5C"/>
                    </a:solidFill>
                  </a:tcPr>
                </a:tc>
              </a:tr>
              <a:tr h="201216">
                <a:tc>
                  <a:txBody>
                    <a:bodyPr lIns="66675" tIns="28575" rIns="57150" bIns="28575">
                      <a:noAutofit/>
                    </a:bodyPr>
                    <a:lstStyle/>
                    <a:p>
                      <a:pPr algn="l"/>
                      <a:r>
                        <a:rPr sz="585" b="1">
                          <a:solidFill>
                            <a:srgbClr val="253B44"/>
                          </a:solidFill>
                          <a:latin typeface="Helvetica Neue"/>
                          <a:ea typeface="Helvetica Neue"/>
                          <a:cs typeface="Helvetica Neue"/>
                        </a:rPr>
                        <a:t>Project lead and story</a:t>
                      </a:r>
                    </a:p>
                  </a:txBody>
                  <a:tcPr marL="91440" marR="91440" marT="45720" marB="45720" anchor="ctr">
                    <a:solidFill>
                      <a:srgbClr val="EEF6F7"/>
                    </a:solidFill>
                  </a:tcPr>
                </a:tc>
                <a:tc>
                  <a:txBody>
                    <a:bodyPr lIns="66675" tIns="28575" rIns="57150" bIns="28575">
                      <a:noAutofit/>
                    </a:bodyPr>
                    <a:lstStyle/>
                    <a:p>
                      <a:pPr algn="l"/>
                      <a:r>
                        <a:rPr sz="585" b="0">
                          <a:solidFill>
                            <a:srgbClr val="253B44"/>
                          </a:solidFill>
                          <a:latin typeface="Helvetica Neue"/>
                          <a:ea typeface="Helvetica Neue"/>
                          <a:cs typeface="Helvetica Neue"/>
                        </a:rPr>
                        <a:t>Can He</a:t>
                      </a:r>
                    </a:p>
                  </a:txBody>
                  <a:tcPr marL="91440" marR="91440" marT="45720" marB="45720" anchor="ctr">
                    <a:solidFill>
                      <a:srgbClr val="EEF6F7"/>
                    </a:solidFill>
                  </a:tcPr>
                </a:tc>
              </a:tr>
              <a:tr h="201216">
                <a:tc>
                  <a:txBody>
                    <a:bodyPr lIns="66675" tIns="28575" rIns="57150" bIns="28575">
                      <a:noAutofit/>
                    </a:bodyPr>
                    <a:lstStyle/>
                    <a:p>
                      <a:pPr algn="l"/>
                      <a:r>
                        <a:rPr sz="585" b="1">
                          <a:solidFill>
                            <a:srgbClr val="253B44"/>
                          </a:solidFill>
                          <a:latin typeface="Helvetica Neue"/>
                          <a:ea typeface="Helvetica Neue"/>
                          <a:cs typeface="Helvetica Neue"/>
                        </a:rPr>
                        <a:t>Data preparation and EDA</a:t>
                      </a:r>
                    </a:p>
                  </a:txBody>
                  <a:tcPr marL="91440" marR="91440" marT="45720" marB="45720" anchor="ctr">
                    <a:solidFill>
                      <a:srgbClr val="F8FBFC"/>
                    </a:solidFill>
                  </a:tcPr>
                </a:tc>
                <a:tc>
                  <a:txBody>
                    <a:bodyPr lIns="66675" tIns="28575" rIns="57150" bIns="28575">
                      <a:noAutofit/>
                    </a:bodyPr>
                    <a:lstStyle/>
                    <a:p>
                      <a:pPr algn="l"/>
                      <a:r>
                        <a:rPr sz="585" b="0">
                          <a:solidFill>
                            <a:srgbClr val="253B44"/>
                          </a:solidFill>
                          <a:latin typeface="Helvetica Neue"/>
                          <a:ea typeface="Helvetica Neue"/>
                          <a:cs typeface="Helvetica Neue"/>
                        </a:rPr>
                        <a:t>Belal Glab</a:t>
                      </a:r>
                    </a:p>
                  </a:txBody>
                  <a:tcPr marL="91440" marR="91440" marT="45720" marB="45720" anchor="ctr">
                    <a:solidFill>
                      <a:srgbClr val="F8FBFC"/>
                    </a:solidFill>
                  </a:tcPr>
                </a:tc>
              </a:tr>
              <a:tr h="201216">
                <a:tc>
                  <a:txBody>
                    <a:bodyPr lIns="66675" tIns="28575" rIns="57150" bIns="28575">
                      <a:noAutofit/>
                    </a:bodyPr>
                    <a:lstStyle/>
                    <a:p>
                      <a:pPr algn="l"/>
                      <a:r>
                        <a:rPr sz="585" b="1">
                          <a:solidFill>
                            <a:srgbClr val="253B44"/>
                          </a:solidFill>
                          <a:latin typeface="Helvetica Neue"/>
                          <a:ea typeface="Helvetica Neue"/>
                          <a:cs typeface="Helvetica Neue"/>
                        </a:rPr>
                        <a:t>Clinical risk analysis</a:t>
                      </a:r>
                    </a:p>
                  </a:txBody>
                  <a:tcPr marL="91440" marR="91440" marT="45720" marB="45720" anchor="ctr">
                    <a:solidFill>
                      <a:srgbClr val="EEF6F7"/>
                    </a:solidFill>
                  </a:tcPr>
                </a:tc>
                <a:tc>
                  <a:txBody>
                    <a:bodyPr lIns="66675" tIns="28575" rIns="57150" bIns="28575">
                      <a:noAutofit/>
                    </a:bodyPr>
                    <a:lstStyle/>
                    <a:p>
                      <a:pPr algn="l"/>
                      <a:r>
                        <a:rPr sz="585" b="0">
                          <a:solidFill>
                            <a:srgbClr val="253B44"/>
                          </a:solidFill>
                          <a:latin typeface="Helvetica Neue"/>
                          <a:ea typeface="Helvetica Neue"/>
                          <a:cs typeface="Helvetica Neue"/>
                        </a:rPr>
                        <a:t>Jingyi Cao</a:t>
                      </a:r>
                    </a:p>
                  </a:txBody>
                  <a:tcPr marL="91440" marR="91440" marT="45720" marB="45720" anchor="ctr">
                    <a:solidFill>
                      <a:srgbClr val="EEF6F7"/>
                    </a:solidFill>
                  </a:tcPr>
                </a:tc>
              </a:tr>
              <a:tr h="201216">
                <a:tc>
                  <a:txBody>
                    <a:bodyPr lIns="66675" tIns="28575" rIns="57150" bIns="28575">
                      <a:noAutofit/>
                    </a:bodyPr>
                    <a:lstStyle/>
                    <a:p>
                      <a:pPr algn="l"/>
                      <a:r>
                        <a:rPr sz="585" b="1">
                          <a:solidFill>
                            <a:srgbClr val="253B44"/>
                          </a:solidFill>
                          <a:latin typeface="Helvetica Neue"/>
                          <a:ea typeface="Helvetica Neue"/>
                          <a:cs typeface="Helvetica Neue"/>
                        </a:rPr>
                        <a:t>Predictive modeling</a:t>
                      </a:r>
                    </a:p>
                  </a:txBody>
                  <a:tcPr marL="91440" marR="91440" marT="45720" marB="45720" anchor="ctr">
                    <a:solidFill>
                      <a:srgbClr val="F8FBFC"/>
                    </a:solidFill>
                  </a:tcPr>
                </a:tc>
                <a:tc>
                  <a:txBody>
                    <a:bodyPr lIns="66675" tIns="28575" rIns="57150" bIns="28575">
                      <a:noAutofit/>
                    </a:bodyPr>
                    <a:lstStyle/>
                    <a:p>
                      <a:pPr algn="l"/>
                      <a:r>
                        <a:rPr sz="585" b="0">
                          <a:solidFill>
                            <a:srgbClr val="253B44"/>
                          </a:solidFill>
                          <a:latin typeface="Helvetica Neue"/>
                          <a:ea typeface="Helvetica Neue"/>
                          <a:cs typeface="Helvetica Neue"/>
                        </a:rPr>
                        <a:t>Santosh Kumar Chantati</a:t>
                      </a:r>
                    </a:p>
                  </a:txBody>
                  <a:tcPr marL="91440" marR="91440" marT="45720" marB="45720" anchor="ctr">
                    <a:solidFill>
                      <a:srgbClr val="F8FBFC"/>
                    </a:solidFill>
                  </a:tcPr>
                </a:tc>
              </a:tr>
              <a:tr h="201216">
                <a:tc>
                  <a:txBody>
                    <a:bodyPr lIns="66675" tIns="28575" rIns="57150" bIns="28575">
                      <a:noAutofit/>
                    </a:bodyPr>
                    <a:lstStyle/>
                    <a:p>
                      <a:pPr algn="l"/>
                      <a:r>
                        <a:rPr sz="585" b="1">
                          <a:solidFill>
                            <a:srgbClr val="253B44"/>
                          </a:solidFill>
                          <a:latin typeface="Helvetica Neue"/>
                          <a:ea typeface="Helvetica Neue"/>
                          <a:cs typeface="Helvetica Neue"/>
                        </a:rPr>
                        <a:t>Financial impact and ROI</a:t>
                      </a:r>
                    </a:p>
                  </a:txBody>
                  <a:tcPr marL="91440" marR="91440" marT="45720" marB="45720" anchor="ctr">
                    <a:solidFill>
                      <a:srgbClr val="EEF6F7"/>
                    </a:solidFill>
                  </a:tcPr>
                </a:tc>
                <a:tc>
                  <a:txBody>
                    <a:bodyPr lIns="66675" tIns="28575" rIns="57150" bIns="28575">
                      <a:noAutofit/>
                    </a:bodyPr>
                    <a:lstStyle/>
                    <a:p>
                      <a:pPr algn="l"/>
                      <a:r>
                        <a:rPr sz="585" b="0">
                          <a:solidFill>
                            <a:srgbClr val="253B44"/>
                          </a:solidFill>
                          <a:latin typeface="Helvetica Neue"/>
                          <a:ea typeface="Helvetica Neue"/>
                          <a:cs typeface="Helvetica Neue"/>
                        </a:rPr>
                        <a:t>Jeevan-Kumar Mittapalli</a:t>
                      </a:r>
                    </a:p>
                  </a:txBody>
                  <a:tcPr marL="91440" marR="91440" marT="45720" marB="45720" anchor="ctr">
                    <a:solidFill>
                      <a:srgbClr val="EEF6F7"/>
                    </a:solidFill>
                  </a:tcPr>
                </a:tc>
              </a:tr>
              <a:tr h="201216">
                <a:tc>
                  <a:txBody>
                    <a:bodyPr lIns="66675" tIns="28575" rIns="57150" bIns="28575">
                      <a:noAutofit/>
                    </a:bodyPr>
                    <a:lstStyle/>
                    <a:p>
                      <a:pPr algn="l"/>
                      <a:r>
                        <a:rPr sz="585" b="1">
                          <a:solidFill>
                            <a:srgbClr val="253B44"/>
                          </a:solidFill>
                          <a:latin typeface="Helvetica Neue"/>
                          <a:ea typeface="Helvetica Neue"/>
                          <a:cs typeface="Helvetica Neue"/>
                        </a:rPr>
                        <a:t>Care coordination operations</a:t>
                      </a:r>
                    </a:p>
                  </a:txBody>
                  <a:tcPr marL="91440" marR="91440" marT="45720" marB="45720" anchor="ctr">
                    <a:solidFill>
                      <a:srgbClr val="F8FBFC"/>
                    </a:solidFill>
                  </a:tcPr>
                </a:tc>
                <a:tc>
                  <a:txBody>
                    <a:bodyPr lIns="66675" tIns="28575" rIns="57150" bIns="28575">
                      <a:noAutofit/>
                    </a:bodyPr>
                    <a:lstStyle/>
                    <a:p>
                      <a:pPr algn="l"/>
                      <a:r>
                        <a:rPr sz="585" b="0">
                          <a:solidFill>
                            <a:srgbClr val="253B44"/>
                          </a:solidFill>
                          <a:latin typeface="Helvetica Neue"/>
                          <a:ea typeface="Helvetica Neue"/>
                          <a:cs typeface="Helvetica Neue"/>
                        </a:rPr>
                        <a:t>Adarsh Pravinbhai Patel</a:t>
                      </a:r>
                    </a:p>
                  </a:txBody>
                  <a:tcPr marL="91440" marR="91440" marT="45720" marB="45720" anchor="ctr">
                    <a:solidFill>
                      <a:srgbClr val="F8FBFC"/>
                    </a:solidFill>
                  </a:tcPr>
                </a:tc>
              </a:tr>
              <a:tr h="201216">
                <a:tc>
                  <a:txBody>
                    <a:bodyPr lIns="66675" tIns="28575" rIns="57150" bIns="28575">
                      <a:noAutofit/>
                    </a:bodyPr>
                    <a:lstStyle/>
                    <a:p>
                      <a:pPr algn="l"/>
                      <a:r>
                        <a:rPr sz="585" b="1">
                          <a:solidFill>
                            <a:srgbClr val="253B44"/>
                          </a:solidFill>
                          <a:latin typeface="Helvetica Neue"/>
                          <a:ea typeface="Helvetica Neue"/>
                          <a:cs typeface="Helvetica Neue"/>
                        </a:rPr>
                        <a:t>Dashboard and recommendations</a:t>
                      </a:r>
                    </a:p>
                  </a:txBody>
                  <a:tcPr marL="91440" marR="91440" marT="45720" marB="45720" anchor="ctr">
                    <a:solidFill>
                      <a:srgbClr val="EEF6F7"/>
                    </a:solidFill>
                  </a:tcPr>
                </a:tc>
                <a:tc>
                  <a:txBody>
                    <a:bodyPr lIns="66675" tIns="28575" rIns="57150" bIns="28575">
                      <a:noAutofit/>
                    </a:bodyPr>
                    <a:lstStyle/>
                    <a:p>
                      <a:pPr algn="l"/>
                      <a:r>
                        <a:rPr sz="585" b="0">
                          <a:solidFill>
                            <a:srgbClr val="253B44"/>
                          </a:solidFill>
                          <a:latin typeface="Helvetica Neue"/>
                          <a:ea typeface="Helvetica Neue"/>
                          <a:cs typeface="Helvetica Neue"/>
                        </a:rPr>
                        <a:t>Sam-Aquila Siddani</a:t>
                      </a:r>
                    </a:p>
                  </a:txBody>
                  <a:tcPr marL="91440" marR="91440" marT="45720" marB="45720" anchor="ctr">
                    <a:solidFill>
                      <a:srgbClr val="EEF6F7"/>
                    </a:solidFill>
                  </a:tcPr>
                </a:tc>
              </a:tr>
            </a:tbl>
          </a:graphicData>
        </a:graphic>
      </p:graphicFrame>
      <p:sp>
        <p:nvSpPr>
          <p:cNvPr id="16" name="">
            <a:extLst xmlns:a="http://schemas.openxmlformats.org/drawingml/2006/main">
              <a:ext uri="{FF2B5EF4-FFF2-40B4-BE49-F238E27FC236}">
                <a16:creationId xmlns:a16="http://schemas.microsoft.com/office/drawing/2014/main" id="{7627B2E6-0BD7-4692-BBD1-4033C16A477C}"/>
              </a:ext>
            </a:extLst>
          </p:cNvPr>
          <p:cNvSpPr>
            <a:spLocks xmlns:a="http://schemas.openxmlformats.org/drawingml/2006/main" noGrp="1"/>
          </p:cNvSpPr>
          <p:nvPr/>
        </p:nvSpPr>
        <p:spPr>
          <a:xfrm xmlns:a="http://schemas.openxmlformats.org/drawingml/2006/main">
            <a:off x="6515100" y="437197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Stakeholders</a:t>
            </a:r>
          </a:p>
        </p:txBody>
      </p:sp>
      <p:sp>
        <p:nvSpPr>
          <p:cNvPr id="17" name="">
            <a:extLst xmlns:a="http://schemas.openxmlformats.org/drawingml/2006/main">
              <a:ext uri="{FF2B5EF4-FFF2-40B4-BE49-F238E27FC236}">
                <a16:creationId xmlns:a16="http://schemas.microsoft.com/office/drawing/2014/main" id="{329D8282-2D32-47BA-B131-EE5292EC5901}"/>
              </a:ext>
            </a:extLst>
          </p:cNvPr>
          <p:cNvSpPr>
            <a:spLocks xmlns:a="http://schemas.openxmlformats.org/drawingml/2006/main" noGrp="1"/>
          </p:cNvSpPr>
          <p:nvPr/>
        </p:nvSpPr>
        <p:spPr>
          <a:xfrm xmlns:a="http://schemas.openxmlformats.org/drawingml/2006/main">
            <a:off x="6591300" y="4733925"/>
            <a:ext cx="20955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marL="139700" indent="-63500">
              <a:lnSpc>
                <a:spcPct val="104000"/>
              </a:lnSpc>
              <a:spcAft>
                <a:spcPts val="300"/>
              </a:spcAft>
              <a:buNone/>
              <a:defRPr sz="840">
                <a:solidFill>
                  <a:srgbClr val="253B44"/>
                </a:solidFill>
                <a:latin typeface="Helvetica Neue"/>
                <a:ea typeface="Helvetica Neue"/>
                <a:cs typeface="Helvetica Neue"/>
              </a:defRPr>
            </a:pPr>
            <a:r>
              <a:rPr sz="840">
                <a:solidFill>
                  <a:srgbClr val="253B44"/>
                </a:solidFill>
                <a:latin typeface="Helvetica Neue"/>
                <a:ea typeface="Helvetica Neue"/>
                <a:cs typeface="Helvetica Neue"/>
              </a:rPr>
              <a:t>Executive leadership and finance</a:t>
            </a:r>
          </a:p>
          <a:p xmlns:a="http://schemas.openxmlformats.org/drawingml/2006/main">
            <a:pPr marL="139700" indent="-63500">
              <a:lnSpc>
                <a:spcPct val="104000"/>
              </a:lnSpc>
              <a:spcAft>
                <a:spcPts val="300"/>
              </a:spcAft>
              <a:buNone/>
              <a:defRPr sz="840">
                <a:solidFill>
                  <a:srgbClr val="253B44"/>
                </a:solidFill>
                <a:latin typeface="Helvetica Neue"/>
                <a:ea typeface="Helvetica Neue"/>
                <a:cs typeface="Helvetica Neue"/>
              </a:defRPr>
            </a:pPr>
            <a:r>
              <a:rPr sz="840">
                <a:solidFill>
                  <a:srgbClr val="253B44"/>
                </a:solidFill>
                <a:latin typeface="Helvetica Neue"/>
                <a:ea typeface="Helvetica Neue"/>
                <a:cs typeface="Helvetica Neue"/>
              </a:rPr>
              <a:t>Clinical and operations teams</a:t>
            </a:r>
          </a:p>
          <a:p xmlns:a="http://schemas.openxmlformats.org/drawingml/2006/main">
            <a:pPr marL="139700" indent="-63500">
              <a:lnSpc>
                <a:spcPct val="104000"/>
              </a:lnSpc>
              <a:spcAft>
                <a:spcPts val="300"/>
              </a:spcAft>
              <a:buNone/>
              <a:defRPr sz="840">
                <a:solidFill>
                  <a:srgbClr val="253B44"/>
                </a:solidFill>
                <a:latin typeface="Helvetica Neue"/>
                <a:ea typeface="Helvetica Neue"/>
                <a:cs typeface="Helvetica Neue"/>
              </a:defRPr>
            </a:pPr>
            <a:r>
              <a:rPr sz="840">
                <a:solidFill>
                  <a:srgbClr val="253B44"/>
                </a:solidFill>
                <a:latin typeface="Helvetica Neue"/>
                <a:ea typeface="Helvetica Neue"/>
                <a:cs typeface="Helvetica Neue"/>
              </a:rPr>
              <a:t>Care coordinators and discharge planners</a:t>
            </a:r>
          </a:p>
          <a:p xmlns:a="http://schemas.openxmlformats.org/drawingml/2006/main">
            <a:pPr marL="139700" indent="-63500">
              <a:lnSpc>
                <a:spcPct val="104000"/>
              </a:lnSpc>
              <a:spcAft>
                <a:spcPts val="300"/>
              </a:spcAft>
              <a:buNone/>
              <a:defRPr sz="840">
                <a:solidFill>
                  <a:srgbClr val="253B44"/>
                </a:solidFill>
                <a:latin typeface="Helvetica Neue"/>
                <a:ea typeface="Helvetica Neue"/>
                <a:cs typeface="Helvetica Neue"/>
              </a:defRPr>
            </a:pPr>
            <a:r>
              <a:rPr sz="840">
                <a:solidFill>
                  <a:srgbClr val="253B44"/>
                </a:solidFill>
                <a:latin typeface="Helvetica Neue"/>
                <a:ea typeface="Helvetica Neue"/>
                <a:cs typeface="Helvetica Neue"/>
              </a:rPr>
              <a:t>Patients, caregivers, and community partners</a:t>
            </a:r>
          </a:p>
        </p:txBody>
      </p:sp>
      <p:sp>
        <p:nvSpPr>
          <p:cNvPr id="18" name="">
            <a:extLst xmlns:a="http://schemas.openxmlformats.org/drawingml/2006/main">
              <a:ext uri="{FF2B5EF4-FFF2-40B4-BE49-F238E27FC236}">
                <a16:creationId xmlns:a16="http://schemas.microsoft.com/office/drawing/2014/main" id="{453C664F-E163-44F2-8CB1-EE18DA7671D3}"/>
              </a:ext>
            </a:extLst>
          </p:cNvPr>
          <p:cNvSpPr>
            <a:spLocks xmlns:a="http://schemas.openxmlformats.org/drawingml/2006/main" noGrp="1"/>
          </p:cNvSpPr>
          <p:nvPr/>
        </p:nvSpPr>
        <p:spPr>
          <a:xfrm xmlns:a="http://schemas.openxmlformats.org/drawingml/2006/main">
            <a:off x="8991600" y="4371975"/>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Business hypothesis</a:t>
            </a:r>
          </a:p>
        </p:txBody>
      </p:sp>
      <p:sp>
        <p:nvSpPr>
          <p:cNvPr id="19" name="">
            <a:extLst xmlns:a="http://schemas.openxmlformats.org/drawingml/2006/main">
              <a:ext uri="{FF2B5EF4-FFF2-40B4-BE49-F238E27FC236}">
                <a16:creationId xmlns:a16="http://schemas.microsoft.com/office/drawing/2014/main" id="{E75AECFA-D892-4198-BBB4-71F25B9CE08E}"/>
              </a:ext>
            </a:extLst>
          </p:cNvPr>
          <p:cNvSpPr>
            <a:spLocks xmlns:a="http://schemas.openxmlformats.org/drawingml/2006/main" noGrp="1"/>
          </p:cNvSpPr>
          <p:nvPr/>
        </p:nvSpPr>
        <p:spPr>
          <a:xfrm xmlns:a="http://schemas.openxmlformats.org/drawingml/2006/main">
            <a:off x="8991600" y="4733925"/>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5000"/>
              </a:lnSpc>
              <a:buNone/>
              <a:defRPr sz="840">
                <a:solidFill>
                  <a:srgbClr val="253B44"/>
                </a:solidFill>
                <a:latin typeface="Helvetica Neue"/>
                <a:ea typeface="Helvetica Neue"/>
                <a:cs typeface="Helvetica Neue"/>
              </a:defRPr>
            </a:pPr>
            <a:r>
              <a:rPr sz="840">
                <a:solidFill>
                  <a:srgbClr val="253B44"/>
                </a:solidFill>
                <a:latin typeface="Helvetica Neue"/>
                <a:ea typeface="Helvetica Neue"/>
                <a:cs typeface="Helvetica Neue"/>
              </a:rPr>
              <a:t>Working belief: readmissions are rising because high-risk patients are not consistently matched to the right post-discharge support.</a:t>
            </a:r>
          </a:p>
        </p:txBody>
      </p:sp>
      <p:sp>
        <p:nvSpPr>
          <p:cNvPr id="20" name="">
            <a:extLst xmlns:a="http://schemas.openxmlformats.org/drawingml/2006/main">
              <a:ext uri="{FF2B5EF4-FFF2-40B4-BE49-F238E27FC236}">
                <a16:creationId xmlns:a16="http://schemas.microsoft.com/office/drawing/2014/main" id="{1120F8E1-0036-4450-BCBF-EB64B6B713EF}"/>
              </a:ext>
            </a:extLst>
          </p:cNvPr>
          <p:cNvSpPr>
            <a:spLocks xmlns:a="http://schemas.openxmlformats.org/drawingml/2006/main" noGrp="1"/>
          </p:cNvSpPr>
          <p:nvPr/>
        </p:nvSpPr>
        <p:spPr>
          <a:xfrm xmlns:a="http://schemas.openxmlformats.org/drawingml/2006/main">
            <a:off x="8991600" y="5610225"/>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5000"/>
              </a:lnSpc>
              <a:buNone/>
              <a:defRPr sz="840">
                <a:solidFill>
                  <a:srgbClr val="253B44"/>
                </a:solidFill>
                <a:latin typeface="Helvetica Neue"/>
                <a:ea typeface="Helvetica Neue"/>
                <a:cs typeface="Helvetica Neue"/>
              </a:defRPr>
            </a:pPr>
            <a:r>
              <a:rPr sz="840">
                <a:solidFill>
                  <a:srgbClr val="253B44"/>
                </a:solidFill>
                <a:latin typeface="Helvetica Neue"/>
                <a:ea typeface="Helvetica Neue"/>
                <a:cs typeface="Helvetica Neue"/>
              </a:rPr>
              <a:t>Test focus: follow-up completion, chronic disease burden, and care coordination targeting.</a:t>
            </a:r>
          </a:p>
        </p:txBody>
      </p:sp>
      <p:sp>
        <p:nvSpPr>
          <p:cNvPr id="21" name="">
            <a:extLst xmlns:a="http://schemas.openxmlformats.org/drawingml/2006/main">
              <a:ext uri="{FF2B5EF4-FFF2-40B4-BE49-F238E27FC236}">
                <a16:creationId xmlns:a16="http://schemas.microsoft.com/office/drawing/2014/main" id="{33BF9946-63B2-47DE-872C-8E89A9694701}"/>
              </a:ext>
            </a:extLst>
          </p:cNvPr>
          <p:cNvSpPr>
            <a:spLocks xmlns:a="http://schemas.openxmlformats.org/drawingml/2006/main" noGrp="1"/>
          </p:cNvSpPr>
          <p:nvPr/>
        </p:nvSpPr>
        <p:spPr>
          <a:xfrm xmlns:a="http://schemas.openxmlformats.org/drawingml/2006/main">
            <a:off x="514350" y="65722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750">
                <a:solidFill>
                  <a:srgbClr val="667A82"/>
                </a:solidFill>
                <a:latin typeface="Helvetica Neue"/>
                <a:ea typeface="Helvetica Neue"/>
                <a:cs typeface="Helvetica Neue"/>
              </a:defRPr>
            </a:pPr>
            <a:r>
              <a:rPr sz="750">
                <a:solidFill>
                  <a:srgbClr val="667A82"/>
                </a:solidFill>
                <a:latin typeface="Helvetica Neue"/>
                <a:ea typeface="Helvetica Neue"/>
                <a:cs typeface="Helvetica Neue"/>
              </a:rPr>
              <a:t>Source: Option 1 Healthcare Consulting Packet and project summary</a:t>
            </a:r>
          </a:p>
        </p:txBody>
      </p:sp>
    </p:spTree>
    <p:extLst>
      <p:ext uri="{BB962C8B-B14F-4D97-AF65-F5344CB8AC3E}">
        <p14:creationId xmlns:p14="http://schemas.microsoft.com/office/powerpoint/2010/main" val="1131303972"/>
      </p:ext>
    </p:extLst>
  </p:cSld>
</p:sld>
</file>

<file path=ppt/slides/slide2.xml><?xml version="1.0" encoding="utf-8"?>
<p:sld xmlns:p="http://schemas.openxmlformats.org/presentationml/2006/main">
  <p:cSld>
    <p:bg>
      <p:bgPr>
        <a:solidFill xmlns:a="http://schemas.openxmlformats.org/drawingml/2006/main">
          <a:srgbClr val="F8FBFC"/>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CDD6A91A-DF1C-4916-94FA-02141E7E4D28}"/>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0F4C5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3EA5A1B-C4B4-42E9-81B9-A8D520CB1AD0}"/>
              </a:ext>
            </a:extLst>
          </p:cNvPr>
          <p:cNvSpPr>
            <a:spLocks xmlns:a="http://schemas.openxmlformats.org/drawingml/2006/main" noGrp="1"/>
          </p:cNvSpPr>
          <p:nvPr/>
        </p:nvSpPr>
        <p:spPr>
          <a:xfrm xmlns:a="http://schemas.openxmlformats.org/drawingml/2006/main">
            <a:off x="514350" y="3619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275" b="1">
                <a:solidFill>
                  <a:srgbClr val="0F6F73"/>
                </a:solidFill>
                <a:latin typeface="Helvetica Neue"/>
                <a:ea typeface="Helvetica Neue"/>
                <a:cs typeface="Helvetica Neue"/>
              </a:defRPr>
            </a:pPr>
            <a:r>
              <a:rPr sz="1275" b="1">
                <a:solidFill>
                  <a:srgbClr val="0F6F73"/>
                </a:solidFill>
                <a:latin typeface="Helvetica Neue"/>
                <a:ea typeface="Helvetica Neue"/>
                <a:cs typeface="Helvetica Neue"/>
              </a:rPr>
              <a:t>Meds Counsulting LLC</a:t>
            </a:r>
          </a:p>
        </p:txBody>
      </p:sp>
      <p:sp>
        <p:nvSpPr>
          <p:cNvPr id="3" name="">
            <a:extLst xmlns:a="http://schemas.openxmlformats.org/drawingml/2006/main">
              <a:ext uri="{FF2B5EF4-FFF2-40B4-BE49-F238E27FC236}">
                <a16:creationId xmlns:a16="http://schemas.microsoft.com/office/drawing/2014/main" id="{60A211A8-DC06-47B9-854F-CA7CC9D094F1}"/>
              </a:ext>
            </a:extLst>
          </p:cNvPr>
          <p:cNvSpPr>
            <a:spLocks xmlns:a="http://schemas.openxmlformats.org/drawingml/2006/main" noGrp="1"/>
          </p:cNvSpPr>
          <p:nvPr/>
        </p:nvSpPr>
        <p:spPr>
          <a:xfrm xmlns:a="http://schemas.openxmlformats.org/drawingml/2006/main">
            <a:off x="514350" y="723900"/>
            <a:ext cx="819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2700" b="1">
                <a:solidFill>
                  <a:srgbClr val="102A34"/>
                </a:solidFill>
                <a:latin typeface="Helvetica Neue"/>
                <a:ea typeface="Helvetica Neue"/>
                <a:cs typeface="Helvetica Neue"/>
              </a:defRPr>
            </a:pPr>
            <a:r>
              <a:rPr sz="2700" b="1">
                <a:solidFill>
                  <a:srgbClr val="102A34"/>
                </a:solidFill>
                <a:latin typeface="Helvetica Neue"/>
                <a:ea typeface="Helvetica Neue"/>
                <a:cs typeface="Helvetica Neue"/>
              </a:rPr>
              <a:t>Data analysis snapshot</a:t>
            </a:r>
          </a:p>
        </p:txBody>
      </p:sp>
      <p:sp>
        <p:nvSpPr>
          <p:cNvPr id="4" name="">
            <a:extLst xmlns:a="http://schemas.openxmlformats.org/drawingml/2006/main">
              <a:ext uri="{FF2B5EF4-FFF2-40B4-BE49-F238E27FC236}">
                <a16:creationId xmlns:a16="http://schemas.microsoft.com/office/drawing/2014/main" id="{6CB4E249-947A-49C9-AADD-A9488EFE1829}"/>
              </a:ext>
            </a:extLst>
          </p:cNvPr>
          <p:cNvSpPr>
            <a:spLocks xmlns:a="http://schemas.openxmlformats.org/drawingml/2006/main" noGrp="1"/>
          </p:cNvSpPr>
          <p:nvPr/>
        </p:nvSpPr>
        <p:spPr>
          <a:xfrm xmlns:a="http://schemas.openxmlformats.org/drawingml/2006/main">
            <a:off x="514350" y="1162050"/>
            <a:ext cx="809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088">
                <a:solidFill>
                  <a:srgbClr val="50636B"/>
                </a:solidFill>
                <a:latin typeface="Helvetica Neue"/>
                <a:ea typeface="Helvetica Neue"/>
                <a:cs typeface="Helvetica Neue"/>
              </a:defRPr>
            </a:pPr>
            <a:r>
              <a:rPr sz="1088">
                <a:solidFill>
                  <a:srgbClr val="50636B"/>
                </a:solidFill>
                <a:latin typeface="Helvetica Neue"/>
                <a:ea typeface="Helvetica Neue"/>
                <a:cs typeface="Helvetica Neue"/>
              </a:rPr>
              <a:t>Missing data, outliers, trends, and correlations</a:t>
            </a:r>
          </a:p>
        </p:txBody>
      </p:sp>
      <p:sp>
        <p:nvSpPr>
          <p:cNvPr id="5" name="">
            <a:extLst xmlns:a="http://schemas.openxmlformats.org/drawingml/2006/main">
              <a:ext uri="{FF2B5EF4-FFF2-40B4-BE49-F238E27FC236}">
                <a16:creationId xmlns:a16="http://schemas.microsoft.com/office/drawing/2014/main" id="{0D15AA0C-8CC5-42EB-B253-6D7CDB61E4FA}"/>
              </a:ext>
            </a:extLst>
          </p:cNvPr>
          <p:cNvSpPr>
            <a:spLocks xmlns:a="http://schemas.openxmlformats.org/drawingml/2006/main" noGrp="1"/>
          </p:cNvSpPr>
          <p:nvPr/>
        </p:nvSpPr>
        <p:spPr>
          <a:xfrm xmlns:a="http://schemas.openxmlformats.org/drawingml/2006/main">
            <a:off x="514350" y="1466850"/>
            <a:ext cx="10287000" cy="28575"/>
          </a:xfrm>
          <a:prstGeom xmlns:a="http://schemas.openxmlformats.org/drawingml/2006/main" prst="rect">
            <a:avLst/>
          </a:prstGeom>
          <a:solidFill xmlns:a="http://schemas.openxmlformats.org/drawingml/2006/main">
            <a:srgbClr val="E9A93A"/>
          </a:solidFill>
          <a:ln xmlns:a="http://schemas.openxmlformats.org/drawingml/2006/main" w="0">
            <a:noFill/>
            <a:prstDash val="solid"/>
          </a:ln>
        </p:spPr>
      </p:sp>
      <p:graphicFrame>
        <p:nvGraphicFramePr>
          <p:cNvPr id="26" name=""/>
          <p:cNvGraphicFramePr/>
          <p:nvPr/>
        </p:nvGraphicFramePr>
        <p:xfrm>
          <a:off xmlns:a="http://schemas.openxmlformats.org/drawingml/2006/main" x="514350" y="1695450"/>
          <a:ext xmlns:a="http://schemas.openxmlformats.org/drawingml/2006/main" cx="10287000" cy="819150"/>
        </p:xfrm>
        <a:graphic xmlns:a="http://schemas.openxmlformats.org/drawingml/2006/main">
          <a:graphicData uri="http://schemas.openxmlformats.org/drawingml/2006/table">
            <a:tbl>
              <a:tblPr/>
              <a:tblGrid>
                <a:gridCol w="2571750"/>
                <a:gridCol w="2571750"/>
                <a:gridCol w="2571750"/>
                <a:gridCol w="2571750"/>
              </a:tblGrid>
              <a:tr h="409575">
                <a:tc>
                  <a:txBody>
                    <a:bodyPr lIns="66675" tIns="28575" rIns="57150" bIns="28575">
                      <a:noAutofit/>
                    </a:bodyPr>
                    <a:lstStyle/>
                    <a:p>
                      <a:pPr algn="ctr"/>
                      <a:r>
                        <a:rPr sz="1650" b="1">
                          <a:solidFill>
                            <a:srgbClr val="0F4C5C"/>
                          </a:solidFill>
                          <a:latin typeface="Helvetica Neue"/>
                          <a:ea typeface="Helvetica Neue"/>
                          <a:cs typeface="Helvetica Neue"/>
                        </a:rPr>
                        <a:t>12,000</a:t>
                      </a:r>
                    </a:p>
                  </a:txBody>
                  <a:tcPr marL="91440" marR="91440" marT="45720" marB="45720" anchor="ctr">
                    <a:solidFill>
                      <a:srgbClr val="EEF6F7"/>
                    </a:solidFill>
                  </a:tcPr>
                </a:tc>
                <a:tc>
                  <a:txBody>
                    <a:bodyPr lIns="66675" tIns="28575" rIns="57150" bIns="28575">
                      <a:noAutofit/>
                    </a:bodyPr>
                    <a:lstStyle/>
                    <a:p>
                      <a:pPr algn="ctr"/>
                      <a:r>
                        <a:rPr sz="1650" b="1">
                          <a:solidFill>
                            <a:srgbClr val="0F4C5C"/>
                          </a:solidFill>
                          <a:latin typeface="Helvetica Neue"/>
                          <a:ea typeface="Helvetica Neue"/>
                          <a:cs typeface="Helvetica Neue"/>
                        </a:rPr>
                        <a:t>43.2%</a:t>
                      </a:r>
                    </a:p>
                  </a:txBody>
                  <a:tcPr marL="91440" marR="91440" marT="45720" marB="45720" anchor="ctr">
                    <a:solidFill>
                      <a:srgbClr val="EEF6F7"/>
                    </a:solidFill>
                  </a:tcPr>
                </a:tc>
                <a:tc>
                  <a:txBody>
                    <a:bodyPr lIns="66675" tIns="28575" rIns="57150" bIns="28575">
                      <a:noAutofit/>
                    </a:bodyPr>
                    <a:lstStyle/>
                    <a:p>
                      <a:pPr algn="ctr"/>
                      <a:r>
                        <a:rPr sz="1650" b="1">
                          <a:solidFill>
                            <a:srgbClr val="0F4C5C"/>
                          </a:solidFill>
                          <a:latin typeface="Helvetica Neue"/>
                          <a:ea typeface="Helvetica Neue"/>
                          <a:cs typeface="Helvetica Neue"/>
                        </a:rPr>
                        <a:t>21.6%</a:t>
                      </a:r>
                    </a:p>
                  </a:txBody>
                  <a:tcPr marL="91440" marR="91440" marT="45720" marB="45720" anchor="ctr">
                    <a:solidFill>
                      <a:srgbClr val="EEF6F7"/>
                    </a:solidFill>
                  </a:tcPr>
                </a:tc>
                <a:tc>
                  <a:txBody>
                    <a:bodyPr lIns="66675" tIns="28575" rIns="57150" bIns="28575">
                      <a:noAutofit/>
                    </a:bodyPr>
                    <a:lstStyle/>
                    <a:p>
                      <a:pPr algn="ctr"/>
                      <a:r>
                        <a:rPr sz="1650" b="1">
                          <a:solidFill>
                            <a:srgbClr val="0F4C5C"/>
                          </a:solidFill>
                          <a:latin typeface="Helvetica Neue"/>
                          <a:ea typeface="Helvetica Neue"/>
                          <a:cs typeface="Helvetica Neue"/>
                        </a:rPr>
                        <a:t>30.2%</a:t>
                      </a:r>
                    </a:p>
                  </a:txBody>
                  <a:tcPr marL="91440" marR="91440" marT="45720" marB="45720" anchor="ctr">
                    <a:solidFill>
                      <a:srgbClr val="EEF6F7"/>
                    </a:solidFill>
                  </a:tcPr>
                </a:tc>
              </a:tr>
              <a:tr h="409575">
                <a:tc>
                  <a:txBody>
                    <a:bodyPr lIns="66675" tIns="28575" rIns="57150" bIns="28575">
                      <a:noAutofit/>
                    </a:bodyPr>
                    <a:lstStyle/>
                    <a:p>
                      <a:pPr algn="ctr"/>
                      <a:r>
                        <a:rPr sz="705" b="0">
                          <a:solidFill>
                            <a:srgbClr val="50636B"/>
                          </a:solidFill>
                          <a:latin typeface="Helvetica Neue"/>
                          <a:ea typeface="Helvetica Neue"/>
                          <a:cs typeface="Helvetica Neue"/>
                        </a:rPr>
                        <a:t>Patients analyzed</a:t>
                      </a:r>
                    </a:p>
                  </a:txBody>
                  <a:tcPr marL="91440" marR="91440" marT="45720" marB="45720" anchor="ctr">
                    <a:solidFill>
                      <a:srgbClr val="F8FBFC"/>
                    </a:solidFill>
                  </a:tcPr>
                </a:tc>
                <a:tc>
                  <a:txBody>
                    <a:bodyPr lIns="66675" tIns="28575" rIns="57150" bIns="28575">
                      <a:noAutofit/>
                    </a:bodyPr>
                    <a:lstStyle/>
                    <a:p>
                      <a:pPr algn="ctr"/>
                      <a:r>
                        <a:rPr sz="705" b="0">
                          <a:solidFill>
                            <a:srgbClr val="50636B"/>
                          </a:solidFill>
                          <a:latin typeface="Helvetica Neue"/>
                          <a:ea typeface="Helvetica Neue"/>
                          <a:cs typeface="Helvetica Neue"/>
                        </a:rPr>
                        <a:t>Readmitted within 30 days</a:t>
                      </a:r>
                    </a:p>
                  </a:txBody>
                  <a:tcPr marL="91440" marR="91440" marT="45720" marB="45720" anchor="ctr">
                    <a:solidFill>
                      <a:srgbClr val="F8FBFC"/>
                    </a:solidFill>
                  </a:tcPr>
                </a:tc>
                <a:tc>
                  <a:txBody>
                    <a:bodyPr lIns="66675" tIns="28575" rIns="57150" bIns="28575">
                      <a:noAutofit/>
                    </a:bodyPr>
                    <a:lstStyle/>
                    <a:p>
                      <a:pPr algn="ctr"/>
                      <a:r>
                        <a:rPr sz="705" b="0">
                          <a:solidFill>
                            <a:srgbClr val="50636B"/>
                          </a:solidFill>
                          <a:latin typeface="Helvetica Neue"/>
                          <a:ea typeface="Helvetica Neue"/>
                          <a:cs typeface="Helvetica Neue"/>
                        </a:rPr>
                        <a:t>Missing follow-up status</a:t>
                      </a:r>
                    </a:p>
                  </a:txBody>
                  <a:tcPr marL="91440" marR="91440" marT="45720" marB="45720" anchor="ctr">
                    <a:solidFill>
                      <a:srgbClr val="F8FBFC"/>
                    </a:solidFill>
                  </a:tcPr>
                </a:tc>
                <a:tc>
                  <a:txBody>
                    <a:bodyPr lIns="66675" tIns="28575" rIns="57150" bIns="28575">
                      <a:noAutofit/>
                    </a:bodyPr>
                    <a:lstStyle/>
                    <a:p>
                      <a:pPr algn="ctr"/>
                      <a:r>
                        <a:rPr sz="705" b="0">
                          <a:solidFill>
                            <a:srgbClr val="50636B"/>
                          </a:solidFill>
                          <a:latin typeface="Helvetica Neue"/>
                          <a:ea typeface="Helvetica Neue"/>
                          <a:cs typeface="Helvetica Neue"/>
                        </a:rPr>
                        <a:t>Rows with quality flags</a:t>
                      </a:r>
                    </a:p>
                  </a:txBody>
                  <a:tcPr marL="91440" marR="91440" marT="45720" marB="45720" anchor="ctr">
                    <a:solidFill>
                      <a:srgbClr val="F8FBFC"/>
                    </a:solidFill>
                  </a:tcPr>
                </a:tc>
              </a:tr>
            </a:tbl>
          </a:graphicData>
        </a:graphic>
      </p:graphicFrame>
      <p:sp>
        <p:nvSpPr>
          <p:cNvPr id="7" name="">
            <a:extLst xmlns:a="http://schemas.openxmlformats.org/drawingml/2006/main">
              <a:ext uri="{FF2B5EF4-FFF2-40B4-BE49-F238E27FC236}">
                <a16:creationId xmlns:a16="http://schemas.microsoft.com/office/drawing/2014/main" id="{2115EF24-EBAD-499B-9D6B-4299E5134AAE}"/>
              </a:ext>
            </a:extLst>
          </p:cNvPr>
          <p:cNvSpPr>
            <a:spLocks xmlns:a="http://schemas.openxmlformats.org/drawingml/2006/main" noGrp="1"/>
          </p:cNvSpPr>
          <p:nvPr/>
        </p:nvSpPr>
        <p:spPr>
          <a:xfrm xmlns:a="http://schemas.openxmlformats.org/drawingml/2006/main">
            <a:off x="514350" y="2771775"/>
            <a:ext cx="10287000" cy="14288"/>
          </a:xfrm>
          <a:prstGeom xmlns:a="http://schemas.openxmlformats.org/drawingml/2006/main" prst="rect">
            <a:avLst/>
          </a:prstGeom>
          <a:solidFill xmlns:a="http://schemas.openxmlformats.org/drawingml/2006/main">
            <a:srgbClr val="D1E1E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18472F2-7FF3-4F6F-9106-68B48298A785}"/>
              </a:ext>
            </a:extLst>
          </p:cNvPr>
          <p:cNvSpPr>
            <a:spLocks xmlns:a="http://schemas.openxmlformats.org/drawingml/2006/main" noGrp="1"/>
          </p:cNvSpPr>
          <p:nvPr/>
        </p:nvSpPr>
        <p:spPr>
          <a:xfrm xmlns:a="http://schemas.openxmlformats.org/drawingml/2006/main">
            <a:off x="514350" y="30099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Data quality checks</a:t>
            </a:r>
          </a:p>
        </p:txBody>
      </p:sp>
      <p:graphicFrame>
        <p:nvGraphicFramePr>
          <p:cNvPr id="29" name=""/>
          <p:cNvGraphicFramePr/>
          <p:nvPr/>
        </p:nvGraphicFramePr>
        <p:xfrm>
          <a:off xmlns:a="http://schemas.openxmlformats.org/drawingml/2006/main" x="514350" y="3362325"/>
          <a:ext xmlns:a="http://schemas.openxmlformats.org/drawingml/2006/main" cx="3714750" cy="1600200"/>
        </p:xfrm>
        <a:graphic xmlns:a="http://schemas.openxmlformats.org/drawingml/2006/main">
          <a:graphicData uri="http://schemas.openxmlformats.org/drawingml/2006/table">
            <a:tbl>
              <a:tblPr/>
              <a:tblGrid>
                <a:gridCol w="1666875"/>
                <a:gridCol w="885825"/>
                <a:gridCol w="1162050"/>
              </a:tblGrid>
              <a:tr h="266700">
                <a:tc>
                  <a:txBody>
                    <a:bodyPr lIns="66675" tIns="28575" rIns="57150" bIns="28575">
                      <a:noAutofit/>
                    </a:bodyPr>
                    <a:lstStyle/>
                    <a:p>
                      <a:pPr algn="l"/>
                      <a:r>
                        <a:rPr sz="690" b="1">
                          <a:solidFill>
                            <a:srgbClr val="FFFFFF"/>
                          </a:solidFill>
                          <a:latin typeface="Helvetica Neue"/>
                          <a:ea typeface="Helvetica Neue"/>
                          <a:cs typeface="Helvetica Neue"/>
                        </a:rPr>
                        <a:t>Check</a:t>
                      </a:r>
                    </a:p>
                  </a:txBody>
                  <a:tcPr marL="91440" marR="91440" marT="45720" marB="45720" anchor="ctr">
                    <a:solidFill>
                      <a:srgbClr val="0F4C5C"/>
                    </a:solidFill>
                  </a:tcPr>
                </a:tc>
                <a:tc>
                  <a:txBody>
                    <a:bodyPr lIns="66675" tIns="28575" rIns="57150" bIns="28575">
                      <a:noAutofit/>
                    </a:bodyPr>
                    <a:lstStyle/>
                    <a:p>
                      <a:pPr algn="l"/>
                      <a:r>
                        <a:rPr sz="690" b="1">
                          <a:solidFill>
                            <a:srgbClr val="FFFFFF"/>
                          </a:solidFill>
                          <a:latin typeface="Helvetica Neue"/>
                          <a:ea typeface="Helvetica Neue"/>
                          <a:cs typeface="Helvetica Neue"/>
                        </a:rPr>
                        <a:t>Scale</a:t>
                      </a:r>
                    </a:p>
                  </a:txBody>
                  <a:tcPr marL="91440" marR="91440" marT="45720" marB="45720" anchor="ctr">
                    <a:solidFill>
                      <a:srgbClr val="0F4C5C"/>
                    </a:solidFill>
                  </a:tcPr>
                </a:tc>
                <a:tc>
                  <a:txBody>
                    <a:bodyPr lIns="66675" tIns="28575" rIns="57150" bIns="28575">
                      <a:noAutofit/>
                    </a:bodyPr>
                    <a:lstStyle/>
                    <a:p>
                      <a:pPr algn="l"/>
                      <a:r>
                        <a:rPr sz="690" b="1">
                          <a:solidFill>
                            <a:srgbClr val="FFFFFF"/>
                          </a:solidFill>
                          <a:latin typeface="Helvetica Neue"/>
                          <a:ea typeface="Helvetica Neue"/>
                          <a:cs typeface="Helvetica Neue"/>
                        </a:rPr>
                        <a:t>Meaning</a:t>
                      </a:r>
                    </a:p>
                  </a:txBody>
                  <a:tcPr marL="91440" marR="91440" marT="45720" marB="45720" anchor="ctr">
                    <a:solidFill>
                      <a:srgbClr val="0F4C5C"/>
                    </a:solidFill>
                  </a:tcPr>
                </a:tc>
              </a:tr>
              <a:tr h="266700">
                <a:tc>
                  <a:txBody>
                    <a:bodyPr lIns="66675" tIns="28575" rIns="57150" bIns="28575">
                      <a:noAutofit/>
                    </a:bodyPr>
                    <a:lstStyle/>
                    <a:p>
                      <a:pPr algn="l"/>
                      <a:r>
                        <a:rPr sz="615" b="1">
                          <a:solidFill>
                            <a:srgbClr val="253B44"/>
                          </a:solidFill>
                          <a:latin typeface="Helvetica Neue"/>
                          <a:ea typeface="Helvetica Neue"/>
                          <a:cs typeface="Helvetica Neue"/>
                        </a:rPr>
                        <a:t>Missing follow-up status</a:t>
                      </a:r>
                    </a:p>
                  </a:txBody>
                  <a:tcPr marL="91440" marR="91440" marT="45720" marB="45720" anchor="ctr">
                    <a:solidFill>
                      <a:srgbClr val="EEF6F7"/>
                    </a:solidFill>
                  </a:tcPr>
                </a:tc>
                <a:tc>
                  <a:txBody>
                    <a:bodyPr lIns="66675" tIns="28575" rIns="57150" bIns="28575">
                      <a:noAutofit/>
                    </a:bodyPr>
                    <a:lstStyle/>
                    <a:p>
                      <a:pPr algn="l"/>
                      <a:r>
                        <a:rPr sz="615" b="0">
                          <a:solidFill>
                            <a:srgbClr val="253B44"/>
                          </a:solidFill>
                          <a:latin typeface="Helvetica Neue"/>
                          <a:ea typeface="Helvetica Neue"/>
                          <a:cs typeface="Helvetica Neue"/>
                        </a:rPr>
                        <a:t>2,587 rows</a:t>
                      </a:r>
                    </a:p>
                  </a:txBody>
                  <a:tcPr marL="91440" marR="91440" marT="45720" marB="45720" anchor="ctr">
                    <a:solidFill>
                      <a:srgbClr val="EEF6F7"/>
                    </a:solidFill>
                  </a:tcPr>
                </a:tc>
                <a:tc>
                  <a:txBody>
                    <a:bodyPr lIns="66675" tIns="28575" rIns="57150" bIns="28575">
                      <a:noAutofit/>
                    </a:bodyPr>
                    <a:lstStyle/>
                    <a:p>
                      <a:pPr algn="l"/>
                      <a:r>
                        <a:rPr sz="615" b="0">
                          <a:solidFill>
                            <a:srgbClr val="253B44"/>
                          </a:solidFill>
                          <a:latin typeface="Helvetica Neue"/>
                          <a:ea typeface="Helvetica Neue"/>
                          <a:cs typeface="Helvetica Neue"/>
                        </a:rPr>
                        <a:t>Care transition visibility gap</a:t>
                      </a:r>
                    </a:p>
                  </a:txBody>
                  <a:tcPr marL="91440" marR="91440" marT="45720" marB="45720" anchor="ctr">
                    <a:solidFill>
                      <a:srgbClr val="EEF6F7"/>
                    </a:solidFill>
                  </a:tcPr>
                </a:tc>
              </a:tr>
              <a:tr h="266700">
                <a:tc>
                  <a:txBody>
                    <a:bodyPr lIns="66675" tIns="28575" rIns="57150" bIns="28575">
                      <a:noAutofit/>
                    </a:bodyPr>
                    <a:lstStyle/>
                    <a:p>
                      <a:pPr algn="l"/>
                      <a:r>
                        <a:rPr sz="615" b="1">
                          <a:solidFill>
                            <a:srgbClr val="253B44"/>
                          </a:solidFill>
                          <a:latin typeface="Helvetica Neue"/>
                          <a:ea typeface="Helvetica Neue"/>
                          <a:cs typeface="Helvetica Neue"/>
                        </a:rPr>
                        <a:t>Other missing fields</a:t>
                      </a:r>
                    </a:p>
                  </a:txBody>
                  <a:tcPr marL="91440" marR="91440" marT="45720" marB="45720" anchor="ctr">
                    <a:solidFill>
                      <a:srgbClr val="F8FBFC"/>
                    </a:solidFill>
                  </a:tcPr>
                </a:tc>
                <a:tc>
                  <a:txBody>
                    <a:bodyPr lIns="66675" tIns="28575" rIns="57150" bIns="28575">
                      <a:noAutofit/>
                    </a:bodyPr>
                    <a:lstStyle/>
                    <a:p>
                      <a:pPr algn="l"/>
                      <a:r>
                        <a:rPr sz="615" b="0">
                          <a:solidFill>
                            <a:srgbClr val="253B44"/>
                          </a:solidFill>
                          <a:latin typeface="Helvetica Neue"/>
                          <a:ea typeface="Helvetica Neue"/>
                          <a:cs typeface="Helvetica Neue"/>
                        </a:rPr>
                        <a:t>1.5-2.0%</a:t>
                      </a:r>
                    </a:p>
                  </a:txBody>
                  <a:tcPr marL="91440" marR="91440" marT="45720" marB="45720" anchor="ctr">
                    <a:solidFill>
                      <a:srgbClr val="F8FBFC"/>
                    </a:solidFill>
                  </a:tcPr>
                </a:tc>
                <a:tc>
                  <a:txBody>
                    <a:bodyPr lIns="66675" tIns="28575" rIns="57150" bIns="28575">
                      <a:noAutofit/>
                    </a:bodyPr>
                    <a:lstStyle/>
                    <a:p>
                      <a:pPr algn="l"/>
                      <a:r>
                        <a:rPr sz="615" b="0">
                          <a:solidFill>
                            <a:srgbClr val="253B44"/>
                          </a:solidFill>
                          <a:latin typeface="Helvetica Neue"/>
                          <a:ea typeface="Helvetica Neue"/>
                          <a:cs typeface="Helvetica Neue"/>
                        </a:rPr>
                        <a:t>Use cleaned/imputed file</a:t>
                      </a:r>
                    </a:p>
                  </a:txBody>
                  <a:tcPr marL="91440" marR="91440" marT="45720" marB="45720" anchor="ctr">
                    <a:solidFill>
                      <a:srgbClr val="F8FBFC"/>
                    </a:solidFill>
                  </a:tcPr>
                </a:tc>
              </a:tr>
              <a:tr h="266700">
                <a:tc>
                  <a:txBody>
                    <a:bodyPr lIns="66675" tIns="28575" rIns="57150" bIns="28575">
                      <a:noAutofit/>
                    </a:bodyPr>
                    <a:lstStyle/>
                    <a:p>
                      <a:pPr algn="l"/>
                      <a:r>
                        <a:rPr sz="615" b="1">
                          <a:solidFill>
                            <a:srgbClr val="253B44"/>
                          </a:solidFill>
                          <a:latin typeface="Helvetica Neue"/>
                          <a:ea typeface="Helvetica Neue"/>
                          <a:cs typeface="Helvetica Neue"/>
                        </a:rPr>
                        <a:t>Length-of-stay outliers</a:t>
                      </a:r>
                    </a:p>
                  </a:txBody>
                  <a:tcPr marL="91440" marR="91440" marT="45720" marB="45720" anchor="ctr">
                    <a:solidFill>
                      <a:srgbClr val="EEF6F7"/>
                    </a:solidFill>
                  </a:tcPr>
                </a:tc>
                <a:tc>
                  <a:txBody>
                    <a:bodyPr lIns="66675" tIns="28575" rIns="57150" bIns="28575">
                      <a:noAutofit/>
                    </a:bodyPr>
                    <a:lstStyle/>
                    <a:p>
                      <a:pPr algn="l"/>
                      <a:r>
                        <a:rPr sz="615" b="0">
                          <a:solidFill>
                            <a:srgbClr val="253B44"/>
                          </a:solidFill>
                          <a:latin typeface="Helvetica Neue"/>
                          <a:ea typeface="Helvetica Neue"/>
                          <a:cs typeface="Helvetica Neue"/>
                        </a:rPr>
                        <a:t>191 rows</a:t>
                      </a:r>
                    </a:p>
                  </a:txBody>
                  <a:tcPr marL="91440" marR="91440" marT="45720" marB="45720" anchor="ctr">
                    <a:solidFill>
                      <a:srgbClr val="EEF6F7"/>
                    </a:solidFill>
                  </a:tcPr>
                </a:tc>
                <a:tc>
                  <a:txBody>
                    <a:bodyPr lIns="66675" tIns="28575" rIns="57150" bIns="28575">
                      <a:noAutofit/>
                    </a:bodyPr>
                    <a:lstStyle/>
                    <a:p>
                      <a:pPr algn="l"/>
                      <a:r>
                        <a:rPr sz="615" b="0">
                          <a:solidFill>
                            <a:srgbClr val="253B44"/>
                          </a:solidFill>
                          <a:latin typeface="Helvetica Neue"/>
                          <a:ea typeface="Helvetica Neue"/>
                          <a:cs typeface="Helvetica Neue"/>
                        </a:rPr>
                        <a:t>Review extended stays</a:t>
                      </a:r>
                    </a:p>
                  </a:txBody>
                  <a:tcPr marL="91440" marR="91440" marT="45720" marB="45720" anchor="ctr">
                    <a:solidFill>
                      <a:srgbClr val="EEF6F7"/>
                    </a:solidFill>
                  </a:tcPr>
                </a:tc>
              </a:tr>
              <a:tr h="266700">
                <a:tc>
                  <a:txBody>
                    <a:bodyPr lIns="66675" tIns="28575" rIns="57150" bIns="28575">
                      <a:noAutofit/>
                    </a:bodyPr>
                    <a:lstStyle/>
                    <a:p>
                      <a:pPr algn="l"/>
                      <a:r>
                        <a:rPr sz="615" b="1">
                          <a:solidFill>
                            <a:srgbClr val="253B44"/>
                          </a:solidFill>
                          <a:latin typeface="Helvetica Neue"/>
                          <a:ea typeface="Helvetica Neue"/>
                          <a:cs typeface="Helvetica Neue"/>
                        </a:rPr>
                        <a:t>Total care cost outliers</a:t>
                      </a:r>
                    </a:p>
                  </a:txBody>
                  <a:tcPr marL="91440" marR="91440" marT="45720" marB="45720" anchor="ctr">
                    <a:solidFill>
                      <a:srgbClr val="F8FBFC"/>
                    </a:solidFill>
                  </a:tcPr>
                </a:tc>
                <a:tc>
                  <a:txBody>
                    <a:bodyPr lIns="66675" tIns="28575" rIns="57150" bIns="28575">
                      <a:noAutofit/>
                    </a:bodyPr>
                    <a:lstStyle/>
                    <a:p>
                      <a:pPr algn="l"/>
                      <a:r>
                        <a:rPr sz="615" b="0">
                          <a:solidFill>
                            <a:srgbClr val="253B44"/>
                          </a:solidFill>
                          <a:latin typeface="Helvetica Neue"/>
                          <a:ea typeface="Helvetica Neue"/>
                          <a:cs typeface="Helvetica Neue"/>
                        </a:rPr>
                        <a:t>72 rows</a:t>
                      </a:r>
                    </a:p>
                  </a:txBody>
                  <a:tcPr marL="91440" marR="91440" marT="45720" marB="45720" anchor="ctr">
                    <a:solidFill>
                      <a:srgbClr val="F8FBFC"/>
                    </a:solidFill>
                  </a:tcPr>
                </a:tc>
                <a:tc>
                  <a:txBody>
                    <a:bodyPr lIns="66675" tIns="28575" rIns="57150" bIns="28575">
                      <a:noAutofit/>
                    </a:bodyPr>
                    <a:lstStyle/>
                    <a:p>
                      <a:pPr algn="l"/>
                      <a:r>
                        <a:rPr sz="615" b="0">
                          <a:solidFill>
                            <a:srgbClr val="253B44"/>
                          </a:solidFill>
                          <a:latin typeface="Helvetica Neue"/>
                          <a:ea typeface="Helvetica Neue"/>
                          <a:cs typeface="Helvetica Neue"/>
                        </a:rPr>
                        <a:t>Protect ROI estimates</a:t>
                      </a:r>
                    </a:p>
                  </a:txBody>
                  <a:tcPr marL="91440" marR="91440" marT="45720" marB="45720" anchor="ctr">
                    <a:solidFill>
                      <a:srgbClr val="F8FBFC"/>
                    </a:solidFill>
                  </a:tcPr>
                </a:tc>
              </a:tr>
              <a:tr h="266700">
                <a:tc>
                  <a:txBody>
                    <a:bodyPr lIns="66675" tIns="28575" rIns="57150" bIns="28575">
                      <a:noAutofit/>
                    </a:bodyPr>
                    <a:lstStyle/>
                    <a:p>
                      <a:pPr algn="l"/>
                      <a:r>
                        <a:rPr sz="615" b="1">
                          <a:solidFill>
                            <a:srgbClr val="253B44"/>
                          </a:solidFill>
                          <a:latin typeface="Helvetica Neue"/>
                          <a:ea typeface="Helvetica Neue"/>
                          <a:cs typeface="Helvetica Neue"/>
                        </a:rPr>
                        <a:t>Negative penalty cost</a:t>
                      </a:r>
                    </a:p>
                  </a:txBody>
                  <a:tcPr marL="91440" marR="91440" marT="45720" marB="45720" anchor="ctr">
                    <a:solidFill>
                      <a:srgbClr val="EEF6F7"/>
                    </a:solidFill>
                  </a:tcPr>
                </a:tc>
                <a:tc>
                  <a:txBody>
                    <a:bodyPr lIns="66675" tIns="28575" rIns="57150" bIns="28575">
                      <a:noAutofit/>
                    </a:bodyPr>
                    <a:lstStyle/>
                    <a:p>
                      <a:pPr algn="l"/>
                      <a:r>
                        <a:rPr sz="615" b="0">
                          <a:solidFill>
                            <a:srgbClr val="253B44"/>
                          </a:solidFill>
                          <a:latin typeface="Helvetica Neue"/>
                          <a:ea typeface="Helvetica Neue"/>
                          <a:cs typeface="Helvetica Neue"/>
                        </a:rPr>
                        <a:t>49 rows</a:t>
                      </a:r>
                    </a:p>
                  </a:txBody>
                  <a:tcPr marL="91440" marR="91440" marT="45720" marB="45720" anchor="ctr">
                    <a:solidFill>
                      <a:srgbClr val="EEF6F7"/>
                    </a:solidFill>
                  </a:tcPr>
                </a:tc>
                <a:tc>
                  <a:txBody>
                    <a:bodyPr lIns="66675" tIns="28575" rIns="57150" bIns="28575">
                      <a:noAutofit/>
                    </a:bodyPr>
                    <a:lstStyle/>
                    <a:p>
                      <a:pPr algn="l"/>
                      <a:r>
                        <a:rPr sz="615" b="0">
                          <a:solidFill>
                            <a:srgbClr val="253B44"/>
                          </a:solidFill>
                          <a:latin typeface="Helvetica Neue"/>
                          <a:ea typeface="Helvetica Neue"/>
                          <a:cs typeface="Helvetica Neue"/>
                        </a:rPr>
                        <a:t>Validate financial extract</a:t>
                      </a:r>
                    </a:p>
                  </a:txBody>
                  <a:tcPr marL="91440" marR="91440" marT="45720" marB="45720" anchor="ctr">
                    <a:solidFill>
                      <a:srgbClr val="EEF6F7"/>
                    </a:solidFill>
                  </a:tcPr>
                </a:tc>
              </a:tr>
            </a:tbl>
          </a:graphicData>
        </a:graphic>
      </p:graphicFrame>
      <p:sp>
        <p:nvSpPr>
          <p:cNvPr id="10" name="">
            <a:extLst xmlns:a="http://schemas.openxmlformats.org/drawingml/2006/main">
              <a:ext uri="{FF2B5EF4-FFF2-40B4-BE49-F238E27FC236}">
                <a16:creationId xmlns:a16="http://schemas.microsoft.com/office/drawing/2014/main" id="{6976DC48-01D1-497C-8BB5-25F84D0D2E26}"/>
              </a:ext>
            </a:extLst>
          </p:cNvPr>
          <p:cNvSpPr>
            <a:spLocks xmlns:a="http://schemas.openxmlformats.org/drawingml/2006/main" noGrp="1"/>
          </p:cNvSpPr>
          <p:nvPr/>
        </p:nvSpPr>
        <p:spPr>
          <a:xfrm xmlns:a="http://schemas.openxmlformats.org/drawingml/2006/main">
            <a:off x="514350" y="5095875"/>
            <a:ext cx="3714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5000"/>
              </a:lnSpc>
              <a:buNone/>
              <a:defRPr sz="803">
                <a:solidFill>
                  <a:srgbClr val="50636B"/>
                </a:solidFill>
                <a:latin typeface="Helvetica Neue"/>
                <a:ea typeface="Helvetica Neue"/>
                <a:cs typeface="Helvetica Neue"/>
              </a:defRPr>
            </a:pPr>
            <a:r>
              <a:rPr sz="803">
                <a:solidFill>
                  <a:srgbClr val="50636B"/>
                </a:solidFill>
                <a:latin typeface="Helvetica Neue"/>
                <a:ea typeface="Helvetica Neue"/>
                <a:cs typeface="Helvetica Neue"/>
              </a:rPr>
              <a:t>Interpretation: data is usable, but follow-up status and financial fields need validation before final recommendations.</a:t>
            </a:r>
          </a:p>
        </p:txBody>
      </p:sp>
      <p:sp>
        <p:nvSpPr>
          <p:cNvPr id="11" name="">
            <a:extLst xmlns:a="http://schemas.openxmlformats.org/drawingml/2006/main">
              <a:ext uri="{FF2B5EF4-FFF2-40B4-BE49-F238E27FC236}">
                <a16:creationId xmlns:a16="http://schemas.microsoft.com/office/drawing/2014/main" id="{CE428306-5EC9-408E-BAB8-08CB472513B5}"/>
              </a:ext>
            </a:extLst>
          </p:cNvPr>
          <p:cNvSpPr>
            <a:spLocks xmlns:a="http://schemas.openxmlformats.org/drawingml/2006/main" noGrp="1"/>
          </p:cNvSpPr>
          <p:nvPr/>
        </p:nvSpPr>
        <p:spPr>
          <a:xfrm xmlns:a="http://schemas.openxmlformats.org/drawingml/2006/main">
            <a:off x="4629150" y="30099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High-risk trend by segment</a:t>
            </a:r>
          </a:p>
        </p:txBody>
      </p:sp>
      <p:graphicFrame>
        <p:nvGraphicFramePr>
          <p:cNvPr id="32" name="Chart"/>
          <p:cNvGraphicFramePr/>
          <p:nvPr/>
        </p:nvGraphicFramePr>
        <p:xfrm>
          <a:off xmlns:a="http://schemas.openxmlformats.org/drawingml/2006/main" x="4629150" y="3352800"/>
          <a:ext xmlns:a="http://schemas.openxmlformats.org/drawingml/2006/main" cx="3905250" cy="1924050"/>
        </p:xfrm>
        <a:graphic xmlns:a="http://schemas.openxmlformats.org/drawingml/2006/main">
          <a:graphicData uri="http://schemas.openxmlformats.org/drawingml/2006/chart">
            <c:chart xmlns:r="http://schemas.openxmlformats.org/officeDocument/2006/relationships" xmlns:c="http://schemas.openxmlformats.org/drawingml/2006/chart" r:id="Rcd094564a20d409a"/>
          </a:graphicData>
        </a:graphic>
      </p:graphicFrame>
      <p:sp>
        <p:nvSpPr>
          <p:cNvPr id="13" name="">
            <a:extLst xmlns:a="http://schemas.openxmlformats.org/drawingml/2006/main">
              <a:ext uri="{FF2B5EF4-FFF2-40B4-BE49-F238E27FC236}">
                <a16:creationId xmlns:a16="http://schemas.microsoft.com/office/drawing/2014/main" id="{53AE3BAE-B9B4-413C-8AE1-11B983C99058}"/>
              </a:ext>
            </a:extLst>
          </p:cNvPr>
          <p:cNvSpPr>
            <a:spLocks xmlns:a="http://schemas.openxmlformats.org/drawingml/2006/main" noGrp="1"/>
          </p:cNvSpPr>
          <p:nvPr/>
        </p:nvSpPr>
        <p:spPr>
          <a:xfrm xmlns:a="http://schemas.openxmlformats.org/drawingml/2006/main">
            <a:off x="4629150" y="5391150"/>
            <a:ext cx="3905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803">
                <a:solidFill>
                  <a:srgbClr val="50636B"/>
                </a:solidFill>
                <a:latin typeface="Helvetica Neue"/>
                <a:ea typeface="Helvetica Neue"/>
                <a:cs typeface="Helvetica Neue"/>
              </a:defRPr>
            </a:pPr>
            <a:r>
              <a:rPr sz="803">
                <a:solidFill>
                  <a:srgbClr val="50636B"/>
                </a:solidFill>
                <a:latin typeface="Helvetica Neue"/>
                <a:ea typeface="Helvetica Neue"/>
                <a:cs typeface="Helvetica Neue"/>
              </a:rPr>
              <a:t>These segments show where readmission risk concentrates before modeling.</a:t>
            </a:r>
          </a:p>
        </p:txBody>
      </p:sp>
      <p:sp>
        <p:nvSpPr>
          <p:cNvPr id="14" name="">
            <a:extLst xmlns:a="http://schemas.openxmlformats.org/drawingml/2006/main">
              <a:ext uri="{FF2B5EF4-FFF2-40B4-BE49-F238E27FC236}">
                <a16:creationId xmlns:a16="http://schemas.microsoft.com/office/drawing/2014/main" id="{5C42A6B2-DB5D-4D78-9162-EE2FCA32B2A8}"/>
              </a:ext>
            </a:extLst>
          </p:cNvPr>
          <p:cNvSpPr>
            <a:spLocks xmlns:a="http://schemas.openxmlformats.org/drawingml/2006/main" noGrp="1"/>
          </p:cNvSpPr>
          <p:nvPr/>
        </p:nvSpPr>
        <p:spPr>
          <a:xfrm xmlns:a="http://schemas.openxmlformats.org/drawingml/2006/main">
            <a:off x="8915400" y="300990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Correlation signals</a:t>
            </a:r>
          </a:p>
        </p:txBody>
      </p:sp>
      <p:graphicFrame>
        <p:nvGraphicFramePr>
          <p:cNvPr id="35" name="Chart"/>
          <p:cNvGraphicFramePr/>
          <p:nvPr/>
        </p:nvGraphicFramePr>
        <p:xfrm>
          <a:off xmlns:a="http://schemas.openxmlformats.org/drawingml/2006/main" x="8858250" y="3352800"/>
          <a:ext xmlns:a="http://schemas.openxmlformats.org/drawingml/2006/main" cx="1943100" cy="1257300"/>
        </p:xfrm>
        <a:graphic xmlns:a="http://schemas.openxmlformats.org/drawingml/2006/main">
          <a:graphicData uri="http://schemas.openxmlformats.org/drawingml/2006/chart">
            <c:chart xmlns:r="http://schemas.openxmlformats.org/officeDocument/2006/relationships" xmlns:c="http://schemas.openxmlformats.org/drawingml/2006/chart" r:id="Rd276613a7b99405a"/>
          </a:graphicData>
        </a:graphic>
      </p:graphicFrame>
      <p:sp>
        <p:nvSpPr>
          <p:cNvPr id="16" name="">
            <a:extLst xmlns:a="http://schemas.openxmlformats.org/drawingml/2006/main">
              <a:ext uri="{FF2B5EF4-FFF2-40B4-BE49-F238E27FC236}">
                <a16:creationId xmlns:a16="http://schemas.microsoft.com/office/drawing/2014/main" id="{DE278F89-0C81-44A3-9E7E-93D89928A935}"/>
              </a:ext>
            </a:extLst>
          </p:cNvPr>
          <p:cNvSpPr>
            <a:spLocks xmlns:a="http://schemas.openxmlformats.org/drawingml/2006/main" noGrp="1"/>
          </p:cNvSpPr>
          <p:nvPr/>
        </p:nvSpPr>
        <p:spPr>
          <a:xfrm xmlns:a="http://schemas.openxmlformats.org/drawingml/2006/main">
            <a:off x="8915400" y="4810125"/>
            <a:ext cx="19526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5000"/>
              </a:lnSpc>
              <a:buNone/>
              <a:defRPr sz="788">
                <a:solidFill>
                  <a:srgbClr val="50636B"/>
                </a:solidFill>
                <a:latin typeface="Helvetica Neue"/>
                <a:ea typeface="Helvetica Neue"/>
                <a:cs typeface="Helvetica Neue"/>
              </a:defRPr>
            </a:pPr>
            <a:r>
              <a:rPr sz="788">
                <a:solidFill>
                  <a:srgbClr val="50636B"/>
                </a:solidFill>
                <a:latin typeface="Helvetica Neue"/>
                <a:ea typeface="Helvetica Neue"/>
                <a:cs typeface="Helvetica Neue"/>
              </a:rPr>
              <a:t>Prior admissions and chronic burden show the strongest early relationship with readmission.</a:t>
            </a:r>
          </a:p>
        </p:txBody>
      </p:sp>
      <p:sp>
        <p:nvSpPr>
          <p:cNvPr id="17" name="">
            <a:extLst xmlns:a="http://schemas.openxmlformats.org/drawingml/2006/main">
              <a:ext uri="{FF2B5EF4-FFF2-40B4-BE49-F238E27FC236}">
                <a16:creationId xmlns:a16="http://schemas.microsoft.com/office/drawing/2014/main" id="{ED6B5336-8658-488D-BD7D-2F5B33F95132}"/>
              </a:ext>
            </a:extLst>
          </p:cNvPr>
          <p:cNvSpPr>
            <a:spLocks xmlns:a="http://schemas.openxmlformats.org/drawingml/2006/main" noGrp="1"/>
          </p:cNvSpPr>
          <p:nvPr/>
        </p:nvSpPr>
        <p:spPr>
          <a:xfrm xmlns:a="http://schemas.openxmlformats.org/drawingml/2006/main">
            <a:off x="514350" y="5800725"/>
            <a:ext cx="10287000" cy="14288"/>
          </a:xfrm>
          <a:prstGeom xmlns:a="http://schemas.openxmlformats.org/drawingml/2006/main" prst="rect">
            <a:avLst/>
          </a:prstGeom>
          <a:solidFill xmlns:a="http://schemas.openxmlformats.org/drawingml/2006/main">
            <a:srgbClr val="D1E1E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D2B291C-CB48-479B-B381-93A8BA222395}"/>
              </a:ext>
            </a:extLst>
          </p:cNvPr>
          <p:cNvSpPr>
            <a:spLocks xmlns:a="http://schemas.openxmlformats.org/drawingml/2006/main" noGrp="1"/>
          </p:cNvSpPr>
          <p:nvPr/>
        </p:nvSpPr>
        <p:spPr>
          <a:xfrm xmlns:a="http://schemas.openxmlformats.org/drawingml/2006/main">
            <a:off x="514350" y="601980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200" b="1">
                <a:solidFill>
                  <a:srgbClr val="102A34"/>
                </a:solidFill>
                <a:latin typeface="Helvetica Neue"/>
                <a:ea typeface="Helvetica Neue"/>
                <a:cs typeface="Helvetica Neue"/>
              </a:defRPr>
            </a:pPr>
            <a:r>
              <a:rPr sz="1200" b="1">
                <a:solidFill>
                  <a:srgbClr val="102A34"/>
                </a:solidFill>
                <a:latin typeface="Helvetica Neue"/>
                <a:ea typeface="Helvetica Neue"/>
                <a:cs typeface="Helvetica Neue"/>
              </a:rPr>
              <a:t>Analytical implication</a:t>
            </a:r>
          </a:p>
        </p:txBody>
      </p:sp>
      <p:sp>
        <p:nvSpPr>
          <p:cNvPr id="19" name="">
            <a:extLst xmlns:a="http://schemas.openxmlformats.org/drawingml/2006/main">
              <a:ext uri="{FF2B5EF4-FFF2-40B4-BE49-F238E27FC236}">
                <a16:creationId xmlns:a16="http://schemas.microsoft.com/office/drawing/2014/main" id="{6E9E404C-2026-4B70-BDD0-0648FB87FAAD}"/>
              </a:ext>
            </a:extLst>
          </p:cNvPr>
          <p:cNvSpPr>
            <a:spLocks xmlns:a="http://schemas.openxmlformats.org/drawingml/2006/main" noGrp="1"/>
          </p:cNvSpPr>
          <p:nvPr/>
        </p:nvSpPr>
        <p:spPr>
          <a:xfrm xmlns:a="http://schemas.openxmlformats.org/drawingml/2006/main">
            <a:off x="2533650" y="60388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915">
                <a:solidFill>
                  <a:srgbClr val="253B44"/>
                </a:solidFill>
                <a:latin typeface="Helvetica Neue"/>
                <a:ea typeface="Helvetica Neue"/>
                <a:cs typeface="Helvetica Neue"/>
              </a:defRPr>
            </a:pPr>
            <a:r>
              <a:rPr sz="915">
                <a:solidFill>
                  <a:srgbClr val="253B44"/>
                </a:solidFill>
                <a:latin typeface="Helvetica Neue"/>
                <a:ea typeface="Helvetica Neue"/>
                <a:cs typeface="Helvetica Neue"/>
              </a:rPr>
              <a:t>Focus the next analysis on patient risk profiles and care-transition gaps, while treating financial estimates as validation-sensitive.</a:t>
            </a:r>
          </a:p>
        </p:txBody>
      </p:sp>
      <p:sp>
        <p:nvSpPr>
          <p:cNvPr id="20" name="">
            <a:extLst xmlns:a="http://schemas.openxmlformats.org/drawingml/2006/main">
              <a:ext uri="{FF2B5EF4-FFF2-40B4-BE49-F238E27FC236}">
                <a16:creationId xmlns:a16="http://schemas.microsoft.com/office/drawing/2014/main" id="{AFB96C95-DF0F-46F4-9A20-DA4674B33A43}"/>
              </a:ext>
            </a:extLst>
          </p:cNvPr>
          <p:cNvSpPr>
            <a:spLocks xmlns:a="http://schemas.openxmlformats.org/drawingml/2006/main" noGrp="1"/>
          </p:cNvSpPr>
          <p:nvPr/>
        </p:nvSpPr>
        <p:spPr>
          <a:xfrm xmlns:a="http://schemas.openxmlformats.org/drawingml/2006/main">
            <a:off x="514350" y="65722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750">
                <a:solidFill>
                  <a:srgbClr val="667A82"/>
                </a:solidFill>
                <a:latin typeface="Helvetica Neue"/>
                <a:ea typeface="Helvetica Neue"/>
                <a:cs typeface="Helvetica Neue"/>
              </a:defRPr>
            </a:pPr>
            <a:r>
              <a:rPr sz="750">
                <a:solidFill>
                  <a:srgbClr val="667A82"/>
                </a:solidFill>
                <a:latin typeface="Helvetica Neue"/>
                <a:ea typeface="Helvetica Neue"/>
                <a:cs typeface="Helvetica Neue"/>
              </a:rPr>
              <a:t>Source: cleaned NHN patient, financial, and care coordination datasets; clinical segment analysis</a:t>
            </a:r>
          </a:p>
        </p:txBody>
      </p:sp>
    </p:spTree>
    <p:extLst>
      <p:ext uri="{BB962C8B-B14F-4D97-AF65-F5344CB8AC3E}">
        <p14:creationId xmlns:p14="http://schemas.microsoft.com/office/powerpoint/2010/main" val="1990438380"/>
      </p:ext>
    </p:extLst>
  </p:cSld>
</p:sld>
</file>

<file path=ppt/slides/slide3.xml><?xml version="1.0" encoding="utf-8"?>
<p:sld xmlns:p="http://schemas.openxmlformats.org/presentationml/2006/main">
  <p:cSld>
    <p:bg>
      <p:bgPr>
        <a:solidFill xmlns:a="http://schemas.openxmlformats.org/drawingml/2006/main">
          <a:srgbClr val="F8FBFC"/>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F82FB901-EDFE-49BD-AC7E-B0A9EF87DFAF}"/>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0F4C5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C736904-BC1E-4E63-AD38-5C588E1C6164}"/>
              </a:ext>
            </a:extLst>
          </p:cNvPr>
          <p:cNvSpPr>
            <a:spLocks xmlns:a="http://schemas.openxmlformats.org/drawingml/2006/main" noGrp="1"/>
          </p:cNvSpPr>
          <p:nvPr/>
        </p:nvSpPr>
        <p:spPr>
          <a:xfrm xmlns:a="http://schemas.openxmlformats.org/drawingml/2006/main">
            <a:off x="514350" y="3619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275" b="1">
                <a:solidFill>
                  <a:srgbClr val="0F6F73"/>
                </a:solidFill>
                <a:latin typeface="Helvetica Neue"/>
                <a:ea typeface="Helvetica Neue"/>
                <a:cs typeface="Helvetica Neue"/>
              </a:defRPr>
            </a:pPr>
            <a:r>
              <a:rPr sz="1275" b="1">
                <a:solidFill>
                  <a:srgbClr val="0F6F73"/>
                </a:solidFill>
                <a:latin typeface="Helvetica Neue"/>
                <a:ea typeface="Helvetica Neue"/>
                <a:cs typeface="Helvetica Neue"/>
              </a:rPr>
              <a:t>Meds Counsulting LLC</a:t>
            </a:r>
          </a:p>
        </p:txBody>
      </p:sp>
      <p:sp>
        <p:nvSpPr>
          <p:cNvPr id="3" name="">
            <a:extLst xmlns:a="http://schemas.openxmlformats.org/drawingml/2006/main">
              <a:ext uri="{FF2B5EF4-FFF2-40B4-BE49-F238E27FC236}">
                <a16:creationId xmlns:a16="http://schemas.microsoft.com/office/drawing/2014/main" id="{E8A8D4F3-74D4-4400-B8FF-DB7851B6CA31}"/>
              </a:ext>
            </a:extLst>
          </p:cNvPr>
          <p:cNvSpPr>
            <a:spLocks xmlns:a="http://schemas.openxmlformats.org/drawingml/2006/main" noGrp="1"/>
          </p:cNvSpPr>
          <p:nvPr/>
        </p:nvSpPr>
        <p:spPr>
          <a:xfrm xmlns:a="http://schemas.openxmlformats.org/drawingml/2006/main">
            <a:off x="514350" y="723900"/>
            <a:ext cx="819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2700" b="1">
                <a:solidFill>
                  <a:srgbClr val="102A34"/>
                </a:solidFill>
                <a:latin typeface="Helvetica Neue"/>
                <a:ea typeface="Helvetica Neue"/>
                <a:cs typeface="Helvetica Neue"/>
              </a:defRPr>
            </a:pPr>
            <a:r>
              <a:rPr sz="2700" b="1">
                <a:solidFill>
                  <a:srgbClr val="102A34"/>
                </a:solidFill>
                <a:latin typeface="Helvetica Neue"/>
                <a:ea typeface="Helvetica Neue"/>
                <a:cs typeface="Helvetica Neue"/>
              </a:rPr>
              <a:t>Analytical approach</a:t>
            </a:r>
          </a:p>
        </p:txBody>
      </p:sp>
      <p:sp>
        <p:nvSpPr>
          <p:cNvPr id="4" name="">
            <a:extLst xmlns:a="http://schemas.openxmlformats.org/drawingml/2006/main">
              <a:ext uri="{FF2B5EF4-FFF2-40B4-BE49-F238E27FC236}">
                <a16:creationId xmlns:a16="http://schemas.microsoft.com/office/drawing/2014/main" id="{42F3AD27-9B89-4469-A4F5-423C79285F01}"/>
              </a:ext>
            </a:extLst>
          </p:cNvPr>
          <p:cNvSpPr>
            <a:spLocks xmlns:a="http://schemas.openxmlformats.org/drawingml/2006/main" noGrp="1"/>
          </p:cNvSpPr>
          <p:nvPr/>
        </p:nvSpPr>
        <p:spPr>
          <a:xfrm xmlns:a="http://schemas.openxmlformats.org/drawingml/2006/main">
            <a:off x="514350" y="1162050"/>
            <a:ext cx="809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088">
                <a:solidFill>
                  <a:srgbClr val="50636B"/>
                </a:solidFill>
                <a:latin typeface="Helvetica Neue"/>
                <a:ea typeface="Helvetica Neue"/>
                <a:cs typeface="Helvetica Neue"/>
              </a:defRPr>
            </a:pPr>
            <a:r>
              <a:rPr sz="1088">
                <a:solidFill>
                  <a:srgbClr val="50636B"/>
                </a:solidFill>
                <a:latin typeface="Helvetica Neue"/>
                <a:ea typeface="Helvetica Neue"/>
                <a:cs typeface="Helvetica Neue"/>
              </a:rPr>
              <a:t>Methods chosen to connect risk drivers with business decisions</a:t>
            </a:r>
          </a:p>
        </p:txBody>
      </p:sp>
      <p:sp>
        <p:nvSpPr>
          <p:cNvPr id="5" name="">
            <a:extLst xmlns:a="http://schemas.openxmlformats.org/drawingml/2006/main">
              <a:ext uri="{FF2B5EF4-FFF2-40B4-BE49-F238E27FC236}">
                <a16:creationId xmlns:a16="http://schemas.microsoft.com/office/drawing/2014/main" id="{568FEDEF-215A-4874-95BF-4A9CA2260A34}"/>
              </a:ext>
            </a:extLst>
          </p:cNvPr>
          <p:cNvSpPr>
            <a:spLocks xmlns:a="http://schemas.openxmlformats.org/drawingml/2006/main" noGrp="1"/>
          </p:cNvSpPr>
          <p:nvPr/>
        </p:nvSpPr>
        <p:spPr>
          <a:xfrm xmlns:a="http://schemas.openxmlformats.org/drawingml/2006/main">
            <a:off x="514350" y="1466850"/>
            <a:ext cx="10287000" cy="28575"/>
          </a:xfrm>
          <a:prstGeom xmlns:a="http://schemas.openxmlformats.org/drawingml/2006/main" prst="rect">
            <a:avLst/>
          </a:prstGeom>
          <a:solidFill xmlns:a="http://schemas.openxmlformats.org/drawingml/2006/main">
            <a:srgbClr val="E9A93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2BA9839-ADE7-46E3-A8A0-65C67667948D}"/>
              </a:ext>
            </a:extLst>
          </p:cNvPr>
          <p:cNvSpPr>
            <a:spLocks xmlns:a="http://schemas.openxmlformats.org/drawingml/2006/main" noGrp="1"/>
          </p:cNvSpPr>
          <p:nvPr/>
        </p:nvSpPr>
        <p:spPr>
          <a:xfrm xmlns:a="http://schemas.openxmlformats.org/drawingml/2006/main">
            <a:off x="514350" y="1743075"/>
            <a:ext cx="5048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Why this approach fits the NHN problem</a:t>
            </a:r>
          </a:p>
        </p:txBody>
      </p:sp>
      <p:sp>
        <p:nvSpPr>
          <p:cNvPr id="7" name="">
            <a:extLst xmlns:a="http://schemas.openxmlformats.org/drawingml/2006/main">
              <a:ext uri="{FF2B5EF4-FFF2-40B4-BE49-F238E27FC236}">
                <a16:creationId xmlns:a16="http://schemas.microsoft.com/office/drawing/2014/main" id="{DB240333-B84A-44C6-BBD6-430DFB29A117}"/>
              </a:ext>
            </a:extLst>
          </p:cNvPr>
          <p:cNvSpPr>
            <a:spLocks xmlns:a="http://schemas.openxmlformats.org/drawingml/2006/main" noGrp="1"/>
          </p:cNvSpPr>
          <p:nvPr/>
        </p:nvSpPr>
        <p:spPr>
          <a:xfrm xmlns:a="http://schemas.openxmlformats.org/drawingml/2006/main">
            <a:off x="514350" y="2095500"/>
            <a:ext cx="538162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5000"/>
              </a:lnSpc>
              <a:buNone/>
              <a:defRPr sz="953">
                <a:solidFill>
                  <a:srgbClr val="253B44"/>
                </a:solidFill>
                <a:latin typeface="Helvetica Neue"/>
                <a:ea typeface="Helvetica Neue"/>
                <a:cs typeface="Helvetica Neue"/>
              </a:defRPr>
            </a:pPr>
            <a:r>
              <a:rPr sz="953">
                <a:solidFill>
                  <a:srgbClr val="253B44"/>
                </a:solidFill>
                <a:latin typeface="Helvetica Neue"/>
                <a:ea typeface="Helvetica Neue"/>
                <a:cs typeface="Helvetica Neue"/>
              </a:rPr>
              <a:t>Readmissions combine clinical risk, utilization history, discharge setting, care-transition activity, and financial exposure. The approach needs to explain drivers, group patients into action pools, and compare business value across scenarios.</a:t>
            </a:r>
          </a:p>
        </p:txBody>
      </p:sp>
      <p:sp>
        <p:nvSpPr>
          <p:cNvPr id="8" name="">
            <a:extLst xmlns:a="http://schemas.openxmlformats.org/drawingml/2006/main">
              <a:ext uri="{FF2B5EF4-FFF2-40B4-BE49-F238E27FC236}">
                <a16:creationId xmlns:a16="http://schemas.microsoft.com/office/drawing/2014/main" id="{DA54F51C-8AD2-46D0-881E-53E01D16943D}"/>
              </a:ext>
            </a:extLst>
          </p:cNvPr>
          <p:cNvSpPr>
            <a:spLocks xmlns:a="http://schemas.openxmlformats.org/drawingml/2006/main" noGrp="1"/>
          </p:cNvSpPr>
          <p:nvPr/>
        </p:nvSpPr>
        <p:spPr>
          <a:xfrm xmlns:a="http://schemas.openxmlformats.org/drawingml/2006/main">
            <a:off x="6534150" y="1743075"/>
            <a:ext cx="4191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Model performance evidence</a:t>
            </a:r>
          </a:p>
        </p:txBody>
      </p:sp>
      <p:graphicFrame>
        <p:nvGraphicFramePr>
          <p:cNvPr id="36" name="Chart"/>
          <p:cNvGraphicFramePr/>
          <p:nvPr/>
        </p:nvGraphicFramePr>
        <p:xfrm>
          <a:off xmlns:a="http://schemas.openxmlformats.org/drawingml/2006/main" x="6515100" y="2095500"/>
          <a:ext xmlns:a="http://schemas.openxmlformats.org/drawingml/2006/main" cx="4286250" cy="1352550"/>
        </p:xfrm>
        <a:graphic xmlns:a="http://schemas.openxmlformats.org/drawingml/2006/main">
          <a:graphicData uri="http://schemas.openxmlformats.org/drawingml/2006/chart">
            <c:chart xmlns:r="http://schemas.openxmlformats.org/officeDocument/2006/relationships" xmlns:c="http://schemas.openxmlformats.org/drawingml/2006/chart" r:id="R245aa5ae02df443f"/>
          </a:graphicData>
        </a:graphic>
      </p:graphicFrame>
      <p:sp>
        <p:nvSpPr>
          <p:cNvPr id="10" name="">
            <a:extLst xmlns:a="http://schemas.openxmlformats.org/drawingml/2006/main">
              <a:ext uri="{FF2B5EF4-FFF2-40B4-BE49-F238E27FC236}">
                <a16:creationId xmlns:a16="http://schemas.microsoft.com/office/drawing/2014/main" id="{551ED51A-28A9-4D7A-8510-9006C8E891E1}"/>
              </a:ext>
            </a:extLst>
          </p:cNvPr>
          <p:cNvSpPr>
            <a:spLocks xmlns:a="http://schemas.openxmlformats.org/drawingml/2006/main" noGrp="1"/>
          </p:cNvSpPr>
          <p:nvPr/>
        </p:nvSpPr>
        <p:spPr>
          <a:xfrm xmlns:a="http://schemas.openxmlformats.org/drawingml/2006/main">
            <a:off x="6534150" y="3505200"/>
            <a:ext cx="41433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5000"/>
              </a:lnSpc>
              <a:buNone/>
              <a:defRPr sz="803">
                <a:solidFill>
                  <a:srgbClr val="50636B"/>
                </a:solidFill>
                <a:latin typeface="Helvetica Neue"/>
                <a:ea typeface="Helvetica Neue"/>
                <a:cs typeface="Helvetica Neue"/>
              </a:defRPr>
            </a:pPr>
            <a:r>
              <a:rPr sz="803">
                <a:solidFill>
                  <a:srgbClr val="50636B"/>
                </a:solidFill>
                <a:latin typeface="Helvetica Neue"/>
                <a:ea typeface="Helvetica Neue"/>
                <a:cs typeface="Helvetica Neue"/>
              </a:rPr>
              <a:t>Expanded model improves ROC-AUC to 0.74, giving a stronger basis for risk-tier decisions.</a:t>
            </a:r>
          </a:p>
        </p:txBody>
      </p:sp>
      <p:sp>
        <p:nvSpPr>
          <p:cNvPr id="11" name="">
            <a:extLst xmlns:a="http://schemas.openxmlformats.org/drawingml/2006/main">
              <a:ext uri="{FF2B5EF4-FFF2-40B4-BE49-F238E27FC236}">
                <a16:creationId xmlns:a16="http://schemas.microsoft.com/office/drawing/2014/main" id="{3CD2AA5C-AEE9-433F-A3D4-D2C7D18CD4AB}"/>
              </a:ext>
            </a:extLst>
          </p:cNvPr>
          <p:cNvSpPr>
            <a:spLocks xmlns:a="http://schemas.openxmlformats.org/drawingml/2006/main" noGrp="1"/>
          </p:cNvSpPr>
          <p:nvPr/>
        </p:nvSpPr>
        <p:spPr>
          <a:xfrm xmlns:a="http://schemas.openxmlformats.org/drawingml/2006/main">
            <a:off x="514350" y="3943350"/>
            <a:ext cx="10287000" cy="14288"/>
          </a:xfrm>
          <a:prstGeom xmlns:a="http://schemas.openxmlformats.org/drawingml/2006/main" prst="rect">
            <a:avLst/>
          </a:prstGeom>
          <a:solidFill xmlns:a="http://schemas.openxmlformats.org/drawingml/2006/main">
            <a:srgbClr val="D1E1E5"/>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72C00FC-9D88-432E-86DC-20AAF3ABAB86}"/>
              </a:ext>
            </a:extLst>
          </p:cNvPr>
          <p:cNvSpPr>
            <a:spLocks xmlns:a="http://schemas.openxmlformats.org/drawingml/2006/main" noGrp="1"/>
          </p:cNvSpPr>
          <p:nvPr/>
        </p:nvSpPr>
        <p:spPr>
          <a:xfrm xmlns:a="http://schemas.openxmlformats.org/drawingml/2006/main">
            <a:off x="514350" y="4229100"/>
            <a:ext cx="2914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388" b="1">
                <a:solidFill>
                  <a:srgbClr val="102A34"/>
                </a:solidFill>
                <a:latin typeface="Helvetica Neue"/>
                <a:ea typeface="Helvetica Neue"/>
                <a:cs typeface="Helvetica Neue"/>
              </a:defRPr>
            </a:pPr>
            <a:r>
              <a:rPr sz="1388" b="1">
                <a:solidFill>
                  <a:srgbClr val="102A34"/>
                </a:solidFill>
                <a:latin typeface="Helvetica Neue"/>
                <a:ea typeface="Helvetica Neue"/>
                <a:cs typeface="Helvetica Neue"/>
              </a:rPr>
              <a:t>Regression analysis</a:t>
            </a:r>
          </a:p>
        </p:txBody>
      </p:sp>
      <p:sp>
        <p:nvSpPr>
          <p:cNvPr id="13" name="">
            <a:extLst xmlns:a="http://schemas.openxmlformats.org/drawingml/2006/main">
              <a:ext uri="{FF2B5EF4-FFF2-40B4-BE49-F238E27FC236}">
                <a16:creationId xmlns:a16="http://schemas.microsoft.com/office/drawing/2014/main" id="{90147ABA-D9E8-447E-A324-F57472B31894}"/>
              </a:ext>
            </a:extLst>
          </p:cNvPr>
          <p:cNvSpPr>
            <a:spLocks xmlns:a="http://schemas.openxmlformats.org/drawingml/2006/main" noGrp="1"/>
          </p:cNvSpPr>
          <p:nvPr/>
        </p:nvSpPr>
        <p:spPr>
          <a:xfrm xmlns:a="http://schemas.openxmlformats.org/drawingml/2006/main">
            <a:off x="514350" y="4524375"/>
            <a:ext cx="29146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907" b="1">
                <a:solidFill>
                  <a:srgbClr val="0F6F73"/>
                </a:solidFill>
                <a:latin typeface="Helvetica Neue"/>
                <a:ea typeface="Helvetica Neue"/>
                <a:cs typeface="Helvetica Neue"/>
              </a:defRPr>
            </a:pPr>
            <a:r>
              <a:rPr sz="907" b="1">
                <a:solidFill>
                  <a:srgbClr val="0F6F73"/>
                </a:solidFill>
                <a:latin typeface="Helvetica Neue"/>
                <a:ea typeface="Helvetica Neue"/>
                <a:cs typeface="Helvetica Neue"/>
              </a:rPr>
              <a:t>Quantify risk drivers</a:t>
            </a:r>
          </a:p>
        </p:txBody>
      </p:sp>
      <p:sp>
        <p:nvSpPr>
          <p:cNvPr id="14" name="">
            <a:extLst xmlns:a="http://schemas.openxmlformats.org/drawingml/2006/main">
              <a:ext uri="{FF2B5EF4-FFF2-40B4-BE49-F238E27FC236}">
                <a16:creationId xmlns:a16="http://schemas.microsoft.com/office/drawing/2014/main" id="{E0518B7C-6CE7-4DF9-8E1A-A00AEC86FDBD}"/>
              </a:ext>
            </a:extLst>
          </p:cNvPr>
          <p:cNvSpPr>
            <a:spLocks xmlns:a="http://schemas.openxmlformats.org/drawingml/2006/main" noGrp="1"/>
          </p:cNvSpPr>
          <p:nvPr/>
        </p:nvSpPr>
        <p:spPr>
          <a:xfrm xmlns:a="http://schemas.openxmlformats.org/drawingml/2006/main">
            <a:off x="514350" y="4838700"/>
            <a:ext cx="29146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marL="139700" indent="-63500">
              <a:lnSpc>
                <a:spcPct val="103000"/>
              </a:lnSpc>
              <a:spcAft>
                <a:spcPts val="300"/>
              </a:spcAft>
              <a:buNone/>
              <a:defRPr sz="757">
                <a:solidFill>
                  <a:srgbClr val="253B44"/>
                </a:solidFill>
                <a:latin typeface="Helvetica Neue"/>
                <a:ea typeface="Helvetica Neue"/>
                <a:cs typeface="Helvetica Neue"/>
              </a:defRPr>
            </a:pPr>
            <a:r>
              <a:rPr sz="757">
                <a:solidFill>
                  <a:srgbClr val="253B44"/>
                </a:solidFill>
                <a:latin typeface="Helvetica Neue"/>
                <a:ea typeface="Helvetica Neue"/>
                <a:cs typeface="Helvetica Neue"/>
              </a:rPr>
              <a:t>Model readmission likelihood using clinical, utilization, discharge, and follow-up variables</a:t>
            </a:r>
          </a:p>
          <a:p xmlns:a="http://schemas.openxmlformats.org/drawingml/2006/main">
            <a:pPr marL="139700" indent="-63500">
              <a:lnSpc>
                <a:spcPct val="103000"/>
              </a:lnSpc>
              <a:spcAft>
                <a:spcPts val="300"/>
              </a:spcAft>
              <a:buNone/>
              <a:defRPr sz="757">
                <a:solidFill>
                  <a:srgbClr val="253B44"/>
                </a:solidFill>
                <a:latin typeface="Helvetica Neue"/>
                <a:ea typeface="Helvetica Neue"/>
                <a:cs typeface="Helvetica Neue"/>
              </a:defRPr>
            </a:pPr>
            <a:r>
              <a:rPr sz="757">
                <a:solidFill>
                  <a:srgbClr val="253B44"/>
                </a:solidFill>
                <a:latin typeface="Helvetica Neue"/>
                <a:ea typeface="Helvetica Neue"/>
                <a:cs typeface="Helvetica Neue"/>
              </a:rPr>
              <a:t>Control for overlap across risk factors</a:t>
            </a:r>
          </a:p>
          <a:p xmlns:a="http://schemas.openxmlformats.org/drawingml/2006/main">
            <a:pPr marL="139700" indent="-63500">
              <a:lnSpc>
                <a:spcPct val="103000"/>
              </a:lnSpc>
              <a:spcAft>
                <a:spcPts val="300"/>
              </a:spcAft>
              <a:buNone/>
              <a:defRPr sz="757">
                <a:solidFill>
                  <a:srgbClr val="253B44"/>
                </a:solidFill>
                <a:latin typeface="Helvetica Neue"/>
                <a:ea typeface="Helvetica Neue"/>
                <a:cs typeface="Helvetica Neue"/>
              </a:defRPr>
            </a:pPr>
            <a:r>
              <a:rPr sz="757">
                <a:solidFill>
                  <a:srgbClr val="253B44"/>
                </a:solidFill>
                <a:latin typeface="Helvetica Neue"/>
                <a:ea typeface="Helvetica Neue"/>
                <a:cs typeface="Helvetica Neue"/>
              </a:rPr>
              <a:t>Turn model output into explainable indicators</a:t>
            </a:r>
          </a:p>
        </p:txBody>
      </p:sp>
      <p:sp>
        <p:nvSpPr>
          <p:cNvPr id="15" name="">
            <a:extLst xmlns:a="http://schemas.openxmlformats.org/drawingml/2006/main">
              <a:ext uri="{FF2B5EF4-FFF2-40B4-BE49-F238E27FC236}">
                <a16:creationId xmlns:a16="http://schemas.microsoft.com/office/drawing/2014/main" id="{9EA5B34B-8F5E-4AE9-8ECA-290D98A585CD}"/>
              </a:ext>
            </a:extLst>
          </p:cNvPr>
          <p:cNvSpPr>
            <a:spLocks xmlns:a="http://schemas.openxmlformats.org/drawingml/2006/main" noGrp="1"/>
          </p:cNvSpPr>
          <p:nvPr/>
        </p:nvSpPr>
        <p:spPr>
          <a:xfrm xmlns:a="http://schemas.openxmlformats.org/drawingml/2006/main">
            <a:off x="514350" y="5772150"/>
            <a:ext cx="29146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4000"/>
              </a:lnSpc>
              <a:buNone/>
              <a:defRPr sz="757">
                <a:solidFill>
                  <a:srgbClr val="50636B"/>
                </a:solidFill>
                <a:latin typeface="Helvetica Neue"/>
                <a:ea typeface="Helvetica Neue"/>
                <a:cs typeface="Helvetica Neue"/>
              </a:defRPr>
            </a:pPr>
            <a:r>
              <a:rPr sz="757">
                <a:solidFill>
                  <a:srgbClr val="50636B"/>
                </a:solidFill>
                <a:latin typeface="Helvetica Neue"/>
                <a:ea typeface="Helvetica Neue"/>
                <a:cs typeface="Helvetica Neue"/>
              </a:rPr>
              <a:t>Example output: odds ratios, feature importance, predicted risk</a:t>
            </a:r>
          </a:p>
        </p:txBody>
      </p:sp>
      <p:sp>
        <p:nvSpPr>
          <p:cNvPr id="16" name="">
            <a:extLst xmlns:a="http://schemas.openxmlformats.org/drawingml/2006/main">
              <a:ext uri="{FF2B5EF4-FFF2-40B4-BE49-F238E27FC236}">
                <a16:creationId xmlns:a16="http://schemas.microsoft.com/office/drawing/2014/main" id="{3914B36D-59D6-440A-B9AF-3485FA226216}"/>
              </a:ext>
            </a:extLst>
          </p:cNvPr>
          <p:cNvSpPr>
            <a:spLocks xmlns:a="http://schemas.openxmlformats.org/drawingml/2006/main" noGrp="1"/>
          </p:cNvSpPr>
          <p:nvPr/>
        </p:nvSpPr>
        <p:spPr>
          <a:xfrm xmlns:a="http://schemas.openxmlformats.org/drawingml/2006/main">
            <a:off x="4286250" y="4229100"/>
            <a:ext cx="2914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388" b="1">
                <a:solidFill>
                  <a:srgbClr val="102A34"/>
                </a:solidFill>
                <a:latin typeface="Helvetica Neue"/>
                <a:ea typeface="Helvetica Neue"/>
                <a:cs typeface="Helvetica Neue"/>
              </a:defRPr>
            </a:pPr>
            <a:r>
              <a:rPr sz="1388" b="1">
                <a:solidFill>
                  <a:srgbClr val="102A34"/>
                </a:solidFill>
                <a:latin typeface="Helvetica Neue"/>
                <a:ea typeface="Helvetica Neue"/>
                <a:cs typeface="Helvetica Neue"/>
              </a:rPr>
              <a:t>Customer segmentation</a:t>
            </a:r>
          </a:p>
        </p:txBody>
      </p:sp>
      <p:sp>
        <p:nvSpPr>
          <p:cNvPr id="17" name="">
            <a:extLst xmlns:a="http://schemas.openxmlformats.org/drawingml/2006/main">
              <a:ext uri="{FF2B5EF4-FFF2-40B4-BE49-F238E27FC236}">
                <a16:creationId xmlns:a16="http://schemas.microsoft.com/office/drawing/2014/main" id="{0369827B-B173-4A5C-806B-4A63D4552BF0}"/>
              </a:ext>
            </a:extLst>
          </p:cNvPr>
          <p:cNvSpPr>
            <a:spLocks xmlns:a="http://schemas.openxmlformats.org/drawingml/2006/main" noGrp="1"/>
          </p:cNvSpPr>
          <p:nvPr/>
        </p:nvSpPr>
        <p:spPr>
          <a:xfrm xmlns:a="http://schemas.openxmlformats.org/drawingml/2006/main">
            <a:off x="4286250" y="4524375"/>
            <a:ext cx="29146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907" b="1">
                <a:solidFill>
                  <a:srgbClr val="0F6F73"/>
                </a:solidFill>
                <a:latin typeface="Helvetica Neue"/>
                <a:ea typeface="Helvetica Neue"/>
                <a:cs typeface="Helvetica Neue"/>
              </a:defRPr>
            </a:pPr>
            <a:r>
              <a:rPr sz="907" b="1">
                <a:solidFill>
                  <a:srgbClr val="0F6F73"/>
                </a:solidFill>
                <a:latin typeface="Helvetica Neue"/>
                <a:ea typeface="Helvetica Neue"/>
                <a:cs typeface="Helvetica Neue"/>
              </a:rPr>
              <a:t>Group patients into action pools</a:t>
            </a:r>
          </a:p>
        </p:txBody>
      </p:sp>
      <p:sp>
        <p:nvSpPr>
          <p:cNvPr id="18" name="">
            <a:extLst xmlns:a="http://schemas.openxmlformats.org/drawingml/2006/main">
              <a:ext uri="{FF2B5EF4-FFF2-40B4-BE49-F238E27FC236}">
                <a16:creationId xmlns:a16="http://schemas.microsoft.com/office/drawing/2014/main" id="{7E3DD76F-B37A-4E33-BAB9-29DC98C5CA7A}"/>
              </a:ext>
            </a:extLst>
          </p:cNvPr>
          <p:cNvSpPr>
            <a:spLocks xmlns:a="http://schemas.openxmlformats.org/drawingml/2006/main" noGrp="1"/>
          </p:cNvSpPr>
          <p:nvPr/>
        </p:nvSpPr>
        <p:spPr>
          <a:xfrm xmlns:a="http://schemas.openxmlformats.org/drawingml/2006/main">
            <a:off x="4286250" y="4838700"/>
            <a:ext cx="29146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marL="139700" indent="-63500">
              <a:lnSpc>
                <a:spcPct val="103000"/>
              </a:lnSpc>
              <a:spcAft>
                <a:spcPts val="300"/>
              </a:spcAft>
              <a:buNone/>
              <a:defRPr sz="757">
                <a:solidFill>
                  <a:srgbClr val="253B44"/>
                </a:solidFill>
                <a:latin typeface="Helvetica Neue"/>
                <a:ea typeface="Helvetica Neue"/>
                <a:cs typeface="Helvetica Neue"/>
              </a:defRPr>
            </a:pPr>
            <a:r>
              <a:rPr sz="757">
                <a:solidFill>
                  <a:srgbClr val="253B44"/>
                </a:solidFill>
                <a:latin typeface="Helvetica Neue"/>
                <a:ea typeface="Helvetica Neue"/>
                <a:cs typeface="Helvetica Neue"/>
              </a:rPr>
              <a:t>Create segments by chronic burden, prior admissions, discharge setting, and follow-up status</a:t>
            </a:r>
          </a:p>
          <a:p xmlns:a="http://schemas.openxmlformats.org/drawingml/2006/main">
            <a:pPr marL="139700" indent="-63500">
              <a:lnSpc>
                <a:spcPct val="103000"/>
              </a:lnSpc>
              <a:spcAft>
                <a:spcPts val="300"/>
              </a:spcAft>
              <a:buNone/>
              <a:defRPr sz="757">
                <a:solidFill>
                  <a:srgbClr val="253B44"/>
                </a:solidFill>
                <a:latin typeface="Helvetica Neue"/>
                <a:ea typeface="Helvetica Neue"/>
                <a:cs typeface="Helvetica Neue"/>
              </a:defRPr>
            </a:pPr>
            <a:r>
              <a:rPr sz="757">
                <a:solidFill>
                  <a:srgbClr val="253B44"/>
                </a:solidFill>
                <a:latin typeface="Helvetica Neue"/>
                <a:ea typeface="Helvetica Neue"/>
                <a:cs typeface="Helvetica Neue"/>
              </a:rPr>
              <a:t>Compare readmission rates and cost exposure across segments</a:t>
            </a:r>
          </a:p>
          <a:p xmlns:a="http://schemas.openxmlformats.org/drawingml/2006/main">
            <a:pPr marL="139700" indent="-63500">
              <a:lnSpc>
                <a:spcPct val="103000"/>
              </a:lnSpc>
              <a:spcAft>
                <a:spcPts val="300"/>
              </a:spcAft>
              <a:buNone/>
              <a:defRPr sz="757">
                <a:solidFill>
                  <a:srgbClr val="253B44"/>
                </a:solidFill>
                <a:latin typeface="Helvetica Neue"/>
                <a:ea typeface="Helvetica Neue"/>
                <a:cs typeface="Helvetica Neue"/>
              </a:defRPr>
            </a:pPr>
            <a:r>
              <a:rPr sz="757">
                <a:solidFill>
                  <a:srgbClr val="253B44"/>
                </a:solidFill>
                <a:latin typeface="Helvetica Neue"/>
                <a:ea typeface="Helvetica Neue"/>
                <a:cs typeface="Helvetica Neue"/>
              </a:rPr>
              <a:t>Prioritize care coordination for the highest-risk groups</a:t>
            </a:r>
          </a:p>
        </p:txBody>
      </p:sp>
      <p:sp>
        <p:nvSpPr>
          <p:cNvPr id="19" name="">
            <a:extLst xmlns:a="http://schemas.openxmlformats.org/drawingml/2006/main">
              <a:ext uri="{FF2B5EF4-FFF2-40B4-BE49-F238E27FC236}">
                <a16:creationId xmlns:a16="http://schemas.microsoft.com/office/drawing/2014/main" id="{AC97C2E5-4D8E-4BBD-9A0A-A3927DA4E83C}"/>
              </a:ext>
            </a:extLst>
          </p:cNvPr>
          <p:cNvSpPr>
            <a:spLocks xmlns:a="http://schemas.openxmlformats.org/drawingml/2006/main" noGrp="1"/>
          </p:cNvSpPr>
          <p:nvPr/>
        </p:nvSpPr>
        <p:spPr>
          <a:xfrm xmlns:a="http://schemas.openxmlformats.org/drawingml/2006/main">
            <a:off x="4286250" y="5772150"/>
            <a:ext cx="29146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4000"/>
              </a:lnSpc>
              <a:buNone/>
              <a:defRPr sz="757">
                <a:solidFill>
                  <a:srgbClr val="50636B"/>
                </a:solidFill>
                <a:latin typeface="Helvetica Neue"/>
                <a:ea typeface="Helvetica Neue"/>
                <a:cs typeface="Helvetica Neue"/>
              </a:defRPr>
            </a:pPr>
            <a:r>
              <a:rPr sz="757">
                <a:solidFill>
                  <a:srgbClr val="50636B"/>
                </a:solidFill>
                <a:latin typeface="Helvetica Neue"/>
                <a:ea typeface="Helvetica Neue"/>
                <a:cs typeface="Helvetica Neue"/>
              </a:rPr>
              <a:t>Example output: risk tiers and intervention priority list</a:t>
            </a:r>
          </a:p>
        </p:txBody>
      </p:sp>
      <p:sp>
        <p:nvSpPr>
          <p:cNvPr id="20" name="">
            <a:extLst xmlns:a="http://schemas.openxmlformats.org/drawingml/2006/main">
              <a:ext uri="{FF2B5EF4-FFF2-40B4-BE49-F238E27FC236}">
                <a16:creationId xmlns:a16="http://schemas.microsoft.com/office/drawing/2014/main" id="{789D9F5B-862C-40C6-90FB-47859954EA9A}"/>
              </a:ext>
            </a:extLst>
          </p:cNvPr>
          <p:cNvSpPr>
            <a:spLocks xmlns:a="http://schemas.openxmlformats.org/drawingml/2006/main" noGrp="1"/>
          </p:cNvSpPr>
          <p:nvPr/>
        </p:nvSpPr>
        <p:spPr>
          <a:xfrm xmlns:a="http://schemas.openxmlformats.org/drawingml/2006/main">
            <a:off x="8058150" y="4229100"/>
            <a:ext cx="2914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388" b="1">
                <a:solidFill>
                  <a:srgbClr val="102A34"/>
                </a:solidFill>
                <a:latin typeface="Helvetica Neue"/>
                <a:ea typeface="Helvetica Neue"/>
                <a:cs typeface="Helvetica Neue"/>
              </a:defRPr>
            </a:pPr>
            <a:r>
              <a:rPr sz="1388" b="1">
                <a:solidFill>
                  <a:srgbClr val="102A34"/>
                </a:solidFill>
                <a:latin typeface="Helvetica Neue"/>
                <a:ea typeface="Helvetica Neue"/>
                <a:cs typeface="Helvetica Neue"/>
              </a:rPr>
              <a:t>Market basic analysis</a:t>
            </a:r>
          </a:p>
        </p:txBody>
      </p:sp>
      <p:sp>
        <p:nvSpPr>
          <p:cNvPr id="21" name="">
            <a:extLst xmlns:a="http://schemas.openxmlformats.org/drawingml/2006/main">
              <a:ext uri="{FF2B5EF4-FFF2-40B4-BE49-F238E27FC236}">
                <a16:creationId xmlns:a16="http://schemas.microsoft.com/office/drawing/2014/main" id="{BCB435D4-31E8-489B-928D-C6BD3356E50D}"/>
              </a:ext>
            </a:extLst>
          </p:cNvPr>
          <p:cNvSpPr>
            <a:spLocks xmlns:a="http://schemas.openxmlformats.org/drawingml/2006/main" noGrp="1"/>
          </p:cNvSpPr>
          <p:nvPr/>
        </p:nvSpPr>
        <p:spPr>
          <a:xfrm xmlns:a="http://schemas.openxmlformats.org/drawingml/2006/main">
            <a:off x="8058150" y="4524375"/>
            <a:ext cx="29146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907" b="1">
                <a:solidFill>
                  <a:srgbClr val="0F6F73"/>
                </a:solidFill>
                <a:latin typeface="Helvetica Neue"/>
                <a:ea typeface="Helvetica Neue"/>
                <a:cs typeface="Helvetica Neue"/>
              </a:defRPr>
            </a:pPr>
            <a:r>
              <a:rPr sz="907" b="1">
                <a:solidFill>
                  <a:srgbClr val="0F6F73"/>
                </a:solidFill>
                <a:latin typeface="Helvetica Neue"/>
                <a:ea typeface="Helvetica Neue"/>
                <a:cs typeface="Helvetica Neue"/>
              </a:rPr>
              <a:t>Place results in context</a:t>
            </a:r>
          </a:p>
        </p:txBody>
      </p:sp>
      <p:sp>
        <p:nvSpPr>
          <p:cNvPr id="22" name="">
            <a:extLst xmlns:a="http://schemas.openxmlformats.org/drawingml/2006/main">
              <a:ext uri="{FF2B5EF4-FFF2-40B4-BE49-F238E27FC236}">
                <a16:creationId xmlns:a16="http://schemas.microsoft.com/office/drawing/2014/main" id="{30D3382D-AE19-4B18-A475-BDF394D6A43A}"/>
              </a:ext>
            </a:extLst>
          </p:cNvPr>
          <p:cNvSpPr>
            <a:spLocks xmlns:a="http://schemas.openxmlformats.org/drawingml/2006/main" noGrp="1"/>
          </p:cNvSpPr>
          <p:nvPr/>
        </p:nvSpPr>
        <p:spPr>
          <a:xfrm xmlns:a="http://schemas.openxmlformats.org/drawingml/2006/main">
            <a:off x="8058150" y="4838700"/>
            <a:ext cx="29146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marL="139700" indent="-63500">
              <a:lnSpc>
                <a:spcPct val="103000"/>
              </a:lnSpc>
              <a:spcAft>
                <a:spcPts val="300"/>
              </a:spcAft>
              <a:buNone/>
              <a:defRPr sz="757">
                <a:solidFill>
                  <a:srgbClr val="253B44"/>
                </a:solidFill>
                <a:latin typeface="Helvetica Neue"/>
                <a:ea typeface="Helvetica Neue"/>
                <a:cs typeface="Helvetica Neue"/>
              </a:defRPr>
            </a:pPr>
            <a:r>
              <a:rPr sz="757">
                <a:solidFill>
                  <a:srgbClr val="253B44"/>
                </a:solidFill>
                <a:latin typeface="Helvetica Neue"/>
                <a:ea typeface="Helvetica Neue"/>
                <a:cs typeface="Helvetica Neue"/>
              </a:rPr>
              <a:t>Compare NHN patterns across service lines and discharge types</a:t>
            </a:r>
          </a:p>
          <a:p xmlns:a="http://schemas.openxmlformats.org/drawingml/2006/main">
            <a:pPr marL="139700" indent="-63500">
              <a:lnSpc>
                <a:spcPct val="103000"/>
              </a:lnSpc>
              <a:spcAft>
                <a:spcPts val="300"/>
              </a:spcAft>
              <a:buNone/>
              <a:defRPr sz="757">
                <a:solidFill>
                  <a:srgbClr val="253B44"/>
                </a:solidFill>
                <a:latin typeface="Helvetica Neue"/>
                <a:ea typeface="Helvetica Neue"/>
                <a:cs typeface="Helvetica Neue"/>
              </a:defRPr>
            </a:pPr>
            <a:r>
              <a:rPr sz="757">
                <a:solidFill>
                  <a:srgbClr val="253B44"/>
                </a:solidFill>
                <a:latin typeface="Helvetica Neue"/>
                <a:ea typeface="Helvetica Neue"/>
                <a:cs typeface="Helvetica Neue"/>
              </a:rPr>
              <a:t>Separate broad readmission pressure from segment-specific gaps</a:t>
            </a:r>
          </a:p>
          <a:p xmlns:a="http://schemas.openxmlformats.org/drawingml/2006/main">
            <a:pPr marL="139700" indent="-63500">
              <a:lnSpc>
                <a:spcPct val="103000"/>
              </a:lnSpc>
              <a:spcAft>
                <a:spcPts val="300"/>
              </a:spcAft>
              <a:buNone/>
              <a:defRPr sz="757">
                <a:solidFill>
                  <a:srgbClr val="253B44"/>
                </a:solidFill>
                <a:latin typeface="Helvetica Neue"/>
                <a:ea typeface="Helvetica Neue"/>
                <a:cs typeface="Helvetica Neue"/>
              </a:defRPr>
            </a:pPr>
            <a:r>
              <a:rPr sz="757">
                <a:solidFill>
                  <a:srgbClr val="253B44"/>
                </a:solidFill>
                <a:latin typeface="Helvetica Neue"/>
                <a:ea typeface="Helvetica Neue"/>
                <a:cs typeface="Helvetica Neue"/>
              </a:rPr>
              <a:t>Connect trend patterns to financial scenarios</a:t>
            </a:r>
          </a:p>
        </p:txBody>
      </p:sp>
      <p:sp>
        <p:nvSpPr>
          <p:cNvPr id="23" name="">
            <a:extLst xmlns:a="http://schemas.openxmlformats.org/drawingml/2006/main">
              <a:ext uri="{FF2B5EF4-FFF2-40B4-BE49-F238E27FC236}">
                <a16:creationId xmlns:a16="http://schemas.microsoft.com/office/drawing/2014/main" id="{76AE44BE-AAC9-42C8-9668-73F0BC33EA70}"/>
              </a:ext>
            </a:extLst>
          </p:cNvPr>
          <p:cNvSpPr>
            <a:spLocks xmlns:a="http://schemas.openxmlformats.org/drawingml/2006/main" noGrp="1"/>
          </p:cNvSpPr>
          <p:nvPr/>
        </p:nvSpPr>
        <p:spPr>
          <a:xfrm xmlns:a="http://schemas.openxmlformats.org/drawingml/2006/main">
            <a:off x="8058150" y="5772150"/>
            <a:ext cx="29146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4000"/>
              </a:lnSpc>
              <a:buNone/>
              <a:defRPr sz="757">
                <a:solidFill>
                  <a:srgbClr val="50636B"/>
                </a:solidFill>
                <a:latin typeface="Helvetica Neue"/>
                <a:ea typeface="Helvetica Neue"/>
                <a:cs typeface="Helvetica Neue"/>
              </a:defRPr>
            </a:pPr>
            <a:r>
              <a:rPr sz="757">
                <a:solidFill>
                  <a:srgbClr val="50636B"/>
                </a:solidFill>
                <a:latin typeface="Helvetica Neue"/>
                <a:ea typeface="Helvetica Neue"/>
                <a:cs typeface="Helvetica Neue"/>
              </a:rPr>
              <a:t>Example output: benchmark table, trend summary, ROI scenarios</a:t>
            </a:r>
          </a:p>
        </p:txBody>
      </p:sp>
      <p:sp>
        <p:nvSpPr>
          <p:cNvPr id="24" name="">
            <a:extLst xmlns:a="http://schemas.openxmlformats.org/drawingml/2006/main">
              <a:ext uri="{FF2B5EF4-FFF2-40B4-BE49-F238E27FC236}">
                <a16:creationId xmlns:a16="http://schemas.microsoft.com/office/drawing/2014/main" id="{91BA5935-7C24-4152-ADBF-097BDC50B47C}"/>
              </a:ext>
            </a:extLst>
          </p:cNvPr>
          <p:cNvSpPr>
            <a:spLocks xmlns:a="http://schemas.openxmlformats.org/drawingml/2006/main" noGrp="1"/>
          </p:cNvSpPr>
          <p:nvPr/>
        </p:nvSpPr>
        <p:spPr>
          <a:xfrm xmlns:a="http://schemas.openxmlformats.org/drawingml/2006/main">
            <a:off x="514350" y="6153150"/>
            <a:ext cx="10287000" cy="14288"/>
          </a:xfrm>
          <a:prstGeom xmlns:a="http://schemas.openxmlformats.org/drawingml/2006/main" prst="rect">
            <a:avLst/>
          </a:prstGeom>
          <a:solidFill xmlns:a="http://schemas.openxmlformats.org/drawingml/2006/main">
            <a:srgbClr val="D1E1E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EC4E0C64-CD65-4107-8908-21CF8198861A}"/>
              </a:ext>
            </a:extLst>
          </p:cNvPr>
          <p:cNvSpPr>
            <a:spLocks xmlns:a="http://schemas.openxmlformats.org/drawingml/2006/main" noGrp="1"/>
          </p:cNvSpPr>
          <p:nvPr/>
        </p:nvSpPr>
        <p:spPr>
          <a:xfrm xmlns:a="http://schemas.openxmlformats.org/drawingml/2006/main">
            <a:off x="514350" y="63436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163" b="1">
                <a:solidFill>
                  <a:srgbClr val="102A34"/>
                </a:solidFill>
                <a:latin typeface="Helvetica Neue"/>
                <a:ea typeface="Helvetica Neue"/>
                <a:cs typeface="Helvetica Neue"/>
              </a:defRPr>
            </a:pPr>
            <a:r>
              <a:rPr sz="1163" b="1">
                <a:solidFill>
                  <a:srgbClr val="102A34"/>
                </a:solidFill>
                <a:latin typeface="Helvetica Neue"/>
                <a:ea typeface="Helvetica Neue"/>
                <a:cs typeface="Helvetica Neue"/>
              </a:rPr>
              <a:t>Decision standard</a:t>
            </a:r>
          </a:p>
        </p:txBody>
      </p:sp>
      <p:sp>
        <p:nvSpPr>
          <p:cNvPr id="26" name="">
            <a:extLst xmlns:a="http://schemas.openxmlformats.org/drawingml/2006/main">
              <a:ext uri="{FF2B5EF4-FFF2-40B4-BE49-F238E27FC236}">
                <a16:creationId xmlns:a16="http://schemas.microsoft.com/office/drawing/2014/main" id="{72C80FB7-128C-4602-A89A-751A0E7A9F67}"/>
              </a:ext>
            </a:extLst>
          </p:cNvPr>
          <p:cNvSpPr>
            <a:spLocks xmlns:a="http://schemas.openxmlformats.org/drawingml/2006/main" noGrp="1"/>
          </p:cNvSpPr>
          <p:nvPr/>
        </p:nvSpPr>
        <p:spPr>
          <a:xfrm xmlns:a="http://schemas.openxmlformats.org/drawingml/2006/main">
            <a:off x="2228850" y="6362700"/>
            <a:ext cx="752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900">
                <a:solidFill>
                  <a:srgbClr val="253B44"/>
                </a:solidFill>
                <a:latin typeface="Helvetica Neue"/>
                <a:ea typeface="Helvetica Neue"/>
                <a:cs typeface="Helvetica Neue"/>
              </a:defRPr>
            </a:pPr>
            <a:r>
              <a:rPr sz="900">
                <a:solidFill>
                  <a:srgbClr val="253B44"/>
                </a:solidFill>
                <a:latin typeface="Helvetica Neue"/>
                <a:ea typeface="Helvetica Neue"/>
                <a:cs typeface="Helvetica Neue"/>
              </a:rPr>
              <a:t>Prioritize actions that are statistically supported, clinically explainable, operationally feasible, and financially material.</a:t>
            </a:r>
          </a:p>
        </p:txBody>
      </p:sp>
      <p:sp>
        <p:nvSpPr>
          <p:cNvPr id="27" name="">
            <a:extLst xmlns:a="http://schemas.openxmlformats.org/drawingml/2006/main">
              <a:ext uri="{FF2B5EF4-FFF2-40B4-BE49-F238E27FC236}">
                <a16:creationId xmlns:a16="http://schemas.microsoft.com/office/drawing/2014/main" id="{11473622-116B-4966-9E12-FA4810BFE9D7}"/>
              </a:ext>
            </a:extLst>
          </p:cNvPr>
          <p:cNvSpPr>
            <a:spLocks xmlns:a="http://schemas.openxmlformats.org/drawingml/2006/main" noGrp="1"/>
          </p:cNvSpPr>
          <p:nvPr/>
        </p:nvSpPr>
        <p:spPr>
          <a:xfrm xmlns:a="http://schemas.openxmlformats.org/drawingml/2006/main">
            <a:off x="514350" y="65722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750">
                <a:solidFill>
                  <a:srgbClr val="667A82"/>
                </a:solidFill>
                <a:latin typeface="Helvetica Neue"/>
                <a:ea typeface="Helvetica Neue"/>
                <a:cs typeface="Helvetica Neue"/>
              </a:defRPr>
            </a:pPr>
            <a:r>
              <a:rPr sz="750">
                <a:solidFill>
                  <a:srgbClr val="667A82"/>
                </a:solidFill>
                <a:latin typeface="Helvetica Neue"/>
                <a:ea typeface="Helvetica Neue"/>
                <a:cs typeface="Helvetica Neue"/>
              </a:rPr>
              <a:t>Source: NHN cleaned datasets, model metrics, and project charter analytical requirements</a:t>
            </a:r>
          </a:p>
        </p:txBody>
      </p:sp>
    </p:spTree>
    <p:extLst>
      <p:ext uri="{BB962C8B-B14F-4D97-AF65-F5344CB8AC3E}">
        <p14:creationId xmlns:p14="http://schemas.microsoft.com/office/powerpoint/2010/main" val="1419618753"/>
      </p:ext>
    </p:extLst>
  </p:cSld>
</p:sld>
</file>

<file path=ppt/slides/slide4.xml><?xml version="1.0" encoding="utf-8"?>
<p:sld xmlns:p="http://schemas.openxmlformats.org/presentationml/2006/main">
  <p:cSld>
    <p:bg>
      <p:bgPr>
        <a:solidFill xmlns:a="http://schemas.openxmlformats.org/drawingml/2006/main">
          <a:srgbClr val="F8FBF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C25A798-3771-4638-89F8-17091B246AB2}"/>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0F4C5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95FDFAA-A7B9-40CA-8AFD-B4376EE92CDC}"/>
              </a:ext>
            </a:extLst>
          </p:cNvPr>
          <p:cNvSpPr>
            <a:spLocks xmlns:a="http://schemas.openxmlformats.org/drawingml/2006/main" noGrp="1"/>
          </p:cNvSpPr>
          <p:nvPr/>
        </p:nvSpPr>
        <p:spPr>
          <a:xfrm xmlns:a="http://schemas.openxmlformats.org/drawingml/2006/main">
            <a:off x="514350" y="3619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275" b="1">
                <a:solidFill>
                  <a:srgbClr val="0F6F73"/>
                </a:solidFill>
                <a:latin typeface="Helvetica Neue"/>
                <a:ea typeface="Helvetica Neue"/>
                <a:cs typeface="Helvetica Neue"/>
              </a:defRPr>
            </a:pPr>
            <a:r>
              <a:rPr sz="1275" b="1">
                <a:solidFill>
                  <a:srgbClr val="0F6F73"/>
                </a:solidFill>
                <a:latin typeface="Helvetica Neue"/>
                <a:ea typeface="Helvetica Neue"/>
                <a:cs typeface="Helvetica Neue"/>
              </a:rPr>
              <a:t>Meds Counsulting LLC</a:t>
            </a:r>
          </a:p>
        </p:txBody>
      </p:sp>
      <p:sp>
        <p:nvSpPr>
          <p:cNvPr id="3" name="">
            <a:extLst xmlns:a="http://schemas.openxmlformats.org/drawingml/2006/main">
              <a:ext uri="{FF2B5EF4-FFF2-40B4-BE49-F238E27FC236}">
                <a16:creationId xmlns:a16="http://schemas.microsoft.com/office/drawing/2014/main" id="{1F74C329-C232-4D39-A7B4-386630AC687D}"/>
              </a:ext>
            </a:extLst>
          </p:cNvPr>
          <p:cNvSpPr>
            <a:spLocks xmlns:a="http://schemas.openxmlformats.org/drawingml/2006/main" noGrp="1"/>
          </p:cNvSpPr>
          <p:nvPr/>
        </p:nvSpPr>
        <p:spPr>
          <a:xfrm xmlns:a="http://schemas.openxmlformats.org/drawingml/2006/main">
            <a:off x="514350" y="723900"/>
            <a:ext cx="819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2700" b="1">
                <a:solidFill>
                  <a:srgbClr val="102A34"/>
                </a:solidFill>
                <a:latin typeface="Helvetica Neue"/>
                <a:ea typeface="Helvetica Neue"/>
                <a:cs typeface="Helvetica Neue"/>
              </a:defRPr>
            </a:pPr>
            <a:r>
              <a:rPr sz="2700" b="1">
                <a:solidFill>
                  <a:srgbClr val="102A34"/>
                </a:solidFill>
                <a:latin typeface="Helvetica Neue"/>
                <a:ea typeface="Helvetica Neue"/>
                <a:cs typeface="Helvetica Neue"/>
              </a:rPr>
              <a:t>Business insights</a:t>
            </a:r>
          </a:p>
        </p:txBody>
      </p:sp>
      <p:sp>
        <p:nvSpPr>
          <p:cNvPr id="4" name="">
            <a:extLst xmlns:a="http://schemas.openxmlformats.org/drawingml/2006/main">
              <a:ext uri="{FF2B5EF4-FFF2-40B4-BE49-F238E27FC236}">
                <a16:creationId xmlns:a16="http://schemas.microsoft.com/office/drawing/2014/main" id="{9B6E1582-D73E-4FFE-8DDF-09333EDBE1DB}"/>
              </a:ext>
            </a:extLst>
          </p:cNvPr>
          <p:cNvSpPr>
            <a:spLocks xmlns:a="http://schemas.openxmlformats.org/drawingml/2006/main" noGrp="1"/>
          </p:cNvSpPr>
          <p:nvPr/>
        </p:nvSpPr>
        <p:spPr>
          <a:xfrm xmlns:a="http://schemas.openxmlformats.org/drawingml/2006/main">
            <a:off x="514350" y="1162050"/>
            <a:ext cx="809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088">
                <a:solidFill>
                  <a:srgbClr val="50636B"/>
                </a:solidFill>
                <a:latin typeface="Helvetica Neue"/>
                <a:ea typeface="Helvetica Neue"/>
                <a:cs typeface="Helvetica Neue"/>
              </a:defRPr>
            </a:pPr>
            <a:r>
              <a:rPr sz="1088">
                <a:solidFill>
                  <a:srgbClr val="50636B"/>
                </a:solidFill>
                <a:latin typeface="Helvetica Neue"/>
                <a:ea typeface="Helvetica Neue"/>
                <a:cs typeface="Helvetica Neue"/>
              </a:rPr>
              <a:t>Team-identified evidence and significance for leadership decisions</a:t>
            </a:r>
          </a:p>
        </p:txBody>
      </p:sp>
      <p:sp>
        <p:nvSpPr>
          <p:cNvPr id="5" name="">
            <a:extLst xmlns:a="http://schemas.openxmlformats.org/drawingml/2006/main">
              <a:ext uri="{FF2B5EF4-FFF2-40B4-BE49-F238E27FC236}">
                <a16:creationId xmlns:a16="http://schemas.microsoft.com/office/drawing/2014/main" id="{CEA368E6-A393-41E5-97E2-943E3761C363}"/>
              </a:ext>
            </a:extLst>
          </p:cNvPr>
          <p:cNvSpPr>
            <a:spLocks xmlns:a="http://schemas.openxmlformats.org/drawingml/2006/main" noGrp="1"/>
          </p:cNvSpPr>
          <p:nvPr/>
        </p:nvSpPr>
        <p:spPr>
          <a:xfrm xmlns:a="http://schemas.openxmlformats.org/drawingml/2006/main">
            <a:off x="514350" y="1466850"/>
            <a:ext cx="10287000" cy="28575"/>
          </a:xfrm>
          <a:prstGeom xmlns:a="http://schemas.openxmlformats.org/drawingml/2006/main" prst="rect">
            <a:avLst/>
          </a:prstGeom>
          <a:solidFill xmlns:a="http://schemas.openxmlformats.org/drawingml/2006/main">
            <a:srgbClr val="E9A93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4C830D4-24E5-4B08-A575-EFD043CC0C76}"/>
              </a:ext>
            </a:extLst>
          </p:cNvPr>
          <p:cNvSpPr>
            <a:spLocks xmlns:a="http://schemas.openxmlformats.org/drawingml/2006/main" noGrp="1"/>
          </p:cNvSpPr>
          <p:nvPr/>
        </p:nvSpPr>
        <p:spPr>
          <a:xfrm xmlns:a="http://schemas.openxmlformats.org/drawingml/2006/main">
            <a:off x="514350" y="1743075"/>
            <a:ext cx="400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Readmission risk stratification</a:t>
            </a:r>
          </a:p>
        </p:txBody>
      </p:sp>
      <p:graphicFrame>
        <p:nvGraphicFramePr>
          <p:cNvPr id="25" name="Chart"/>
          <p:cNvGraphicFramePr/>
          <p:nvPr/>
        </p:nvGraphicFramePr>
        <p:xfrm>
          <a:off xmlns:a="http://schemas.openxmlformats.org/drawingml/2006/main" x="514350" y="2095500"/>
          <a:ext xmlns:a="http://schemas.openxmlformats.org/drawingml/2006/main" cx="4724400" cy="1524000"/>
        </p:xfrm>
        <a:graphic xmlns:a="http://schemas.openxmlformats.org/drawingml/2006/main">
          <a:graphicData uri="http://schemas.openxmlformats.org/drawingml/2006/chart">
            <c:chart xmlns:r="http://schemas.openxmlformats.org/officeDocument/2006/relationships" xmlns:c="http://schemas.openxmlformats.org/drawingml/2006/chart" r:id="R4426ab9da4634f83"/>
          </a:graphicData>
        </a:graphic>
      </p:graphicFrame>
      <p:sp>
        <p:nvSpPr>
          <p:cNvPr id="8" name="">
            <a:extLst xmlns:a="http://schemas.openxmlformats.org/drawingml/2006/main">
              <a:ext uri="{FF2B5EF4-FFF2-40B4-BE49-F238E27FC236}">
                <a16:creationId xmlns:a16="http://schemas.microsoft.com/office/drawing/2014/main" id="{65C5CD5A-A4DA-4078-8A17-0E2DEF1040E4}"/>
              </a:ext>
            </a:extLst>
          </p:cNvPr>
          <p:cNvSpPr>
            <a:spLocks xmlns:a="http://schemas.openxmlformats.org/drawingml/2006/main" noGrp="1"/>
          </p:cNvSpPr>
          <p:nvPr/>
        </p:nvSpPr>
        <p:spPr>
          <a:xfrm xmlns:a="http://schemas.openxmlformats.org/drawingml/2006/main">
            <a:off x="514350" y="3695700"/>
            <a:ext cx="4724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4000"/>
              </a:lnSpc>
              <a:buNone/>
              <a:defRPr sz="810">
                <a:solidFill>
                  <a:srgbClr val="50636B"/>
                </a:solidFill>
                <a:latin typeface="Helvetica Neue"/>
                <a:ea typeface="Helvetica Neue"/>
                <a:cs typeface="Helvetica Neue"/>
              </a:defRPr>
            </a:pPr>
            <a:r>
              <a:rPr sz="810">
                <a:solidFill>
                  <a:srgbClr val="50636B"/>
                </a:solidFill>
                <a:latin typeface="Helvetica Neue"/>
                <a:ea typeface="Helvetica Neue"/>
                <a:cs typeface="Helvetica Neue"/>
              </a:rPr>
              <a:t>Risk deciles separate observed readmission rates from 11.8% in D1 to 82.3% in D10.</a:t>
            </a:r>
          </a:p>
        </p:txBody>
      </p:sp>
      <p:sp>
        <p:nvSpPr>
          <p:cNvPr id="9" name="">
            <a:extLst xmlns:a="http://schemas.openxmlformats.org/drawingml/2006/main">
              <a:ext uri="{FF2B5EF4-FFF2-40B4-BE49-F238E27FC236}">
                <a16:creationId xmlns:a16="http://schemas.microsoft.com/office/drawing/2014/main" id="{187D0BFF-462D-4F5E-9B82-863586FF4A32}"/>
              </a:ext>
            </a:extLst>
          </p:cNvPr>
          <p:cNvSpPr>
            <a:spLocks xmlns:a="http://schemas.openxmlformats.org/drawingml/2006/main" noGrp="1"/>
          </p:cNvSpPr>
          <p:nvPr/>
        </p:nvSpPr>
        <p:spPr>
          <a:xfrm xmlns:a="http://schemas.openxmlformats.org/drawingml/2006/main">
            <a:off x="6076950" y="1743075"/>
            <a:ext cx="3619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Business value scenario</a:t>
            </a:r>
          </a:p>
        </p:txBody>
      </p:sp>
      <p:graphicFrame>
        <p:nvGraphicFramePr>
          <p:cNvPr id="28" name=""/>
          <p:cNvGraphicFramePr/>
          <p:nvPr/>
        </p:nvGraphicFramePr>
        <p:xfrm>
          <a:off xmlns:a="http://schemas.openxmlformats.org/drawingml/2006/main" x="6076950" y="2095500"/>
          <a:ext xmlns:a="http://schemas.openxmlformats.org/drawingml/2006/main" cx="4724400" cy="1485900"/>
        </p:xfrm>
        <a:graphic xmlns:a="http://schemas.openxmlformats.org/drawingml/2006/main">
          <a:graphicData uri="http://schemas.openxmlformats.org/drawingml/2006/table">
            <a:tbl>
              <a:tblPr/>
              <a:tblGrid>
                <a:gridCol w="1352550"/>
                <a:gridCol w="1047750"/>
                <a:gridCol w="1162050"/>
                <a:gridCol w="1162050"/>
              </a:tblGrid>
              <a:tr h="371475">
                <a:tc>
                  <a:txBody>
                    <a:bodyPr lIns="66675" tIns="28575" rIns="57150" bIns="28575">
                      <a:noAutofit/>
                    </a:bodyPr>
                    <a:lstStyle/>
                    <a:p>
                      <a:pPr algn="l"/>
                      <a:r>
                        <a:rPr sz="713" b="1">
                          <a:solidFill>
                            <a:srgbClr val="FFFFFF"/>
                          </a:solidFill>
                          <a:latin typeface="Helvetica Neue"/>
                          <a:ea typeface="Helvetica Neue"/>
                          <a:cs typeface="Helvetica Neue"/>
                        </a:rPr>
                        <a:t>Scenario</a:t>
                      </a:r>
                    </a:p>
                  </a:txBody>
                  <a:tcPr marL="91440" marR="91440" marT="45720" marB="45720" anchor="ctr">
                    <a:solidFill>
                      <a:srgbClr val="0F4C5C"/>
                    </a:solidFill>
                  </a:tcPr>
                </a:tc>
                <a:tc>
                  <a:txBody>
                    <a:bodyPr lIns="66675" tIns="28575" rIns="57150" bIns="28575">
                      <a:noAutofit/>
                    </a:bodyPr>
                    <a:lstStyle/>
                    <a:p>
                      <a:pPr algn="ctr"/>
                      <a:r>
                        <a:rPr sz="713" b="1">
                          <a:solidFill>
                            <a:srgbClr val="FFFFFF"/>
                          </a:solidFill>
                          <a:latin typeface="Helvetica Neue"/>
                          <a:ea typeface="Helvetica Neue"/>
                          <a:cs typeface="Helvetica Neue"/>
                        </a:rPr>
                        <a:t>Reduction</a:t>
                      </a:r>
                    </a:p>
                  </a:txBody>
                  <a:tcPr marL="91440" marR="91440" marT="45720" marB="45720" anchor="ctr">
                    <a:solidFill>
                      <a:srgbClr val="0F4C5C"/>
                    </a:solidFill>
                  </a:tcPr>
                </a:tc>
                <a:tc>
                  <a:txBody>
                    <a:bodyPr lIns="66675" tIns="28575" rIns="57150" bIns="28575">
                      <a:noAutofit/>
                    </a:bodyPr>
                    <a:lstStyle/>
                    <a:p>
                      <a:pPr algn="ctr"/>
                      <a:r>
                        <a:rPr sz="713" b="1">
                          <a:solidFill>
                            <a:srgbClr val="FFFFFF"/>
                          </a:solidFill>
                          <a:latin typeface="Helvetica Neue"/>
                          <a:ea typeface="Helvetica Neue"/>
                          <a:cs typeface="Helvetica Neue"/>
                        </a:rPr>
                        <a:t>Net savings</a:t>
                      </a:r>
                    </a:p>
                  </a:txBody>
                  <a:tcPr marL="91440" marR="91440" marT="45720" marB="45720" anchor="ctr">
                    <a:solidFill>
                      <a:srgbClr val="0F4C5C"/>
                    </a:solidFill>
                  </a:tcPr>
                </a:tc>
                <a:tc>
                  <a:txBody>
                    <a:bodyPr lIns="66675" tIns="28575" rIns="57150" bIns="28575">
                      <a:noAutofit/>
                    </a:bodyPr>
                    <a:lstStyle/>
                    <a:p>
                      <a:pPr algn="ctr"/>
                      <a:r>
                        <a:rPr sz="713" b="1">
                          <a:solidFill>
                            <a:srgbClr val="FFFFFF"/>
                          </a:solidFill>
                          <a:latin typeface="Helvetica Neue"/>
                          <a:ea typeface="Helvetica Neue"/>
                          <a:cs typeface="Helvetica Neue"/>
                        </a:rPr>
                        <a:t>ROI</a:t>
                      </a:r>
                    </a:p>
                  </a:txBody>
                  <a:tcPr marL="91440" marR="91440" marT="45720" marB="45720" anchor="ctr">
                    <a:solidFill>
                      <a:srgbClr val="0F4C5C"/>
                    </a:solidFill>
                  </a:tcPr>
                </a:tc>
              </a:tr>
              <a:tr h="371475">
                <a:tc>
                  <a:txBody>
                    <a:bodyPr lIns="66675" tIns="28575" rIns="57150" bIns="28575">
                      <a:noAutofit/>
                    </a:bodyPr>
                    <a:lstStyle/>
                    <a:p>
                      <a:pPr algn="l"/>
                      <a:r>
                        <a:rPr sz="690" b="1">
                          <a:solidFill>
                            <a:srgbClr val="253B44"/>
                          </a:solidFill>
                          <a:latin typeface="Helvetica Neue"/>
                          <a:ea typeface="Helvetica Neue"/>
                          <a:cs typeface="Helvetica Neue"/>
                        </a:rPr>
                        <a:t>Conservative</a:t>
                      </a:r>
                    </a:p>
                  </a:txBody>
                  <a:tcPr marL="91440" marR="91440" marT="45720" marB="45720" anchor="ctr">
                    <a:solidFill>
                      <a:srgbClr val="EEF6F7"/>
                    </a:solidFill>
                  </a:tcPr>
                </a:tc>
                <a:tc>
                  <a:txBody>
                    <a:bodyPr lIns="66675" tIns="28575" rIns="57150" bIns="28575">
                      <a:noAutofit/>
                    </a:bodyPr>
                    <a:lstStyle/>
                    <a:p>
                      <a:pPr algn="ctr"/>
                      <a:r>
                        <a:rPr sz="690" b="0">
                          <a:solidFill>
                            <a:srgbClr val="253B44"/>
                          </a:solidFill>
                          <a:latin typeface="Helvetica Neue"/>
                          <a:ea typeface="Helvetica Neue"/>
                          <a:cs typeface="Helvetica Neue"/>
                        </a:rPr>
                        <a:t>5.0%</a:t>
                      </a:r>
                    </a:p>
                  </a:txBody>
                  <a:tcPr marL="91440" marR="91440" marT="45720" marB="45720" anchor="ctr">
                    <a:solidFill>
                      <a:srgbClr val="EEF6F7"/>
                    </a:solidFill>
                  </a:tcPr>
                </a:tc>
                <a:tc>
                  <a:txBody>
                    <a:bodyPr lIns="66675" tIns="28575" rIns="57150" bIns="28575">
                      <a:noAutofit/>
                    </a:bodyPr>
                    <a:lstStyle/>
                    <a:p>
                      <a:pPr algn="ctr"/>
                      <a:r>
                        <a:rPr sz="690" b="0">
                          <a:solidFill>
                            <a:srgbClr val="253B44"/>
                          </a:solidFill>
                          <a:latin typeface="Helvetica Neue"/>
                          <a:ea typeface="Helvetica Neue"/>
                          <a:cs typeface="Helvetica Neue"/>
                        </a:rPr>
                        <a:t>$4.28M</a:t>
                      </a:r>
                    </a:p>
                  </a:txBody>
                  <a:tcPr marL="91440" marR="91440" marT="45720" marB="45720" anchor="ctr">
                    <a:solidFill>
                      <a:srgbClr val="EEF6F7"/>
                    </a:solidFill>
                  </a:tcPr>
                </a:tc>
                <a:tc>
                  <a:txBody>
                    <a:bodyPr lIns="66675" tIns="28575" rIns="57150" bIns="28575">
                      <a:noAutofit/>
                    </a:bodyPr>
                    <a:lstStyle/>
                    <a:p>
                      <a:pPr algn="ctr"/>
                      <a:r>
                        <a:rPr sz="690" b="0">
                          <a:solidFill>
                            <a:srgbClr val="253B44"/>
                          </a:solidFill>
                          <a:latin typeface="Helvetica Neue"/>
                          <a:ea typeface="Helvetica Neue"/>
                          <a:cs typeface="Helvetica Neue"/>
                        </a:rPr>
                        <a:t>4.28x</a:t>
                      </a:r>
                    </a:p>
                  </a:txBody>
                  <a:tcPr marL="91440" marR="91440" marT="45720" marB="45720" anchor="ctr">
                    <a:solidFill>
                      <a:srgbClr val="EEF6F7"/>
                    </a:solidFill>
                  </a:tcPr>
                </a:tc>
              </a:tr>
              <a:tr h="371475">
                <a:tc>
                  <a:txBody>
                    <a:bodyPr lIns="66675" tIns="28575" rIns="57150" bIns="28575">
                      <a:noAutofit/>
                    </a:bodyPr>
                    <a:lstStyle/>
                    <a:p>
                      <a:pPr algn="l"/>
                      <a:r>
                        <a:rPr sz="690" b="1">
                          <a:solidFill>
                            <a:srgbClr val="253B44"/>
                          </a:solidFill>
                          <a:latin typeface="Helvetica Neue"/>
                          <a:ea typeface="Helvetica Neue"/>
                          <a:cs typeface="Helvetica Neue"/>
                        </a:rPr>
                        <a:t>Expected</a:t>
                      </a:r>
                    </a:p>
                  </a:txBody>
                  <a:tcPr marL="91440" marR="91440" marT="45720" marB="45720" anchor="ctr">
                    <a:solidFill>
                      <a:srgbClr val="F8FBFC"/>
                    </a:solidFill>
                  </a:tcPr>
                </a:tc>
                <a:tc>
                  <a:txBody>
                    <a:bodyPr lIns="66675" tIns="28575" rIns="57150" bIns="28575">
                      <a:noAutofit/>
                    </a:bodyPr>
                    <a:lstStyle/>
                    <a:p>
                      <a:pPr algn="ctr"/>
                      <a:r>
                        <a:rPr sz="690" b="0">
                          <a:solidFill>
                            <a:srgbClr val="253B44"/>
                          </a:solidFill>
                          <a:latin typeface="Helvetica Neue"/>
                          <a:ea typeface="Helvetica Neue"/>
                          <a:cs typeface="Helvetica Neue"/>
                        </a:rPr>
                        <a:t>10.0%</a:t>
                      </a:r>
                    </a:p>
                  </a:txBody>
                  <a:tcPr marL="91440" marR="91440" marT="45720" marB="45720" anchor="ctr">
                    <a:solidFill>
                      <a:srgbClr val="F8FBFC"/>
                    </a:solidFill>
                  </a:tcPr>
                </a:tc>
                <a:tc>
                  <a:txBody>
                    <a:bodyPr lIns="66675" tIns="28575" rIns="57150" bIns="28575">
                      <a:noAutofit/>
                    </a:bodyPr>
                    <a:lstStyle/>
                    <a:p>
                      <a:pPr algn="ctr"/>
                      <a:r>
                        <a:rPr sz="690" b="0">
                          <a:solidFill>
                            <a:srgbClr val="253B44"/>
                          </a:solidFill>
                          <a:latin typeface="Helvetica Neue"/>
                          <a:ea typeface="Helvetica Neue"/>
                          <a:cs typeface="Helvetica Neue"/>
                        </a:rPr>
                        <a:t>$8.81M</a:t>
                      </a:r>
                    </a:p>
                  </a:txBody>
                  <a:tcPr marL="91440" marR="91440" marT="45720" marB="45720" anchor="ctr">
                    <a:solidFill>
                      <a:srgbClr val="F8FBFC"/>
                    </a:solidFill>
                  </a:tcPr>
                </a:tc>
                <a:tc>
                  <a:txBody>
                    <a:bodyPr lIns="66675" tIns="28575" rIns="57150" bIns="28575">
                      <a:noAutofit/>
                    </a:bodyPr>
                    <a:lstStyle/>
                    <a:p>
                      <a:pPr algn="ctr"/>
                      <a:r>
                        <a:rPr sz="690" b="0">
                          <a:solidFill>
                            <a:srgbClr val="253B44"/>
                          </a:solidFill>
                          <a:latin typeface="Helvetica Neue"/>
                          <a:ea typeface="Helvetica Neue"/>
                          <a:cs typeface="Helvetica Neue"/>
                        </a:rPr>
                        <a:t>5.03x</a:t>
                      </a:r>
                    </a:p>
                  </a:txBody>
                  <a:tcPr marL="91440" marR="91440" marT="45720" marB="45720" anchor="ctr">
                    <a:solidFill>
                      <a:srgbClr val="F8FBFC"/>
                    </a:solidFill>
                  </a:tcPr>
                </a:tc>
              </a:tr>
              <a:tr h="371475">
                <a:tc>
                  <a:txBody>
                    <a:bodyPr lIns="66675" tIns="28575" rIns="57150" bIns="28575">
                      <a:noAutofit/>
                    </a:bodyPr>
                    <a:lstStyle/>
                    <a:p>
                      <a:pPr algn="l"/>
                      <a:r>
                        <a:rPr sz="690" b="1">
                          <a:solidFill>
                            <a:srgbClr val="253B44"/>
                          </a:solidFill>
                          <a:latin typeface="Helvetica Neue"/>
                          <a:ea typeface="Helvetica Neue"/>
                          <a:cs typeface="Helvetica Neue"/>
                        </a:rPr>
                        <a:t>Optimistic</a:t>
                      </a:r>
                    </a:p>
                  </a:txBody>
                  <a:tcPr marL="91440" marR="91440" marT="45720" marB="45720" anchor="ctr">
                    <a:solidFill>
                      <a:srgbClr val="EEF6F7"/>
                    </a:solidFill>
                  </a:tcPr>
                </a:tc>
                <a:tc>
                  <a:txBody>
                    <a:bodyPr lIns="66675" tIns="28575" rIns="57150" bIns="28575">
                      <a:noAutofit/>
                    </a:bodyPr>
                    <a:lstStyle/>
                    <a:p>
                      <a:pPr algn="ctr"/>
                      <a:r>
                        <a:rPr sz="690" b="0">
                          <a:solidFill>
                            <a:srgbClr val="253B44"/>
                          </a:solidFill>
                          <a:latin typeface="Helvetica Neue"/>
                          <a:ea typeface="Helvetica Neue"/>
                          <a:cs typeface="Helvetica Neue"/>
                        </a:rPr>
                        <a:t>15.0%</a:t>
                      </a:r>
                    </a:p>
                  </a:txBody>
                  <a:tcPr marL="91440" marR="91440" marT="45720" marB="45720" anchor="ctr">
                    <a:solidFill>
                      <a:srgbClr val="EEF6F7"/>
                    </a:solidFill>
                  </a:tcPr>
                </a:tc>
                <a:tc>
                  <a:txBody>
                    <a:bodyPr lIns="66675" tIns="28575" rIns="57150" bIns="28575">
                      <a:noAutofit/>
                    </a:bodyPr>
                    <a:lstStyle/>
                    <a:p>
                      <a:pPr algn="ctr"/>
                      <a:r>
                        <a:rPr sz="690" b="0">
                          <a:solidFill>
                            <a:srgbClr val="253B44"/>
                          </a:solidFill>
                          <a:latin typeface="Helvetica Neue"/>
                          <a:ea typeface="Helvetica Neue"/>
                          <a:cs typeface="Helvetica Neue"/>
                        </a:rPr>
                        <a:t>$13.36M</a:t>
                      </a:r>
                    </a:p>
                  </a:txBody>
                  <a:tcPr marL="91440" marR="91440" marT="45720" marB="45720" anchor="ctr">
                    <a:solidFill>
                      <a:srgbClr val="EEF6F7"/>
                    </a:solidFill>
                  </a:tcPr>
                </a:tc>
                <a:tc>
                  <a:txBody>
                    <a:bodyPr lIns="66675" tIns="28575" rIns="57150" bIns="28575">
                      <a:noAutofit/>
                    </a:bodyPr>
                    <a:lstStyle/>
                    <a:p>
                      <a:pPr algn="ctr"/>
                      <a:r>
                        <a:rPr sz="690" b="0">
                          <a:solidFill>
                            <a:srgbClr val="253B44"/>
                          </a:solidFill>
                          <a:latin typeface="Helvetica Neue"/>
                          <a:ea typeface="Helvetica Neue"/>
                          <a:cs typeface="Helvetica Neue"/>
                        </a:rPr>
                        <a:t>5.34x</a:t>
                      </a:r>
                    </a:p>
                  </a:txBody>
                  <a:tcPr marL="91440" marR="91440" marT="45720" marB="45720" anchor="ctr">
                    <a:solidFill>
                      <a:srgbClr val="EEF6F7"/>
                    </a:solidFill>
                  </a:tcPr>
                </a:tc>
              </a:tr>
            </a:tbl>
          </a:graphicData>
        </a:graphic>
      </p:graphicFrame>
      <p:sp>
        <p:nvSpPr>
          <p:cNvPr id="11" name="">
            <a:extLst xmlns:a="http://schemas.openxmlformats.org/drawingml/2006/main">
              <a:ext uri="{FF2B5EF4-FFF2-40B4-BE49-F238E27FC236}">
                <a16:creationId xmlns:a16="http://schemas.microsoft.com/office/drawing/2014/main" id="{7751825C-64DE-4F59-A130-3D80F548786C}"/>
              </a:ext>
            </a:extLst>
          </p:cNvPr>
          <p:cNvSpPr>
            <a:spLocks xmlns:a="http://schemas.openxmlformats.org/drawingml/2006/main" noGrp="1"/>
          </p:cNvSpPr>
          <p:nvPr/>
        </p:nvSpPr>
        <p:spPr>
          <a:xfrm xmlns:a="http://schemas.openxmlformats.org/drawingml/2006/main">
            <a:off x="6076950" y="3695700"/>
            <a:ext cx="4724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4000"/>
              </a:lnSpc>
              <a:buNone/>
              <a:defRPr sz="810">
                <a:solidFill>
                  <a:srgbClr val="50636B"/>
                </a:solidFill>
                <a:latin typeface="Helvetica Neue"/>
                <a:ea typeface="Helvetica Neue"/>
                <a:cs typeface="Helvetica Neue"/>
              </a:defRPr>
            </a:pPr>
            <a:r>
              <a:rPr sz="810">
                <a:solidFill>
                  <a:srgbClr val="50636B"/>
                </a:solidFill>
                <a:latin typeface="Helvetica Neue"/>
                <a:ea typeface="Helvetica Neue"/>
                <a:cs typeface="Helvetica Neue"/>
              </a:rPr>
              <a:t>Expected case avoids about 518 readmissions and produces $8.81M in net savings.</a:t>
            </a:r>
          </a:p>
        </p:txBody>
      </p:sp>
      <p:sp>
        <p:nvSpPr>
          <p:cNvPr id="12" name="">
            <a:extLst xmlns:a="http://schemas.openxmlformats.org/drawingml/2006/main">
              <a:ext uri="{FF2B5EF4-FFF2-40B4-BE49-F238E27FC236}">
                <a16:creationId xmlns:a16="http://schemas.microsoft.com/office/drawing/2014/main" id="{AC9C6E7C-9F21-452D-89A6-47102BB53978}"/>
              </a:ext>
            </a:extLst>
          </p:cNvPr>
          <p:cNvSpPr>
            <a:spLocks xmlns:a="http://schemas.openxmlformats.org/drawingml/2006/main" noGrp="1"/>
          </p:cNvSpPr>
          <p:nvPr/>
        </p:nvSpPr>
        <p:spPr>
          <a:xfrm xmlns:a="http://schemas.openxmlformats.org/drawingml/2006/main">
            <a:off x="514350" y="4162425"/>
            <a:ext cx="10287000" cy="14288"/>
          </a:xfrm>
          <a:prstGeom xmlns:a="http://schemas.openxmlformats.org/drawingml/2006/main" prst="rect">
            <a:avLst/>
          </a:prstGeom>
          <a:solidFill xmlns:a="http://schemas.openxmlformats.org/drawingml/2006/main">
            <a:srgbClr val="D1E1E5"/>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248CF0E-88E9-40ED-BE76-0983143FD4CD}"/>
              </a:ext>
            </a:extLst>
          </p:cNvPr>
          <p:cNvSpPr>
            <a:spLocks xmlns:a="http://schemas.openxmlformats.org/drawingml/2006/main" noGrp="1"/>
          </p:cNvSpPr>
          <p:nvPr/>
        </p:nvSpPr>
        <p:spPr>
          <a:xfrm xmlns:a="http://schemas.openxmlformats.org/drawingml/2006/main">
            <a:off x="514350" y="44005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Team identified</a:t>
            </a:r>
          </a:p>
        </p:txBody>
      </p:sp>
      <p:graphicFrame>
        <p:nvGraphicFramePr>
          <p:cNvPr id="32" name=""/>
          <p:cNvGraphicFramePr/>
          <p:nvPr/>
        </p:nvGraphicFramePr>
        <p:xfrm>
          <a:off xmlns:a="http://schemas.openxmlformats.org/drawingml/2006/main" x="514350" y="4743450"/>
          <a:ext xmlns:a="http://schemas.openxmlformats.org/drawingml/2006/main" cx="4953000" cy="1143000"/>
        </p:xfrm>
        <a:graphic xmlns:a="http://schemas.openxmlformats.org/drawingml/2006/main">
          <a:graphicData uri="http://schemas.openxmlformats.org/drawingml/2006/table">
            <a:tbl>
              <a:tblPr/>
              <a:tblGrid>
                <a:gridCol w="1657350"/>
                <a:gridCol w="3295650"/>
              </a:tblGrid>
              <a:tr h="228600">
                <a:tc>
                  <a:txBody>
                    <a:bodyPr lIns="66675" tIns="28575" rIns="57150" bIns="28575">
                      <a:noAutofit/>
                    </a:bodyPr>
                    <a:lstStyle/>
                    <a:p>
                      <a:pPr algn="l"/>
                      <a:r>
                        <a:rPr sz="638" b="1">
                          <a:solidFill>
                            <a:srgbClr val="FFFFFF"/>
                          </a:solidFill>
                          <a:latin typeface="Helvetica Neue"/>
                          <a:ea typeface="Helvetica Neue"/>
                          <a:cs typeface="Helvetica Neue"/>
                        </a:rPr>
                        <a:t>Insight area</a:t>
                      </a:r>
                    </a:p>
                  </a:txBody>
                  <a:tcPr marL="91440" marR="91440" marT="45720" marB="45720" anchor="ctr">
                    <a:solidFill>
                      <a:srgbClr val="0F4C5C"/>
                    </a:solidFill>
                  </a:tcPr>
                </a:tc>
                <a:tc>
                  <a:txBody>
                    <a:bodyPr lIns="66675" tIns="28575" rIns="57150" bIns="28575">
                      <a:noAutofit/>
                    </a:bodyPr>
                    <a:lstStyle/>
                    <a:p>
                      <a:pPr algn="l"/>
                      <a:r>
                        <a:rPr sz="638" b="1">
                          <a:solidFill>
                            <a:srgbClr val="FFFFFF"/>
                          </a:solidFill>
                          <a:latin typeface="Helvetica Neue"/>
                          <a:ea typeface="Helvetica Neue"/>
                          <a:cs typeface="Helvetica Neue"/>
                        </a:rPr>
                        <a:t>What the team found</a:t>
                      </a:r>
                    </a:p>
                  </a:txBody>
                  <a:tcPr marL="91440" marR="91440" marT="45720" marB="45720" anchor="ctr">
                    <a:solidFill>
                      <a:srgbClr val="0F4C5C"/>
                    </a:solidFill>
                  </a:tcPr>
                </a:tc>
              </a:tr>
              <a:tr h="228600">
                <a:tc>
                  <a:txBody>
                    <a:bodyPr lIns="66675" tIns="28575" rIns="57150" bIns="28575">
                      <a:noAutofit/>
                    </a:bodyPr>
                    <a:lstStyle/>
                    <a:p>
                      <a:pPr algn="l"/>
                      <a:r>
                        <a:rPr sz="585" b="1">
                          <a:solidFill>
                            <a:srgbClr val="253B44"/>
                          </a:solidFill>
                          <a:latin typeface="Helvetica Neue"/>
                          <a:ea typeface="Helvetica Neue"/>
                          <a:cs typeface="Helvetica Neue"/>
                        </a:rPr>
                        <a:t>Major performance drivers</a:t>
                      </a:r>
                    </a:p>
                  </a:txBody>
                  <a:tcPr marL="91440" marR="91440" marT="45720" marB="45720" anchor="ctr">
                    <a:solidFill>
                      <a:srgbClr val="EEF6F7"/>
                    </a:solidFill>
                  </a:tcPr>
                </a:tc>
                <a:tc>
                  <a:txBody>
                    <a:bodyPr lIns="66675" tIns="28575" rIns="57150" bIns="28575">
                      <a:noAutofit/>
                    </a:bodyPr>
                    <a:lstStyle/>
                    <a:p>
                      <a:pPr algn="l"/>
                      <a:r>
                        <a:rPr sz="585" b="0">
                          <a:solidFill>
                            <a:srgbClr val="253B44"/>
                          </a:solidFill>
                          <a:latin typeface="Helvetica Neue"/>
                          <a:ea typeface="Helvetica Neue"/>
                          <a:cs typeface="Helvetica Neue"/>
                        </a:rPr>
                        <a:t>Chronic burden, prior admissions, emergency admission, and skilled nursing discharge</a:t>
                      </a:r>
                    </a:p>
                  </a:txBody>
                  <a:tcPr marL="91440" marR="91440" marT="45720" marB="45720" anchor="ctr">
                    <a:solidFill>
                      <a:srgbClr val="EEF6F7"/>
                    </a:solidFill>
                  </a:tcPr>
                </a:tc>
              </a:tr>
              <a:tr h="228600">
                <a:tc>
                  <a:txBody>
                    <a:bodyPr lIns="66675" tIns="28575" rIns="57150" bIns="28575">
                      <a:noAutofit/>
                    </a:bodyPr>
                    <a:lstStyle/>
                    <a:p>
                      <a:pPr algn="l"/>
                      <a:r>
                        <a:rPr sz="585" b="1">
                          <a:solidFill>
                            <a:srgbClr val="253B44"/>
                          </a:solidFill>
                          <a:latin typeface="Helvetica Neue"/>
                          <a:ea typeface="Helvetica Neue"/>
                          <a:cs typeface="Helvetica Neue"/>
                        </a:rPr>
                        <a:t>Hidden opportunities</a:t>
                      </a:r>
                    </a:p>
                  </a:txBody>
                  <a:tcPr marL="91440" marR="91440" marT="45720" marB="45720" anchor="ctr">
                    <a:solidFill>
                      <a:srgbClr val="F8FBFC"/>
                    </a:solidFill>
                  </a:tcPr>
                </a:tc>
                <a:tc>
                  <a:txBody>
                    <a:bodyPr lIns="66675" tIns="28575" rIns="57150" bIns="28575">
                      <a:noAutofit/>
                    </a:bodyPr>
                    <a:lstStyle/>
                    <a:p>
                      <a:pPr algn="l"/>
                      <a:r>
                        <a:rPr sz="585" b="0">
                          <a:solidFill>
                            <a:srgbClr val="253B44"/>
                          </a:solidFill>
                          <a:latin typeface="Helvetica Neue"/>
                          <a:ea typeface="Helvetica Neue"/>
                          <a:cs typeface="Helvetica Neue"/>
                        </a:rPr>
                        <a:t>Risk tiers can focus support on patients most likely to return</a:t>
                      </a:r>
                    </a:p>
                  </a:txBody>
                  <a:tcPr marL="91440" marR="91440" marT="45720" marB="45720" anchor="ctr">
                    <a:solidFill>
                      <a:srgbClr val="F8FBFC"/>
                    </a:solidFill>
                  </a:tcPr>
                </a:tc>
              </a:tr>
              <a:tr h="228600">
                <a:tc>
                  <a:txBody>
                    <a:bodyPr lIns="66675" tIns="28575" rIns="57150" bIns="28575">
                      <a:noAutofit/>
                    </a:bodyPr>
                    <a:lstStyle/>
                    <a:p>
                      <a:pPr algn="l"/>
                      <a:r>
                        <a:rPr sz="585" b="1">
                          <a:solidFill>
                            <a:srgbClr val="253B44"/>
                          </a:solidFill>
                          <a:latin typeface="Helvetica Neue"/>
                          <a:ea typeface="Helvetica Neue"/>
                          <a:cs typeface="Helvetica Neue"/>
                        </a:rPr>
                        <a:t>Risk factors</a:t>
                      </a:r>
                    </a:p>
                  </a:txBody>
                  <a:tcPr marL="91440" marR="91440" marT="45720" marB="45720" anchor="ctr">
                    <a:solidFill>
                      <a:srgbClr val="EEF6F7"/>
                    </a:solidFill>
                  </a:tcPr>
                </a:tc>
                <a:tc>
                  <a:txBody>
                    <a:bodyPr lIns="66675" tIns="28575" rIns="57150" bIns="28575">
                      <a:noAutofit/>
                    </a:bodyPr>
                    <a:lstStyle/>
                    <a:p>
                      <a:pPr algn="l"/>
                      <a:r>
                        <a:rPr sz="585" b="0">
                          <a:solidFill>
                            <a:srgbClr val="253B44"/>
                          </a:solidFill>
                          <a:latin typeface="Helvetica Neue"/>
                          <a:ea typeface="Helvetica Neue"/>
                          <a:cs typeface="Helvetica Neue"/>
                        </a:rPr>
                        <a:t>Unknown follow-up status, high-acuity discharge, repeat utilization, and financial data quality</a:t>
                      </a:r>
                    </a:p>
                  </a:txBody>
                  <a:tcPr marL="91440" marR="91440" marT="45720" marB="45720" anchor="ctr">
                    <a:solidFill>
                      <a:srgbClr val="EEF6F7"/>
                    </a:solidFill>
                  </a:tcPr>
                </a:tc>
              </a:tr>
              <a:tr h="228600">
                <a:tc>
                  <a:txBody>
                    <a:bodyPr lIns="66675" tIns="28575" rIns="57150" bIns="28575">
                      <a:noAutofit/>
                    </a:bodyPr>
                    <a:lstStyle/>
                    <a:p>
                      <a:pPr algn="l"/>
                      <a:r>
                        <a:rPr sz="585" b="1">
                          <a:solidFill>
                            <a:srgbClr val="253B44"/>
                          </a:solidFill>
                          <a:latin typeface="Helvetica Neue"/>
                          <a:ea typeface="Helvetica Neue"/>
                          <a:cs typeface="Helvetica Neue"/>
                        </a:rPr>
                        <a:t>Unexpected findings</a:t>
                      </a:r>
                    </a:p>
                  </a:txBody>
                  <a:tcPr marL="91440" marR="91440" marT="45720" marB="45720" anchor="ctr">
                    <a:solidFill>
                      <a:srgbClr val="F8FBFC"/>
                    </a:solidFill>
                  </a:tcPr>
                </a:tc>
                <a:tc>
                  <a:txBody>
                    <a:bodyPr lIns="66675" tIns="28575" rIns="57150" bIns="28575">
                      <a:noAutofit/>
                    </a:bodyPr>
                    <a:lstStyle/>
                    <a:p>
                      <a:pPr algn="l"/>
                      <a:r>
                        <a:rPr sz="585" b="0">
                          <a:solidFill>
                            <a:srgbClr val="253B44"/>
                          </a:solidFill>
                          <a:latin typeface="Helvetica Neue"/>
                          <a:ea typeface="Helvetica Neue"/>
                          <a:cs typeface="Helvetica Neue"/>
                        </a:rPr>
                        <a:t>Unknown follow-up status has the highest observed readmission rate</a:t>
                      </a:r>
                    </a:p>
                  </a:txBody>
                  <a:tcPr marL="91440" marR="91440" marT="45720" marB="45720" anchor="ctr">
                    <a:solidFill>
                      <a:srgbClr val="F8FBFC"/>
                    </a:solidFill>
                  </a:tcPr>
                </a:tc>
              </a:tr>
            </a:tbl>
          </a:graphicData>
        </a:graphic>
      </p:graphicFrame>
      <p:sp>
        <p:nvSpPr>
          <p:cNvPr id="15" name="">
            <a:extLst xmlns:a="http://schemas.openxmlformats.org/drawingml/2006/main">
              <a:ext uri="{FF2B5EF4-FFF2-40B4-BE49-F238E27FC236}">
                <a16:creationId xmlns:a16="http://schemas.microsoft.com/office/drawing/2014/main" id="{52D7337B-02A8-44EB-B84D-98C92CBDDAEF}"/>
              </a:ext>
            </a:extLst>
          </p:cNvPr>
          <p:cNvSpPr>
            <a:spLocks xmlns:a="http://schemas.openxmlformats.org/drawingml/2006/main" noGrp="1"/>
          </p:cNvSpPr>
          <p:nvPr/>
        </p:nvSpPr>
        <p:spPr>
          <a:xfrm xmlns:a="http://schemas.openxmlformats.org/drawingml/2006/main">
            <a:off x="6076950" y="4400550"/>
            <a:ext cx="3238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Significance distinction</a:t>
            </a:r>
          </a:p>
        </p:txBody>
      </p:sp>
      <p:graphicFrame>
        <p:nvGraphicFramePr>
          <p:cNvPr id="34" name=""/>
          <p:cNvGraphicFramePr/>
          <p:nvPr/>
        </p:nvGraphicFramePr>
        <p:xfrm>
          <a:off xmlns:a="http://schemas.openxmlformats.org/drawingml/2006/main" x="6076950" y="4743450"/>
          <a:ext xmlns:a="http://schemas.openxmlformats.org/drawingml/2006/main" cx="4724400" cy="1028700"/>
        </p:xfrm>
        <a:graphic xmlns:a="http://schemas.openxmlformats.org/drawingml/2006/main">
          <a:graphicData uri="http://schemas.openxmlformats.org/drawingml/2006/table">
            <a:tbl>
              <a:tblPr/>
              <a:tblGrid>
                <a:gridCol w="1181100"/>
                <a:gridCol w="3543300"/>
              </a:tblGrid>
              <a:tr h="257175">
                <a:tc>
                  <a:txBody>
                    <a:bodyPr lIns="66675" tIns="28575" rIns="57150" bIns="28575">
                      <a:noAutofit/>
                    </a:bodyPr>
                    <a:lstStyle/>
                    <a:p>
                      <a:pPr algn="l"/>
                      <a:r>
                        <a:rPr sz="660" b="1">
                          <a:solidFill>
                            <a:srgbClr val="FFFFFF"/>
                          </a:solidFill>
                          <a:latin typeface="Helvetica Neue"/>
                          <a:ea typeface="Helvetica Neue"/>
                          <a:cs typeface="Helvetica Neue"/>
                        </a:rPr>
                        <a:t>Lens</a:t>
                      </a:r>
                    </a:p>
                  </a:txBody>
                  <a:tcPr marL="91440" marR="91440" marT="45720" marB="45720" anchor="ctr">
                    <a:solidFill>
                      <a:srgbClr val="0F4C5C"/>
                    </a:solidFill>
                  </a:tcPr>
                </a:tc>
                <a:tc>
                  <a:txBody>
                    <a:bodyPr lIns="66675" tIns="28575" rIns="57150" bIns="28575">
                      <a:noAutofit/>
                    </a:bodyPr>
                    <a:lstStyle/>
                    <a:p>
                      <a:pPr algn="l"/>
                      <a:r>
                        <a:rPr sz="660" b="1">
                          <a:solidFill>
                            <a:srgbClr val="FFFFFF"/>
                          </a:solidFill>
                          <a:latin typeface="Helvetica Neue"/>
                          <a:ea typeface="Helvetica Neue"/>
                          <a:cs typeface="Helvetica Neue"/>
                        </a:rPr>
                        <a:t>Meaning for NHN</a:t>
                      </a:r>
                    </a:p>
                  </a:txBody>
                  <a:tcPr marL="91440" marR="91440" marT="45720" marB="45720" anchor="ctr">
                    <a:solidFill>
                      <a:srgbClr val="0F4C5C"/>
                    </a:solidFill>
                  </a:tcPr>
                </a:tc>
              </a:tr>
              <a:tr h="257175">
                <a:tc>
                  <a:txBody>
                    <a:bodyPr lIns="66675" tIns="28575" rIns="57150" bIns="28575">
                      <a:noAutofit/>
                    </a:bodyPr>
                    <a:lstStyle/>
                    <a:p>
                      <a:pPr algn="l"/>
                      <a:r>
                        <a:rPr sz="615" b="1">
                          <a:solidFill>
                            <a:srgbClr val="253B44"/>
                          </a:solidFill>
                          <a:latin typeface="Helvetica Neue"/>
                          <a:ea typeface="Helvetica Neue"/>
                          <a:cs typeface="Helvetica Neue"/>
                        </a:rPr>
                        <a:t>Statistical</a:t>
                      </a:r>
                    </a:p>
                  </a:txBody>
                  <a:tcPr marL="91440" marR="91440" marT="45720" marB="45720" anchor="ctr">
                    <a:solidFill>
                      <a:srgbClr val="EEF6F7"/>
                    </a:solidFill>
                  </a:tcPr>
                </a:tc>
                <a:tc>
                  <a:txBody>
                    <a:bodyPr lIns="66675" tIns="28575" rIns="57150" bIns="28575">
                      <a:noAutofit/>
                    </a:bodyPr>
                    <a:lstStyle/>
                    <a:p>
                      <a:pPr algn="l"/>
                      <a:r>
                        <a:rPr sz="615" b="0">
                          <a:solidFill>
                            <a:srgbClr val="253B44"/>
                          </a:solidFill>
                          <a:latin typeface="Helvetica Neue"/>
                          <a:ea typeface="Helvetica Neue"/>
                          <a:cs typeface="Helvetica Neue"/>
                        </a:rPr>
                        <a:t>The model and deciles reliably separate higher-risk patients</a:t>
                      </a:r>
                    </a:p>
                  </a:txBody>
                  <a:tcPr marL="91440" marR="91440" marT="45720" marB="45720" anchor="ctr">
                    <a:solidFill>
                      <a:srgbClr val="EEF6F7"/>
                    </a:solidFill>
                  </a:tcPr>
                </a:tc>
              </a:tr>
              <a:tr h="257175">
                <a:tc>
                  <a:txBody>
                    <a:bodyPr lIns="66675" tIns="28575" rIns="57150" bIns="28575">
                      <a:noAutofit/>
                    </a:bodyPr>
                    <a:lstStyle/>
                    <a:p>
                      <a:pPr algn="l"/>
                      <a:r>
                        <a:rPr sz="615" b="1">
                          <a:solidFill>
                            <a:srgbClr val="253B44"/>
                          </a:solidFill>
                          <a:latin typeface="Helvetica Neue"/>
                          <a:ea typeface="Helvetica Neue"/>
                          <a:cs typeface="Helvetica Neue"/>
                        </a:rPr>
                        <a:t>Practical</a:t>
                      </a:r>
                    </a:p>
                  </a:txBody>
                  <a:tcPr marL="91440" marR="91440" marT="45720" marB="45720" anchor="ctr">
                    <a:solidFill>
                      <a:srgbClr val="F8FBFC"/>
                    </a:solidFill>
                  </a:tcPr>
                </a:tc>
                <a:tc>
                  <a:txBody>
                    <a:bodyPr lIns="66675" tIns="28575" rIns="57150" bIns="28575">
                      <a:noAutofit/>
                    </a:bodyPr>
                    <a:lstStyle/>
                    <a:p>
                      <a:pPr algn="l"/>
                      <a:r>
                        <a:rPr sz="615" b="0">
                          <a:solidFill>
                            <a:srgbClr val="253B44"/>
                          </a:solidFill>
                          <a:latin typeface="Helvetica Neue"/>
                          <a:ea typeface="Helvetica Neue"/>
                          <a:cs typeface="Helvetica Neue"/>
                        </a:rPr>
                        <a:t>Care teams can act on risk tiers before discharge or during follow-up</a:t>
                      </a:r>
                    </a:p>
                  </a:txBody>
                  <a:tcPr marL="91440" marR="91440" marT="45720" marB="45720" anchor="ctr">
                    <a:solidFill>
                      <a:srgbClr val="F8FBFC"/>
                    </a:solidFill>
                  </a:tcPr>
                </a:tc>
              </a:tr>
              <a:tr h="257175">
                <a:tc>
                  <a:txBody>
                    <a:bodyPr lIns="66675" tIns="28575" rIns="57150" bIns="28575">
                      <a:noAutofit/>
                    </a:bodyPr>
                    <a:lstStyle/>
                    <a:p>
                      <a:pPr algn="l"/>
                      <a:r>
                        <a:rPr sz="615" b="1">
                          <a:solidFill>
                            <a:srgbClr val="253B44"/>
                          </a:solidFill>
                          <a:latin typeface="Helvetica Neue"/>
                          <a:ea typeface="Helvetica Neue"/>
                          <a:cs typeface="Helvetica Neue"/>
                        </a:rPr>
                        <a:t>Business</a:t>
                      </a:r>
                    </a:p>
                  </a:txBody>
                  <a:tcPr marL="91440" marR="91440" marT="45720" marB="45720" anchor="ctr">
                    <a:solidFill>
                      <a:srgbClr val="EEF6F7"/>
                    </a:solidFill>
                  </a:tcPr>
                </a:tc>
                <a:tc>
                  <a:txBody>
                    <a:bodyPr lIns="66675" tIns="28575" rIns="57150" bIns="28575">
                      <a:noAutofit/>
                    </a:bodyPr>
                    <a:lstStyle/>
                    <a:p>
                      <a:pPr algn="l"/>
                      <a:r>
                        <a:rPr sz="615" b="0">
                          <a:solidFill>
                            <a:srgbClr val="253B44"/>
                          </a:solidFill>
                          <a:latin typeface="Helvetica Neue"/>
                          <a:ea typeface="Helvetica Neue"/>
                          <a:cs typeface="Helvetica Neue"/>
                        </a:rPr>
                        <a:t>Targeted action must improve outcomes, capacity, penalties, or savings</a:t>
                      </a:r>
                    </a:p>
                  </a:txBody>
                  <a:tcPr marL="91440" marR="91440" marT="45720" marB="45720" anchor="ctr">
                    <a:solidFill>
                      <a:srgbClr val="EEF6F7"/>
                    </a:solidFill>
                  </a:tcPr>
                </a:tc>
              </a:tr>
            </a:tbl>
          </a:graphicData>
        </a:graphic>
      </p:graphicFrame>
      <p:sp>
        <p:nvSpPr>
          <p:cNvPr id="17" name="">
            <a:extLst xmlns:a="http://schemas.openxmlformats.org/drawingml/2006/main">
              <a:ext uri="{FF2B5EF4-FFF2-40B4-BE49-F238E27FC236}">
                <a16:creationId xmlns:a16="http://schemas.microsoft.com/office/drawing/2014/main" id="{451F7855-B894-46A8-96A1-D6556E46B8EF}"/>
              </a:ext>
            </a:extLst>
          </p:cNvPr>
          <p:cNvSpPr>
            <a:spLocks xmlns:a="http://schemas.openxmlformats.org/drawingml/2006/main" noGrp="1"/>
          </p:cNvSpPr>
          <p:nvPr/>
        </p:nvSpPr>
        <p:spPr>
          <a:xfrm xmlns:a="http://schemas.openxmlformats.org/drawingml/2006/main">
            <a:off x="6076950" y="5924550"/>
            <a:ext cx="4724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4000"/>
              </a:lnSpc>
              <a:buNone/>
              <a:defRPr sz="818">
                <a:solidFill>
                  <a:srgbClr val="253B44"/>
                </a:solidFill>
                <a:latin typeface="Helvetica Neue"/>
                <a:ea typeface="Helvetica Neue"/>
                <a:cs typeface="Helvetica Neue"/>
              </a:defRPr>
            </a:pPr>
            <a:r>
              <a:rPr sz="818">
                <a:solidFill>
                  <a:srgbClr val="253B44"/>
                </a:solidFill>
                <a:latin typeface="Helvetica Neue"/>
                <a:ea typeface="Helvetica Neue"/>
                <a:cs typeface="Helvetica Neue"/>
              </a:rPr>
              <a:t>Board implication: prioritize insights that are credible in the model, actionable in the workflow, and material to the business case.</a:t>
            </a:r>
          </a:p>
        </p:txBody>
      </p:sp>
      <p:sp>
        <p:nvSpPr>
          <p:cNvPr id="18" name="">
            <a:extLst xmlns:a="http://schemas.openxmlformats.org/drawingml/2006/main">
              <a:ext uri="{FF2B5EF4-FFF2-40B4-BE49-F238E27FC236}">
                <a16:creationId xmlns:a16="http://schemas.microsoft.com/office/drawing/2014/main" id="{3763E0E4-7F90-4273-A3BA-B0D7948213AB}"/>
              </a:ext>
            </a:extLst>
          </p:cNvPr>
          <p:cNvSpPr>
            <a:spLocks xmlns:a="http://schemas.openxmlformats.org/drawingml/2006/main" noGrp="1"/>
          </p:cNvSpPr>
          <p:nvPr/>
        </p:nvSpPr>
        <p:spPr>
          <a:xfrm xmlns:a="http://schemas.openxmlformats.org/drawingml/2006/main">
            <a:off x="514350" y="65722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750">
                <a:solidFill>
                  <a:srgbClr val="667A82"/>
                </a:solidFill>
                <a:latin typeface="Helvetica Neue"/>
                <a:ea typeface="Helvetica Neue"/>
                <a:cs typeface="Helvetica Neue"/>
              </a:defRPr>
            </a:pPr>
            <a:r>
              <a:rPr sz="750">
                <a:solidFill>
                  <a:srgbClr val="667A82"/>
                </a:solidFill>
                <a:latin typeface="Helvetica Neue"/>
                <a:ea typeface="Helvetica Neue"/>
                <a:cs typeface="Helvetica Neue"/>
              </a:rPr>
              <a:t>Source: risk score deciles, ROI scenarios, clinical segments, and cleaned NHN analysis outputs</a:t>
            </a:r>
          </a:p>
        </p:txBody>
      </p:sp>
    </p:spTree>
    <p:extLst>
      <p:ext uri="{BB962C8B-B14F-4D97-AF65-F5344CB8AC3E}">
        <p14:creationId xmlns:p14="http://schemas.microsoft.com/office/powerpoint/2010/main" val="153986302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2026-09-19T15:08:36.3710000Z</dcterms:created>
  <dcterms:modified xsi:type="dcterms:W3CDTF">2026-09-19T15:08:36.3710000Z</dcterms:modified>
</coreProperties>
</file>