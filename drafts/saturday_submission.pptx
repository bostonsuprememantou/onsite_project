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4.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5.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6f28f2371ea4a24" /><Relationship Type="http://schemas.openxmlformats.org/officeDocument/2006/relationships/extended-properties" Target="/docProps/app.xml" Id="R76dcf623af434512" /><Relationship Type="http://schemas.openxmlformats.org/officeDocument/2006/relationships/officeDocument" Target="/ppt/presentation.xml" Id="R9c5b72bd8f0644e8" /></Relationships>
</file>

<file path=ppt/presentation.xml><?xml version="1.0" encoding="utf-8"?>
<p:presentation xmlns:p="http://schemas.openxmlformats.org/presentationml/2006/main">
  <p:sldMasterIdLst>
    <p:sldMasterId xmlns:r="http://schemas.openxmlformats.org/officeDocument/2006/relationships" id="2147483648" r:id="Rcd7c15550c694192"/>
  </p:sldMasterIdLst>
  <p:notesMasterIdLst>
    <p:notesMasterId xmlns:r="http://schemas.openxmlformats.org/officeDocument/2006/relationships" r:id="R066f954fd2054f3e"/>
  </p:notesMasterIdLst>
  <p:sldIdLst>
    <p:sldId xmlns:r="http://schemas.openxmlformats.org/officeDocument/2006/relationships" id="256" r:id="Rdc0ca1a2234d4406"/>
    <p:sldId xmlns:r="http://schemas.openxmlformats.org/officeDocument/2006/relationships" id="257" r:id="Reef764a09d5943b3"/>
    <p:sldId xmlns:r="http://schemas.openxmlformats.org/officeDocument/2006/relationships" id="258" r:id="R465c7a2b31ed4402"/>
    <p:sldId xmlns:r="http://schemas.openxmlformats.org/officeDocument/2006/relationships" id="259" r:id="R8c93694254284f2e"/>
    <p:sldId xmlns:r="http://schemas.openxmlformats.org/officeDocument/2006/relationships" id="260" r:id="Rcd57b6c014124c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c6a2ae0f02c46f2" /><Relationship Type="http://schemas.openxmlformats.org/officeDocument/2006/relationships/slideMaster" Target="/ppt/slideMasters/slideMaster1.xml" Id="Rcd7c15550c694192" /><Relationship Type="http://schemas.openxmlformats.org/officeDocument/2006/relationships/notesMaster" Target="/ppt/notesMasters/notesMaster1.xml" Id="R066f954fd2054f3e" /><Relationship Type="http://schemas.openxmlformats.org/officeDocument/2006/relationships/presProps" Target="/ppt/presProps.xml" Id="R21fba2b88a5b4ba9" /><Relationship Type="http://schemas.openxmlformats.org/officeDocument/2006/relationships/tableStyles" Target="/ppt/tableStyles.xml" Id="R83926bc984d54660" /><Relationship Type="http://schemas.openxmlformats.org/officeDocument/2006/relationships/slide" Target="/ppt/slides/slide1.xml" Id="Rdc0ca1a2234d4406" /><Relationship Type="http://schemas.openxmlformats.org/officeDocument/2006/relationships/slide" Target="/ppt/slides/slide2.xml" Id="Reef764a09d5943b3" /><Relationship Type="http://schemas.openxmlformats.org/officeDocument/2006/relationships/slide" Target="/ppt/slides/slide3.xml" Id="R465c7a2b31ed4402" /><Relationship Type="http://schemas.openxmlformats.org/officeDocument/2006/relationships/slide" Target="/ppt/slides/slide4.xml" Id="R8c93694254284f2e" /><Relationship Type="http://schemas.openxmlformats.org/officeDocument/2006/relationships/slide" Target="/ppt/slides/slide5.xml" Id="Rcd57b6c014124c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eca5afe6f7048d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1958c7c4c74c6d" /><Relationship Type="http://schemas.openxmlformats.org/officeDocument/2006/relationships/notesMaster" Target="/ppt/notesMasters/notesMaster1.xml" Id="R4c71c799d6eb4e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aab04b60422483f" /><Relationship Type="http://schemas.openxmlformats.org/officeDocument/2006/relationships/notesMaster" Target="/ppt/notesMasters/notesMaster1.xml" Id="R2f34ee2a12fc47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a3d657db49a46d2" /><Relationship Type="http://schemas.openxmlformats.org/officeDocument/2006/relationships/notesMaster" Target="/ppt/notesMasters/notesMaster1.xml" Id="R450c018d801b4b2e"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34c80ca2bb47ea" /><Relationship Type="http://schemas.openxmlformats.org/officeDocument/2006/relationships/notesMaster" Target="/ppt/notesMasters/notesMaster1.xml" Id="Ra1b1d4c201aa47e0" /></Relationships>
</file>

<file path=ppt/notesSlides/_rels/notesSlide5.xml.rels>&#65279;<?xml version="1.0" encoding="utf-8"?><Relationships xmlns="http://schemas.openxmlformats.org/package/2006/relationships"><Relationship Type="http://schemas.openxmlformats.org/officeDocument/2006/relationships/slide" Target="/ppt/slides/slide5.xml" Id="Rfaea5961a64440bf" /><Relationship Type="http://schemas.openxmlformats.org/officeDocument/2006/relationships/notesMaster" Target="/ppt/notesMasters/notesMaster1.xml" Id="Re2371086f53a43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Meds Counsulting LLC and the NHN project charter. Explain NHN scale, the rising readmission problem, team workstreams, stakeholders, and the working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initial data analysis. Start with the 12,000-patient dataset and 43.2 percent readmission rate. Explain that missing follow-up status is the largest data gap, outliers affect length of stay and financial fields, high-risk segments concentrate readmissions, and correlations point toward prior admissions and chronic conditions as early risk signals.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why the approach uses three methods. Regression analysis quantifies risk drivers, customer segmentation turns the model into action groups, and market basic analysis adds operational and financial context. Point to the model evidence chart: the expanded clinical model improves ROC-AUC to about 0.74, so it is useful for risk-tier decisions, not just reporting.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explain the team's business insights. The major drivers are chronic burden, prior admissions, emergency admission, and skilled nursing discharge. Hidden opportunities come from risk-tier targeting. Risk factors include unknown follow-up status, high-acuity discharge, repeat utilization, and financial data quality. Distinguish statistical significance from practical significance and business significance. The risk-decile chart supports the statistical case, while the ROI scenario supports the business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 the recommended path. In the short term, pilot pre-discharge risk scoring, close follow-up documentation gaps, and align dashboard KPIs. In the longer term, expand targeted care coordination and track ROI, penalty exposure, and model performance monthly. The expected scenario estimates $1.75 million in implementation cost, 518 avoided readmissions, $8.81 million in net savings, and a 5.03x ROI. Close by naming the major risks: adoption, documentation quality, and financial assumption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97512f5bb4149b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0a98407ea54ef0" /><Relationship Type="http://schemas.openxmlformats.org/officeDocument/2006/relationships/slideLayout" Target="/ppt/slideLayouts/slideLayout1.xml" Id="R880a254c02cb4e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0a254c02cb4e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54661aaf34d4976" /><Relationship Type="http://schemas.openxmlformats.org/officeDocument/2006/relationships/chart" Target="/ppt/slides/charts/chart1.xml" Id="Rf51abda887bb431f" /><Relationship Type="http://schemas.openxmlformats.org/officeDocument/2006/relationships/notesSlide" Target="/ppt/notesSlides/notesSlide1.xml" Id="R35a7b085e4f34d3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afa38aa47494a9a" /><Relationship Type="http://schemas.openxmlformats.org/officeDocument/2006/relationships/chart" Target="/ppt/slides/charts/chart2.xml" Id="R7a90cc35ad0f46be" /><Relationship Type="http://schemas.openxmlformats.org/officeDocument/2006/relationships/chart" Target="/ppt/slides/charts/chart3.xml" Id="Re82274e37e864c11" /><Relationship Type="http://schemas.openxmlformats.org/officeDocument/2006/relationships/notesSlide" Target="/ppt/notesSlides/notesSlide2.xml" Id="Rb97d0035199c41d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61766f331334709" /><Relationship Type="http://schemas.openxmlformats.org/officeDocument/2006/relationships/chart" Target="/ppt/slides/charts/chart4.xml" Id="R716022696a6246de" /><Relationship Type="http://schemas.openxmlformats.org/officeDocument/2006/relationships/notesSlide" Target="/ppt/notesSlides/notesSlide3.xml" Id="R81c6d04b30be409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b1cc2dbbf1f4537" /><Relationship Type="http://schemas.openxmlformats.org/officeDocument/2006/relationships/chart" Target="/ppt/slides/charts/chart5.xml" Id="Ra677d170313b4d00" /><Relationship Type="http://schemas.openxmlformats.org/officeDocument/2006/relationships/notesSlide" Target="/ppt/notesSlides/notesSlide4.xml" Id="R5dd24075155a4b9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970f1aa21c14fc1" /><Relationship Type="http://schemas.openxmlformats.org/officeDocument/2006/relationships/notesSlide" Target="/ppt/notesSlides/notesSlide5.xml" Id="R1de866ceb251465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Readmission rate</c:v>
          </c:tx>
          <c:spPr>
            <a:ln xmlns:a="http://schemas.openxmlformats.org/drawingml/2006/main" w="38100">
              <a:solidFill>
                <a:srgbClr val="0F6F73"/>
              </a:solidFill>
              <a:prstDash val="solid"/>
            </a:ln>
          </c:spPr>
          <c:marker>
            <c:symbol val="circle"/>
            <c:size val="8"/>
            <c:spPr>
              <a:solidFill xmlns:a="http://schemas.openxmlformats.org/drawingml/2006/main">
                <a:srgbClr val="0F6F73"/>
              </a:solidFill>
            </c:spPr>
          </c:marker>
          <c:cat>
            <c:numRef>
              <c:f>'Chart Data'!$A$2:$A$3</c:f>
              <c:numCache>
                <c:formatCode>General</c:formatCode>
                <c:ptCount val="2"/>
                <c:pt idx="0">
                  <c:v>2022</c:v>
                </c:pt>
                <c:pt idx="1">
                  <c:v>2025</c:v>
                </c:pt>
              </c:numCache>
            </c:numRef>
          </c:cat>
          <c:val>
            <c:numRef>
              <c:f>'Chart Data'!$B$2:$B$3</c:f>
              <c:numCache>
                <c:formatCode>0.0%</c:formatCode>
                <c:ptCount val="2"/>
                <c:pt idx="0">
                  <c:v>0.142</c:v>
                </c:pt>
                <c:pt idx="1">
                  <c:v>0.184</c:v>
                </c:pt>
              </c:numCache>
            </c:numRef>
          </c:val>
        </c:ser>
        <c:dLbls>
          <c:txPr>
            <a:bodyPr xmlns:a="http://schemas.openxmlformats.org/drawingml/2006/main" anchorCtr="1"/>
            <a:lstStyle xmlns:a="http://schemas.openxmlformats.org/drawingml/2006/main"/>
            <a:p xmlns:a="http://schemas.openxmlformats.org/drawingml/2006/main">
              <a:pPr>
                <a:defRPr sz="660" b="1">
                  <a:solidFill>
                    <a:srgbClr val="102A34"/>
                  </a:solidFill>
                  <a:latin typeface="Helvetica Neue"/>
                  <a:ea typeface="Helvetica Neue"/>
                  <a:cs typeface="Helvetica Neue"/>
                </a:defRPr>
              </a:pPr>
            </a:p>
          </c:txPr>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60">
                <a:solidFill>
                  <a:srgbClr val="50636B"/>
                </a:solidFill>
                <a:latin typeface="Helvetica Neue"/>
                <a:ea typeface="Helvetica Neue"/>
                <a:cs typeface="Helvetica Neue"/>
              </a:defRPr>
            </a:pPr>
          </a:p>
        </c:txPr>
        <c:crossAx val="48672768"/>
      </c:catAx>
      <c:valAx>
        <c:axId val="48672768"/>
        <c:scaling>
          <c:orientation val="minMax"/>
          <c:max val="0.2"/>
          <c:min val="0.12"/>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30">
                <a:solidFill>
                  <a:srgbClr val="50636B"/>
                </a:solidFill>
                <a:latin typeface="Helvetica Neue"/>
                <a:ea typeface="Helvetica Neue"/>
                <a:cs typeface="Helvetica Neue"/>
              </a:defRPr>
            </a:pPr>
          </a:p>
        </c:txPr>
        <c:crossAx val="48650112"/>
        <c:crossBetween val="between"/>
        <c:majorUnit val="0.02"/>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Readmission rate</c:v>
          </c:tx>
          <c:spPr>
            <a:solidFill xmlns:a="http://schemas.openxmlformats.org/drawingml/2006/main">
              <a:srgbClr val="0F6F73"/>
            </a:solidFill>
          </c:spPr>
          <c:cat>
            <c:strRef>
              <c:f>'Chart Data'!$A$2:$A$6</c:f>
              <c:strCache>
                <c:ptCount val="5"/>
                <c:pt idx="0">
                  <c:v>5+ chronic</c:v>
                </c:pt>
                <c:pt idx="1">
                  <c:v>Unknown follow-up</c:v>
                </c:pt>
                <c:pt idx="2">
                  <c:v>3+ prior admit</c:v>
                </c:pt>
                <c:pt idx="3">
                  <c:v>Skilled nursing</c:v>
                </c:pt>
                <c:pt idx="4">
                  <c:v>Emergency admit</c:v>
                </c:pt>
              </c:strCache>
            </c:strRef>
          </c:cat>
          <c:val>
            <c:numRef>
              <c:f>'Chart Data'!$B$2:$B$6</c:f>
              <c:numCache>
                <c:formatCode>0.0%</c:formatCode>
                <c:ptCount val="5"/>
                <c:pt idx="0">
                  <c:v>0.6233864844</c:v>
                </c:pt>
                <c:pt idx="1">
                  <c:v>0.6030150754</c:v>
                </c:pt>
                <c:pt idx="2">
                  <c:v>0.5702325581</c:v>
                </c:pt>
                <c:pt idx="3">
                  <c:v>0.5435385469</c:v>
                </c:pt>
                <c:pt idx="4">
                  <c:v>0.5088090204</c:v>
                </c:pt>
              </c:numCache>
            </c:numRef>
          </c:val>
        </c:ser>
        <c:dLbls>
          <c:txPr>
            <a:bodyPr xmlns:a="http://schemas.openxmlformats.org/drawingml/2006/main" anchorCtr="1"/>
            <a:lstStyle xmlns:a="http://schemas.openxmlformats.org/drawingml/2006/main"/>
            <a:p xmlns:a="http://schemas.openxmlformats.org/drawingml/2006/main">
              <a:pPr>
                <a:defRPr sz="615" b="1">
                  <a:solidFill>
                    <a:srgbClr val="102A34"/>
                  </a:solidFill>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00">
                <a:solidFill>
                  <a:srgbClr val="50636B"/>
                </a:solidFill>
                <a:latin typeface="Helvetica Neue"/>
                <a:ea typeface="Helvetica Neue"/>
                <a:cs typeface="Helvetica Neue"/>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660">
                <a:solidFill>
                  <a:srgbClr val="344B54"/>
                </a:solidFill>
                <a:latin typeface="Helvetica Neue"/>
                <a:ea typeface="Helvetica Neue"/>
                <a:cs typeface="Helvetica Neue"/>
              </a:defRPr>
            </a:pPr>
          </a:p>
        </c:txPr>
        <c:crossAx val="48650112"/>
        <c:crossBetween val="between"/>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Correlation</c:v>
          </c:tx>
          <c:spPr>
            <a:solidFill xmlns:a="http://schemas.openxmlformats.org/drawingml/2006/main">
              <a:srgbClr val="0F6F73"/>
            </a:solidFill>
          </c:spPr>
          <c:cat>
            <c:strRef>
              <c:f>'Chart Data'!$A$2:$A$5</c:f>
              <c:strCache>
                <c:ptCount val="4"/>
                <c:pt idx="0">
                  <c:v>Prior admits</c:v>
                </c:pt>
                <c:pt idx="1">
                  <c:v>Chronic cond.</c:v>
                </c:pt>
                <c:pt idx="2">
                  <c:v>Length of stay</c:v>
                </c:pt>
                <c:pt idx="3">
                  <c:v>Age</c:v>
                </c:pt>
              </c:strCache>
            </c:strRef>
          </c:cat>
          <c:val>
            <c:numRef>
              <c:f>'Chart Data'!$B$2:$B$5</c:f>
              <c:numCache>
                <c:formatCode>0.00</c:formatCode>
                <c:ptCount val="4"/>
                <c:pt idx="0">
                  <c:v>0.22</c:v>
                </c:pt>
                <c:pt idx="1">
                  <c:v>0.213</c:v>
                </c:pt>
                <c:pt idx="2">
                  <c:v>0.151</c:v>
                </c:pt>
                <c:pt idx="3">
                  <c:v>0.142</c:v>
                </c:pt>
              </c:numCache>
            </c:numRef>
          </c:val>
        </c:ser>
        <c:dLbls>
          <c:txPr>
            <a:bodyPr xmlns:a="http://schemas.openxmlformats.org/drawingml/2006/main" anchorCtr="1"/>
            <a:lstStyle xmlns:a="http://schemas.openxmlformats.org/drawingml/2006/main"/>
            <a:p xmlns:a="http://schemas.openxmlformats.org/drawingml/2006/main">
              <a:pPr>
                <a:defRPr sz="555" b="1">
                  <a:solidFill>
                    <a:srgbClr val="102A34"/>
                  </a:solidFill>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majorGridlines>
          <c:spPr>
            <a:ln xmlns:a="http://schemas.openxmlformats.org/drawingml/2006/main" w="9525">
              <a:solidFill>
                <a:srgbClr val="D8E6EA"/>
              </a:solidFill>
              <a:prstDash val="solid"/>
            </a:ln>
          </c:spPr>
        </c:majorGridlines>
        <c:numFmt formatCode="0.0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540">
                <a:solidFill>
                  <a:srgbClr val="50636B"/>
                </a:solidFill>
                <a:latin typeface="Helvetica Neue"/>
                <a:ea typeface="Helvetica Neue"/>
                <a:cs typeface="Helvetica Neue"/>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563">
                <a:solidFill>
                  <a:srgbClr val="344B54"/>
                </a:solidFill>
                <a:latin typeface="Helvetica Neue"/>
                <a:ea typeface="Helvetica Neue"/>
                <a:cs typeface="Helvetica Neue"/>
              </a:defRPr>
            </a:pPr>
          </a:p>
        </c:txPr>
        <c:crossAx val="48650112"/>
        <c:crossBetween val="between"/>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Baseline</c:v>
          </c:tx>
          <c:spPr>
            <a:solidFill xmlns:a="http://schemas.openxmlformats.org/drawingml/2006/main">
              <a:srgbClr val="8AA6AD"/>
            </a:solidFill>
          </c:spPr>
          <c:cat>
            <c:strRef>
              <c:f>'Chart Data'!$A$2:$A$5</c:f>
              <c:strCache>
                <c:ptCount val="4"/>
                <c:pt idx="0">
                  <c:v>Accuracy</c:v>
                </c:pt>
                <c:pt idx="1">
                  <c:v>Recall</c:v>
                </c:pt>
                <c:pt idx="2">
                  <c:v>F1 score</c:v>
                </c:pt>
                <c:pt idx="3">
                  <c:v>ROC-AUC</c:v>
                </c:pt>
              </c:strCache>
            </c:strRef>
          </c:cat>
          <c:val>
            <c:numRef>
              <c:f>'Chart Data'!$B$2:$B$5</c:f>
              <c:numCache>
                <c:formatCode>0.0%</c:formatCode>
                <c:ptCount val="4"/>
                <c:pt idx="0">
                  <c:v>0.6572222222</c:v>
                </c:pt>
                <c:pt idx="1">
                  <c:v>0.5012787724</c:v>
                </c:pt>
                <c:pt idx="2">
                  <c:v>0.5596002855</c:v>
                </c:pt>
                <c:pt idx="3">
                  <c:v>0.7071174737</c:v>
                </c:pt>
              </c:numCache>
            </c:numRef>
          </c:val>
        </c:ser>
        <c:ser>
          <c:idx val="1"/>
          <c:order val="1"/>
          <c:tx>
            <c:v>Expanded</c:v>
          </c:tx>
          <c:spPr>
            <a:solidFill xmlns:a="http://schemas.openxmlformats.org/drawingml/2006/main">
              <a:srgbClr val="0F6F73"/>
            </a:solidFill>
          </c:spPr>
          <c:cat>
            <c:strRef>
              <c:f>'Chart Data'!$C$2:$C$5</c:f>
              <c:strCache>
                <c:ptCount val="4"/>
                <c:pt idx="0">
                  <c:v>Accuracy</c:v>
                </c:pt>
                <c:pt idx="1">
                  <c:v>Recall</c:v>
                </c:pt>
                <c:pt idx="2">
                  <c:v>F1 score</c:v>
                </c:pt>
                <c:pt idx="3">
                  <c:v>ROC-AUC</c:v>
                </c:pt>
              </c:strCache>
            </c:strRef>
          </c:cat>
          <c:val>
            <c:numRef>
              <c:f>'Chart Data'!$D$2:$D$5</c:f>
              <c:numCache>
                <c:formatCode>0.0%</c:formatCode>
                <c:ptCount val="4"/>
                <c:pt idx="0">
                  <c:v>0.6830555556</c:v>
                </c:pt>
                <c:pt idx="1">
                  <c:v>0.5530690537</c:v>
                </c:pt>
                <c:pt idx="2">
                  <c:v>0.6025774991</c:v>
                </c:pt>
                <c:pt idx="3">
                  <c:v>0.7396482873</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dLblPos val="outEnd"/>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15">
                <a:solidFill>
                  <a:srgbClr val="344B54"/>
                </a:solidFill>
                <a:latin typeface="Helvetica Neue"/>
                <a:ea typeface="Helvetica Neue"/>
                <a:cs typeface="Helvetica Neue"/>
              </a:defRPr>
            </a:pPr>
          </a:p>
        </c:txPr>
        <c:crossAx val="48672768"/>
      </c:catAx>
      <c:valAx>
        <c:axId val="48672768"/>
        <c:scaling>
          <c:orientation val="minMax"/>
          <c:max val="0.8"/>
          <c:min val="0.4"/>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00">
                <a:solidFill>
                  <a:srgbClr val="50636B"/>
                </a:solidFill>
                <a:latin typeface="Helvetica Neue"/>
                <a:ea typeface="Helvetica Neue"/>
                <a:cs typeface="Helvetica Neue"/>
              </a:defRPr>
            </a:pPr>
          </a:p>
        </c:txPr>
        <c:crossAx val="48650112"/>
        <c:crossBetween val="between"/>
        <c:majorUnit val="0.1"/>
      </c:valAx>
      <c:spPr>
        <a:solidFill xmlns:a="http://schemas.openxmlformats.org/drawingml/2006/main">
          <a:srgbClr val="F8FBFC"/>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630">
              <a:solidFill>
                <a:srgbClr val="50636B"/>
              </a:solidFill>
              <a:latin typeface="Helvetica Neue"/>
              <a:ea typeface="Helvetica Neue"/>
              <a:cs typeface="Helvetica Neue"/>
            </a:defRPr>
          </a:pPr>
        </a:p>
      </c:txPr>
    </c:legend>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Readmission rate</c:v>
          </c:tx>
          <c:spPr>
            <a:solidFill xmlns:a="http://schemas.openxmlformats.org/drawingml/2006/main">
              <a:srgbClr val="0F6F73"/>
            </a:solidFill>
          </c:spPr>
          <c:cat>
            <c:strRef>
              <c:f>'Chart Data'!$A$2:$A$11</c:f>
              <c:strCache>
                <c:ptCount val="10"/>
                <c:pt idx="0">
                  <c:v>D1</c:v>
                </c:pt>
                <c:pt idx="1">
                  <c:v>D2</c:v>
                </c:pt>
                <c:pt idx="2">
                  <c:v>D3</c:v>
                </c:pt>
                <c:pt idx="3">
                  <c:v>D4</c:v>
                </c:pt>
                <c:pt idx="4">
                  <c:v>D5</c:v>
                </c:pt>
                <c:pt idx="5">
                  <c:v>D6</c:v>
                </c:pt>
                <c:pt idx="6">
                  <c:v>D7</c:v>
                </c:pt>
                <c:pt idx="7">
                  <c:v>D8</c:v>
                </c:pt>
                <c:pt idx="8">
                  <c:v>D9</c:v>
                </c:pt>
                <c:pt idx="9">
                  <c:v>D10</c:v>
                </c:pt>
              </c:strCache>
            </c:strRef>
          </c:cat>
          <c:val>
            <c:numRef>
              <c:f>'Chart Data'!$B$2:$B$11</c:f>
              <c:numCache>
                <c:formatCode>0.0%</c:formatCode>
                <c:ptCount val="10"/>
                <c:pt idx="0">
                  <c:v>0.1183333333</c:v>
                </c:pt>
                <c:pt idx="1">
                  <c:v>0.2083333333</c:v>
                </c:pt>
                <c:pt idx="2">
                  <c:v>0.2575</c:v>
                </c:pt>
                <c:pt idx="3">
                  <c:v>0.3033333333</c:v>
                </c:pt>
                <c:pt idx="4">
                  <c:v>0.365</c:v>
                </c:pt>
                <c:pt idx="5">
                  <c:v>0.4675</c:v>
                </c:pt>
                <c:pt idx="6">
                  <c:v>0.5183333333</c:v>
                </c:pt>
                <c:pt idx="7">
                  <c:v>0.5766666667</c:v>
                </c:pt>
                <c:pt idx="8">
                  <c:v>0.6816666667</c:v>
                </c:pt>
                <c:pt idx="9">
                  <c:v>0.8233333333</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00">
                <a:solidFill>
                  <a:srgbClr val="344B54"/>
                </a:solidFill>
                <a:latin typeface="Helvetica Neue"/>
                <a:ea typeface="Helvetica Neue"/>
                <a:cs typeface="Helvetica Neue"/>
              </a:defRPr>
            </a:pPr>
          </a:p>
        </c:txPr>
        <c:crossAx val="48672768"/>
      </c:catAx>
      <c:valAx>
        <c:axId val="48672768"/>
        <c:scaling>
          <c:orientation val="minMax"/>
          <c:max val="0.9"/>
          <c:min val="0"/>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585">
                <a:solidFill>
                  <a:srgbClr val="50636B"/>
                </a:solidFill>
                <a:latin typeface="Helvetica Neue"/>
                <a:ea typeface="Helvetica Neue"/>
                <a:cs typeface="Helvetica Neue"/>
              </a:defRPr>
            </a:pPr>
          </a:p>
        </c:txPr>
        <c:crossAx val="48650112"/>
        <c:crossBetween val="between"/>
        <c:majorUnit val="0.2"/>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606E2580-DC82-4E07-B0F0-E1C57EE64C8C}"/>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695F6CE-FFE7-4BB0-B411-93D95E572BF2}"/>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BA35BF8A-D15E-42B7-ADC8-1964916838E9}"/>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National Hospital Network project charter</a:t>
            </a:r>
          </a:p>
        </p:txBody>
      </p:sp>
      <p:sp>
        <p:nvSpPr>
          <p:cNvPr id="4" name="">
            <a:extLst xmlns:a="http://schemas.openxmlformats.org/drawingml/2006/main">
              <a:ext uri="{FF2B5EF4-FFF2-40B4-BE49-F238E27FC236}">
                <a16:creationId xmlns:a16="http://schemas.microsoft.com/office/drawing/2014/main" id="{317A2D8E-FB4B-41CC-977D-D31E5679FA66}"/>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r>
              <a:t/>
            </a:r>
          </a:p>
        </p:txBody>
      </p:sp>
      <p:sp>
        <p:nvSpPr>
          <p:cNvPr id="5" name="">
            <a:extLst xmlns:a="http://schemas.openxmlformats.org/drawingml/2006/main">
              <a:ext uri="{FF2B5EF4-FFF2-40B4-BE49-F238E27FC236}">
                <a16:creationId xmlns:a16="http://schemas.microsoft.com/office/drawing/2014/main" id="{3DD25391-40B4-42B2-9330-FF5DEF89F04F}"/>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F73BC7B-B9D4-4EAD-899C-5D46DC932898}"/>
              </a:ext>
            </a:extLst>
          </p:cNvPr>
          <p:cNvSpPr>
            <a:spLocks xmlns:a="http://schemas.openxmlformats.org/drawingml/2006/main" noGrp="1"/>
          </p:cNvSpPr>
          <p:nvPr/>
        </p:nvSpPr>
        <p:spPr>
          <a:xfrm xmlns:a="http://schemas.openxmlformats.org/drawingml/2006/main">
            <a:off x="514350" y="1724025"/>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650" b="1">
                <a:solidFill>
                  <a:srgbClr val="102A34"/>
                </a:solidFill>
                <a:latin typeface="Helvetica Neue"/>
                <a:ea typeface="Helvetica Neue"/>
                <a:cs typeface="Helvetica Neue"/>
              </a:defRPr>
            </a:pPr>
            <a:r>
              <a:rPr sz="1650" b="1">
                <a:solidFill>
                  <a:srgbClr val="102A34"/>
                </a:solidFill>
                <a:latin typeface="Helvetica Neue"/>
                <a:ea typeface="Helvetica Neue"/>
                <a:cs typeface="Helvetica Neue"/>
              </a:rPr>
              <a:t>Overview of the business</a:t>
            </a:r>
          </a:p>
        </p:txBody>
      </p:sp>
      <p:sp>
        <p:nvSpPr>
          <p:cNvPr id="7" name="">
            <a:extLst xmlns:a="http://schemas.openxmlformats.org/drawingml/2006/main">
              <a:ext uri="{FF2B5EF4-FFF2-40B4-BE49-F238E27FC236}">
                <a16:creationId xmlns:a16="http://schemas.microsoft.com/office/drawing/2014/main" id="{1229ECF0-8451-42D1-981B-D5EAF4C59638}"/>
              </a:ext>
            </a:extLst>
          </p:cNvPr>
          <p:cNvSpPr>
            <a:spLocks xmlns:a="http://schemas.openxmlformats.org/drawingml/2006/main" noGrp="1"/>
          </p:cNvSpPr>
          <p:nvPr/>
        </p:nvSpPr>
        <p:spPr>
          <a:xfrm xmlns:a="http://schemas.openxmlformats.org/drawingml/2006/main">
            <a:off x="514350" y="2076450"/>
            <a:ext cx="533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6000"/>
              </a:lnSpc>
              <a:buNone/>
              <a:defRPr sz="1013">
                <a:solidFill>
                  <a:srgbClr val="253B44"/>
                </a:solidFill>
                <a:latin typeface="Helvetica Neue"/>
                <a:ea typeface="Helvetica Neue"/>
                <a:cs typeface="Helvetica Neue"/>
              </a:defRPr>
            </a:pPr>
            <a:r>
              <a:rPr sz="1013">
                <a:solidFill>
                  <a:srgbClr val="253B44"/>
                </a:solidFill>
                <a:latin typeface="Helvetica Neue"/>
                <a:ea typeface="Helvetica Neue"/>
                <a:cs typeface="Helvetica Neue"/>
              </a:rPr>
              <a:t>NHN is a large integrated healthcare system serving patients across a broad hospital and outpatient network.</a:t>
            </a:r>
          </a:p>
        </p:txBody>
      </p:sp>
      <p:graphicFrame>
        <p:nvGraphicFramePr>
          <p:cNvPr id="29" name=""/>
          <p:cNvGraphicFramePr/>
          <p:nvPr/>
        </p:nvGraphicFramePr>
        <p:xfrm>
          <a:off xmlns:a="http://schemas.openxmlformats.org/drawingml/2006/main" x="514350" y="2609850"/>
          <a:ext xmlns:a="http://schemas.openxmlformats.org/drawingml/2006/main" cx="5543550" cy="1143000"/>
        </p:xfrm>
        <a:graphic xmlns:a="http://schemas.openxmlformats.org/drawingml/2006/main">
          <a:graphicData uri="http://schemas.openxmlformats.org/drawingml/2006/table">
            <a:tbl>
              <a:tblPr/>
              <a:tblGrid>
                <a:gridCol w="1385888"/>
                <a:gridCol w="1385888"/>
                <a:gridCol w="1385888"/>
                <a:gridCol w="1385888"/>
              </a:tblGrid>
              <a:tr h="571500">
                <a:tc>
                  <a:txBody>
                    <a:bodyPr lIns="66675" tIns="28575" rIns="57150" bIns="28575">
                      <a:noAutofit/>
                    </a:bodyPr>
                    <a:lstStyle/>
                    <a:p>
                      <a:pPr algn="ctr"/>
                      <a:r>
                        <a:rPr sz="1650" b="1">
                          <a:solidFill>
                            <a:srgbClr val="0F4C5C"/>
                          </a:solidFill>
                          <a:latin typeface="Helvetica Neue"/>
                          <a:ea typeface="Helvetica Neue"/>
                          <a:cs typeface="Helvetica Neue"/>
                        </a:rPr>
                        <a:t>42</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300+</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11</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2.3M</a:t>
                      </a:r>
                    </a:p>
                  </a:txBody>
                  <a:tcPr marL="91440" marR="91440" marT="45720" marB="45720" anchor="ctr">
                    <a:solidFill>
                      <a:srgbClr val="EEF6F7"/>
                    </a:solidFill>
                  </a:tcPr>
                </a:tc>
              </a:tr>
              <a:tr h="571500">
                <a:tc>
                  <a:txBody>
                    <a:bodyPr lIns="66675" tIns="28575" rIns="57150" bIns="28575">
                      <a:noAutofit/>
                    </a:bodyPr>
                    <a:lstStyle/>
                    <a:p>
                      <a:pPr algn="ctr"/>
                      <a:r>
                        <a:rPr sz="705" b="0">
                          <a:solidFill>
                            <a:srgbClr val="50636B"/>
                          </a:solidFill>
                          <a:latin typeface="Helvetica Neue"/>
                          <a:ea typeface="Helvetica Neue"/>
                          <a:cs typeface="Helvetica Neue"/>
                        </a:rPr>
                        <a:t>Hospitals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Outpatient sites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States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Patients per year</a:t>
                      </a:r>
                    </a:p>
                  </a:txBody>
                  <a:tcPr marL="91440" marR="91440" marT="45720" marB="45720" anchor="ctr">
                    <a:solidFill>
                      <a:srgbClr val="F8FBFC"/>
                    </a:solidFill>
                  </a:tcPr>
                </a:tc>
              </a:tr>
            </a:tbl>
          </a:graphicData>
        </a:graphic>
      </p:graphicFrame>
      <p:sp>
        <p:nvSpPr>
          <p:cNvPr id="9" name="">
            <a:extLst xmlns:a="http://schemas.openxmlformats.org/drawingml/2006/main">
              <a:ext uri="{FF2B5EF4-FFF2-40B4-BE49-F238E27FC236}">
                <a16:creationId xmlns:a16="http://schemas.microsoft.com/office/drawing/2014/main" id="{DD9E160F-55EA-441F-9727-52BBC96B2753}"/>
              </a:ext>
            </a:extLst>
          </p:cNvPr>
          <p:cNvSpPr>
            <a:spLocks xmlns:a="http://schemas.openxmlformats.org/drawingml/2006/main" noGrp="1"/>
          </p:cNvSpPr>
          <p:nvPr/>
        </p:nvSpPr>
        <p:spPr>
          <a:xfrm xmlns:a="http://schemas.openxmlformats.org/drawingml/2006/main">
            <a:off x="6515100" y="1724025"/>
            <a:ext cx="3714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650" b="1">
                <a:solidFill>
                  <a:srgbClr val="102A34"/>
                </a:solidFill>
                <a:latin typeface="Helvetica Neue"/>
                <a:ea typeface="Helvetica Neue"/>
                <a:cs typeface="Helvetica Neue"/>
              </a:defRPr>
            </a:pPr>
            <a:r>
              <a:rPr sz="1650" b="1">
                <a:solidFill>
                  <a:srgbClr val="102A34"/>
                </a:solidFill>
                <a:latin typeface="Helvetica Neue"/>
                <a:ea typeface="Helvetica Neue"/>
                <a:cs typeface="Helvetica Neue"/>
              </a:rPr>
              <a:t>Problem statement</a:t>
            </a:r>
          </a:p>
        </p:txBody>
      </p:sp>
      <p:sp>
        <p:nvSpPr>
          <p:cNvPr id="10" name="">
            <a:extLst xmlns:a="http://schemas.openxmlformats.org/drawingml/2006/main">
              <a:ext uri="{FF2B5EF4-FFF2-40B4-BE49-F238E27FC236}">
                <a16:creationId xmlns:a16="http://schemas.microsoft.com/office/drawing/2014/main" id="{296060D4-6312-4B83-A1A7-6406E585F7C6}"/>
              </a:ext>
            </a:extLst>
          </p:cNvPr>
          <p:cNvSpPr>
            <a:spLocks xmlns:a="http://schemas.openxmlformats.org/drawingml/2006/main" noGrp="1"/>
          </p:cNvSpPr>
          <p:nvPr/>
        </p:nvSpPr>
        <p:spPr>
          <a:xfrm xmlns:a="http://schemas.openxmlformats.org/drawingml/2006/main">
            <a:off x="6515100" y="20764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1005">
                <a:solidFill>
                  <a:srgbClr val="253B44"/>
                </a:solidFill>
                <a:latin typeface="Helvetica Neue"/>
                <a:ea typeface="Helvetica Neue"/>
                <a:cs typeface="Helvetica Neue"/>
              </a:defRPr>
            </a:pPr>
            <a:r>
              <a:rPr sz="1005">
                <a:solidFill>
                  <a:srgbClr val="253B44"/>
                </a:solidFill>
                <a:latin typeface="Helvetica Neue"/>
                <a:ea typeface="Helvetica Neue"/>
                <a:cs typeface="Helvetica Neue"/>
              </a:rPr>
              <a:t>Readmissions are rising despite investment in discharge planning, care coordination, and follow-up services.</a:t>
            </a:r>
          </a:p>
        </p:txBody>
      </p:sp>
      <p:graphicFrame>
        <p:nvGraphicFramePr>
          <p:cNvPr id="32" name="Chart"/>
          <p:cNvGraphicFramePr/>
          <p:nvPr/>
        </p:nvGraphicFramePr>
        <p:xfrm>
          <a:off xmlns:a="http://schemas.openxmlformats.org/drawingml/2006/main" x="6667500" y="2657475"/>
          <a:ext xmlns:a="http://schemas.openxmlformats.org/drawingml/2006/main" cx="4048125" cy="904875"/>
        </p:xfrm>
        <a:graphic xmlns:a="http://schemas.openxmlformats.org/drawingml/2006/main">
          <a:graphicData uri="http://schemas.openxmlformats.org/drawingml/2006/chart">
            <c:chart xmlns:r="http://schemas.openxmlformats.org/officeDocument/2006/relationships" xmlns:c="http://schemas.openxmlformats.org/drawingml/2006/chart" r:id="Rf51abda887bb431f"/>
          </a:graphicData>
        </a:graphic>
      </p:graphicFrame>
      <p:sp>
        <p:nvSpPr>
          <p:cNvPr id="12" name="">
            <a:extLst xmlns:a="http://schemas.openxmlformats.org/drawingml/2006/main">
              <a:ext uri="{FF2B5EF4-FFF2-40B4-BE49-F238E27FC236}">
                <a16:creationId xmlns:a16="http://schemas.microsoft.com/office/drawing/2014/main" id="{025F2AA4-4024-40D7-A0B4-4E57BA509B85}"/>
              </a:ext>
            </a:extLst>
          </p:cNvPr>
          <p:cNvSpPr>
            <a:spLocks xmlns:a="http://schemas.openxmlformats.org/drawingml/2006/main" noGrp="1"/>
          </p:cNvSpPr>
          <p:nvPr/>
        </p:nvSpPr>
        <p:spPr>
          <a:xfrm xmlns:a="http://schemas.openxmlformats.org/drawingml/2006/main">
            <a:off x="6515100" y="38385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00" b="1">
                <a:solidFill>
                  <a:srgbClr val="0F4C5C"/>
                </a:solidFill>
                <a:latin typeface="Helvetica Neue"/>
                <a:ea typeface="Helvetica Neue"/>
                <a:cs typeface="Helvetica Neue"/>
              </a:defRPr>
            </a:pPr>
            <a:r>
              <a:rPr sz="1200" b="1">
                <a:solidFill>
                  <a:srgbClr val="0F4C5C"/>
                </a:solidFill>
                <a:latin typeface="Helvetica Neue"/>
                <a:ea typeface="Helvetica Neue"/>
                <a:cs typeface="Helvetica Neue"/>
              </a:rPr>
              <a:t>Annual cost exposure: more than $42M</a:t>
            </a:r>
          </a:p>
        </p:txBody>
      </p:sp>
      <p:sp>
        <p:nvSpPr>
          <p:cNvPr id="13" name="">
            <a:extLst xmlns:a="http://schemas.openxmlformats.org/drawingml/2006/main">
              <a:ext uri="{FF2B5EF4-FFF2-40B4-BE49-F238E27FC236}">
                <a16:creationId xmlns:a16="http://schemas.microsoft.com/office/drawing/2014/main" id="{357BF4C1-91BD-4BF8-B61B-6A7BF8A66FD1}"/>
              </a:ext>
            </a:extLst>
          </p:cNvPr>
          <p:cNvSpPr>
            <a:spLocks xmlns:a="http://schemas.openxmlformats.org/drawingml/2006/main" noGrp="1"/>
          </p:cNvSpPr>
          <p:nvPr/>
        </p:nvSpPr>
        <p:spPr>
          <a:xfrm xmlns:a="http://schemas.openxmlformats.org/drawingml/2006/main">
            <a:off x="514350" y="4114800"/>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BF4EA0A-03CA-4A00-84B9-417595EE7D36}"/>
              </a:ext>
            </a:extLst>
          </p:cNvPr>
          <p:cNvSpPr>
            <a:spLocks xmlns:a="http://schemas.openxmlformats.org/drawingml/2006/main" noGrp="1"/>
          </p:cNvSpPr>
          <p:nvPr/>
        </p:nvSpPr>
        <p:spPr>
          <a:xfrm xmlns:a="http://schemas.openxmlformats.org/drawingml/2006/main">
            <a:off x="514350" y="437197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Team roles by workstream</a:t>
            </a:r>
          </a:p>
        </p:txBody>
      </p:sp>
      <p:graphicFrame>
        <p:nvGraphicFramePr>
          <p:cNvPr id="36" name=""/>
          <p:cNvGraphicFramePr/>
          <p:nvPr/>
        </p:nvGraphicFramePr>
        <p:xfrm>
          <a:off xmlns:a="http://schemas.openxmlformats.org/drawingml/2006/main" x="514350" y="4686300"/>
          <a:ext xmlns:a="http://schemas.openxmlformats.org/drawingml/2006/main" cx="5543550" cy="1609725"/>
        </p:xfrm>
        <a:graphic xmlns:a="http://schemas.openxmlformats.org/drawingml/2006/main">
          <a:graphicData uri="http://schemas.openxmlformats.org/drawingml/2006/table">
            <a:tbl>
              <a:tblPr/>
              <a:tblGrid>
                <a:gridCol w="2114550"/>
                <a:gridCol w="3429000"/>
              </a:tblGrid>
              <a:tr h="201216">
                <a:tc>
                  <a:txBody>
                    <a:bodyPr lIns="66675" tIns="28575" rIns="57150" bIns="28575">
                      <a:noAutofit/>
                    </a:bodyPr>
                    <a:lstStyle/>
                    <a:p>
                      <a:pPr algn="l"/>
                      <a:r>
                        <a:rPr sz="638" b="1">
                          <a:solidFill>
                            <a:srgbClr val="FFFFFF"/>
                          </a:solidFill>
                          <a:latin typeface="Helvetica Neue"/>
                          <a:ea typeface="Helvetica Neue"/>
                          <a:cs typeface="Helvetica Neue"/>
                        </a:rPr>
                        <a:t>Workstream</a:t>
                      </a:r>
                    </a:p>
                  </a:txBody>
                  <a:tcPr marL="91440" marR="91440" marT="45720" marB="45720" anchor="ctr">
                    <a:solidFill>
                      <a:srgbClr val="0F4C5C"/>
                    </a:solidFill>
                  </a:tcPr>
                </a:tc>
                <a:tc>
                  <a:txBody>
                    <a:bodyPr lIns="66675" tIns="28575" rIns="57150" bIns="28575">
                      <a:noAutofit/>
                    </a:bodyPr>
                    <a:lstStyle/>
                    <a:p>
                      <a:pPr algn="l"/>
                      <a:r>
                        <a:rPr sz="638" b="1">
                          <a:solidFill>
                            <a:srgbClr val="FFFFFF"/>
                          </a:solidFill>
                          <a:latin typeface="Helvetica Neue"/>
                          <a:ea typeface="Helvetica Neue"/>
                          <a:cs typeface="Helvetica Neue"/>
                        </a:rPr>
                        <a:t>Owner</a:t>
                      </a:r>
                    </a:p>
                  </a:txBody>
                  <a:tcPr marL="91440" marR="91440" marT="45720" marB="45720" anchor="ctr">
                    <a:solidFill>
                      <a:srgbClr val="0F4C5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Project lead and story</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Can He</a:t>
                      </a:r>
                    </a:p>
                  </a:txBody>
                  <a:tcPr marL="91440" marR="91440" marT="45720" marB="45720" anchor="ctr">
                    <a:solidFill>
                      <a:srgbClr val="EEF6F7"/>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Data preparation and EDA</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Belal Glab</a:t>
                      </a:r>
                    </a:p>
                  </a:txBody>
                  <a:tcPr marL="91440" marR="91440" marT="45720" marB="45720" anchor="ctr">
                    <a:solidFill>
                      <a:srgbClr val="F8FBF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Clinical risk analysis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Jingyi Cao</a:t>
                      </a:r>
                    </a:p>
                  </a:txBody>
                  <a:tcPr marL="91440" marR="91440" marT="45720" marB="45720" anchor="ctr">
                    <a:solidFill>
                      <a:srgbClr val="EEF6F7"/>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Predictive modeling</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Santosh Kumar Chantati</a:t>
                      </a:r>
                    </a:p>
                  </a:txBody>
                  <a:tcPr marL="91440" marR="91440" marT="45720" marB="45720" anchor="ctr">
                    <a:solidFill>
                      <a:srgbClr val="F8FBF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Financial impact and ROI</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Jeevan-Kumar Mittapalli</a:t>
                      </a:r>
                    </a:p>
                  </a:txBody>
                  <a:tcPr marL="91440" marR="91440" marT="45720" marB="45720" anchor="ctr">
                    <a:solidFill>
                      <a:srgbClr val="EEF6F7"/>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Care coordination operations</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Adarsh Pravinbhai Patel</a:t>
                      </a:r>
                    </a:p>
                  </a:txBody>
                  <a:tcPr marL="91440" marR="91440" marT="45720" marB="45720" anchor="ctr">
                    <a:solidFill>
                      <a:srgbClr val="F8FBF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Dashboard and recommendations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Sam-Aquila Siddani</a:t>
                      </a:r>
                    </a:p>
                  </a:txBody>
                  <a:tcPr marL="91440" marR="91440" marT="45720" marB="45720" anchor="ctr">
                    <a:solidFill>
                      <a:srgbClr val="EEF6F7"/>
                    </a:solidFill>
                  </a:tcPr>
                </a:tc>
              </a:tr>
            </a:tbl>
          </a:graphicData>
        </a:graphic>
      </p:graphicFrame>
      <p:sp>
        <p:nvSpPr>
          <p:cNvPr id="16" name="">
            <a:extLst xmlns:a="http://schemas.openxmlformats.org/drawingml/2006/main">
              <a:ext uri="{FF2B5EF4-FFF2-40B4-BE49-F238E27FC236}">
                <a16:creationId xmlns:a16="http://schemas.microsoft.com/office/drawing/2014/main" id="{A860BB2A-D996-43B3-B649-2838410A85BA}"/>
              </a:ext>
            </a:extLst>
          </p:cNvPr>
          <p:cNvSpPr>
            <a:spLocks xmlns:a="http://schemas.openxmlformats.org/drawingml/2006/main" noGrp="1"/>
          </p:cNvSpPr>
          <p:nvPr/>
        </p:nvSpPr>
        <p:spPr>
          <a:xfrm xmlns:a="http://schemas.openxmlformats.org/drawingml/2006/main">
            <a:off x="6515100" y="437197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Stakeholders</a:t>
            </a:r>
          </a:p>
        </p:txBody>
      </p:sp>
      <p:sp>
        <p:nvSpPr>
          <p:cNvPr id="17" name="">
            <a:extLst xmlns:a="http://schemas.openxmlformats.org/drawingml/2006/main">
              <a:ext uri="{FF2B5EF4-FFF2-40B4-BE49-F238E27FC236}">
                <a16:creationId xmlns:a16="http://schemas.microsoft.com/office/drawing/2014/main" id="{CC4E949B-6F6B-4269-B210-EF22F5D4694D}"/>
              </a:ext>
            </a:extLst>
          </p:cNvPr>
          <p:cNvSpPr>
            <a:spLocks xmlns:a="http://schemas.openxmlformats.org/drawingml/2006/main" noGrp="1"/>
          </p:cNvSpPr>
          <p:nvPr/>
        </p:nvSpPr>
        <p:spPr>
          <a:xfrm xmlns:a="http://schemas.openxmlformats.org/drawingml/2006/main">
            <a:off x="6591300" y="4733925"/>
            <a:ext cx="2095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Executive leadership and finance</a:t>
            </a:r>
          </a:p>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Clinical and operations teams</a:t>
            </a:r>
          </a:p>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Care coordinators and discharge planners</a:t>
            </a:r>
          </a:p>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Patients, caregivers, and community partners</a:t>
            </a:r>
          </a:p>
        </p:txBody>
      </p:sp>
      <p:sp>
        <p:nvSpPr>
          <p:cNvPr id="18" name="">
            <a:extLst xmlns:a="http://schemas.openxmlformats.org/drawingml/2006/main">
              <a:ext uri="{FF2B5EF4-FFF2-40B4-BE49-F238E27FC236}">
                <a16:creationId xmlns:a16="http://schemas.microsoft.com/office/drawing/2014/main" id="{460ED8ED-FAB3-4AEF-B93A-4C9A379C29EC}"/>
              </a:ext>
            </a:extLst>
          </p:cNvPr>
          <p:cNvSpPr>
            <a:spLocks xmlns:a="http://schemas.openxmlformats.org/drawingml/2006/main" noGrp="1"/>
          </p:cNvSpPr>
          <p:nvPr/>
        </p:nvSpPr>
        <p:spPr>
          <a:xfrm xmlns:a="http://schemas.openxmlformats.org/drawingml/2006/main">
            <a:off x="8991600" y="43719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Business hypothesis</a:t>
            </a:r>
          </a:p>
        </p:txBody>
      </p:sp>
      <p:sp>
        <p:nvSpPr>
          <p:cNvPr id="19" name="">
            <a:extLst xmlns:a="http://schemas.openxmlformats.org/drawingml/2006/main">
              <a:ext uri="{FF2B5EF4-FFF2-40B4-BE49-F238E27FC236}">
                <a16:creationId xmlns:a16="http://schemas.microsoft.com/office/drawing/2014/main" id="{CCDFDF6E-5126-4C40-A56F-F5EAF3109DBD}"/>
              </a:ext>
            </a:extLst>
          </p:cNvPr>
          <p:cNvSpPr>
            <a:spLocks xmlns:a="http://schemas.openxmlformats.org/drawingml/2006/main" noGrp="1"/>
          </p:cNvSpPr>
          <p:nvPr/>
        </p:nvSpPr>
        <p:spPr>
          <a:xfrm xmlns:a="http://schemas.openxmlformats.org/drawingml/2006/main">
            <a:off x="8991600" y="4733925"/>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Working belief: readmissions are rising because high-risk patients are not consistently matched to the right post-discharge support.</a:t>
            </a:r>
          </a:p>
        </p:txBody>
      </p:sp>
      <p:sp>
        <p:nvSpPr>
          <p:cNvPr id="20" name="">
            <a:extLst xmlns:a="http://schemas.openxmlformats.org/drawingml/2006/main">
              <a:ext uri="{FF2B5EF4-FFF2-40B4-BE49-F238E27FC236}">
                <a16:creationId xmlns:a16="http://schemas.microsoft.com/office/drawing/2014/main" id="{A89D705D-D518-4A90-96A5-001EE77B71E7}"/>
              </a:ext>
            </a:extLst>
          </p:cNvPr>
          <p:cNvSpPr>
            <a:spLocks xmlns:a="http://schemas.openxmlformats.org/drawingml/2006/main" noGrp="1"/>
          </p:cNvSpPr>
          <p:nvPr/>
        </p:nvSpPr>
        <p:spPr>
          <a:xfrm xmlns:a="http://schemas.openxmlformats.org/drawingml/2006/main">
            <a:off x="8991600" y="561022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Test focus: follow-up completion, chronic disease burden, and care coordination targeting.</a:t>
            </a:r>
          </a:p>
        </p:txBody>
      </p:sp>
      <p:sp>
        <p:nvSpPr>
          <p:cNvPr id="21" name="">
            <a:extLst xmlns:a="http://schemas.openxmlformats.org/drawingml/2006/main">
              <a:ext uri="{FF2B5EF4-FFF2-40B4-BE49-F238E27FC236}">
                <a16:creationId xmlns:a16="http://schemas.microsoft.com/office/drawing/2014/main" id="{92DB43B1-54DB-484D-AF20-025EFFF5CAE3}"/>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Option 1 Healthcare Consulting Packet and project summary</a:t>
            </a:r>
          </a:p>
        </p:txBody>
      </p:sp>
    </p:spTree>
    <p:extLst>
      <p:ext uri="{BB962C8B-B14F-4D97-AF65-F5344CB8AC3E}">
        <p14:creationId xmlns:p14="http://schemas.microsoft.com/office/powerpoint/2010/main" val="1410948838"/>
      </p:ext>
    </p:extLst>
  </p:cSld>
</p:sld>
</file>

<file path=ppt/slides/slide2.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98D0177-C3E3-4EB0-89A1-1641E9F5DF1B}"/>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3746EF9-4F03-4EF6-9988-14E903B1DF37}"/>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DB15A1B3-5E2F-41B8-A15A-E6FE61617BD0}"/>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Data analysis snapshot</a:t>
            </a:r>
          </a:p>
        </p:txBody>
      </p:sp>
      <p:sp>
        <p:nvSpPr>
          <p:cNvPr id="4" name="">
            <a:extLst xmlns:a="http://schemas.openxmlformats.org/drawingml/2006/main">
              <a:ext uri="{FF2B5EF4-FFF2-40B4-BE49-F238E27FC236}">
                <a16:creationId xmlns:a16="http://schemas.microsoft.com/office/drawing/2014/main" id="{BF0795ED-11BC-4B40-9B36-5208B807505B}"/>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088">
                <a:solidFill>
                  <a:srgbClr val="50636B"/>
                </a:solidFill>
                <a:latin typeface="Helvetica Neue"/>
                <a:ea typeface="Helvetica Neue"/>
                <a:cs typeface="Helvetica Neue"/>
              </a:defRPr>
            </a:pPr>
            <a:r>
              <a:rPr sz="1088">
                <a:solidFill>
                  <a:srgbClr val="50636B"/>
                </a:solidFill>
                <a:latin typeface="Helvetica Neue"/>
                <a:ea typeface="Helvetica Neue"/>
                <a:cs typeface="Helvetica Neue"/>
              </a:rPr>
              <a:t>Missing data, outliers, trends, and correlations</a:t>
            </a:r>
          </a:p>
        </p:txBody>
      </p:sp>
      <p:sp>
        <p:nvSpPr>
          <p:cNvPr id="5" name="">
            <a:extLst xmlns:a="http://schemas.openxmlformats.org/drawingml/2006/main">
              <a:ext uri="{FF2B5EF4-FFF2-40B4-BE49-F238E27FC236}">
                <a16:creationId xmlns:a16="http://schemas.microsoft.com/office/drawing/2014/main" id="{5C4D61CF-651D-49FE-AEEA-68B48B734BA8}"/>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graphicFrame>
        <p:nvGraphicFramePr>
          <p:cNvPr id="26" name=""/>
          <p:cNvGraphicFramePr/>
          <p:nvPr/>
        </p:nvGraphicFramePr>
        <p:xfrm>
          <a:off xmlns:a="http://schemas.openxmlformats.org/drawingml/2006/main" x="514350" y="1695450"/>
          <a:ext xmlns:a="http://schemas.openxmlformats.org/drawingml/2006/main" cx="10287000" cy="819150"/>
        </p:xfrm>
        <a:graphic xmlns:a="http://schemas.openxmlformats.org/drawingml/2006/main">
          <a:graphicData uri="http://schemas.openxmlformats.org/drawingml/2006/table">
            <a:tbl>
              <a:tblPr/>
              <a:tblGrid>
                <a:gridCol w="2571750"/>
                <a:gridCol w="2571750"/>
                <a:gridCol w="2571750"/>
                <a:gridCol w="2571750"/>
              </a:tblGrid>
              <a:tr h="409575">
                <a:tc>
                  <a:txBody>
                    <a:bodyPr lIns="66675" tIns="28575" rIns="57150" bIns="28575">
                      <a:noAutofit/>
                    </a:bodyPr>
                    <a:lstStyle/>
                    <a:p>
                      <a:pPr algn="ctr"/>
                      <a:r>
                        <a:rPr sz="1650" b="1">
                          <a:solidFill>
                            <a:srgbClr val="0F4C5C"/>
                          </a:solidFill>
                          <a:latin typeface="Helvetica Neue"/>
                          <a:ea typeface="Helvetica Neue"/>
                          <a:cs typeface="Helvetica Neue"/>
                        </a:rPr>
                        <a:t>12,000</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43.2%</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21.6%</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30.2%</a:t>
                      </a:r>
                    </a:p>
                  </a:txBody>
                  <a:tcPr marL="91440" marR="91440" marT="45720" marB="45720" anchor="ctr">
                    <a:solidFill>
                      <a:srgbClr val="EEF6F7"/>
                    </a:solidFill>
                  </a:tcPr>
                </a:tc>
              </a:tr>
              <a:tr h="409575">
                <a:tc>
                  <a:txBody>
                    <a:bodyPr lIns="66675" tIns="28575" rIns="57150" bIns="28575">
                      <a:noAutofit/>
                    </a:bodyPr>
                    <a:lstStyle/>
                    <a:p>
                      <a:pPr algn="ctr"/>
                      <a:r>
                        <a:rPr sz="705" b="0">
                          <a:solidFill>
                            <a:srgbClr val="50636B"/>
                          </a:solidFill>
                          <a:latin typeface="Helvetica Neue"/>
                          <a:ea typeface="Helvetica Neue"/>
                          <a:cs typeface="Helvetica Neue"/>
                        </a:rPr>
                        <a:t>Patients analyzed</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Readmitted within 30 days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Missing follow-up status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Rows with quality flags</a:t>
                      </a:r>
                    </a:p>
                  </a:txBody>
                  <a:tcPr marL="91440" marR="91440" marT="45720" marB="45720" anchor="ctr">
                    <a:solidFill>
                      <a:srgbClr val="F8FBFC"/>
                    </a:solidFill>
                  </a:tcPr>
                </a:tc>
              </a:tr>
            </a:tbl>
          </a:graphicData>
        </a:graphic>
      </p:graphicFrame>
      <p:sp>
        <p:nvSpPr>
          <p:cNvPr id="7" name="">
            <a:extLst xmlns:a="http://schemas.openxmlformats.org/drawingml/2006/main">
              <a:ext uri="{FF2B5EF4-FFF2-40B4-BE49-F238E27FC236}">
                <a16:creationId xmlns:a16="http://schemas.microsoft.com/office/drawing/2014/main" id="{F0402867-5A24-4721-B439-3AF9D7A10B37}"/>
              </a:ext>
            </a:extLst>
          </p:cNvPr>
          <p:cNvSpPr>
            <a:spLocks xmlns:a="http://schemas.openxmlformats.org/drawingml/2006/main" noGrp="1"/>
          </p:cNvSpPr>
          <p:nvPr/>
        </p:nvSpPr>
        <p:spPr>
          <a:xfrm xmlns:a="http://schemas.openxmlformats.org/drawingml/2006/main">
            <a:off x="514350" y="2771775"/>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FCBBE16-C64C-41B3-8CC4-3ED12B27CA9F}"/>
              </a:ext>
            </a:extLst>
          </p:cNvPr>
          <p:cNvSpPr>
            <a:spLocks xmlns:a="http://schemas.openxmlformats.org/drawingml/2006/main" noGrp="1"/>
          </p:cNvSpPr>
          <p:nvPr/>
        </p:nvSpPr>
        <p:spPr>
          <a:xfrm xmlns:a="http://schemas.openxmlformats.org/drawingml/2006/main">
            <a:off x="514350" y="30099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Data quality checks</a:t>
            </a:r>
          </a:p>
        </p:txBody>
      </p:sp>
      <p:graphicFrame>
        <p:nvGraphicFramePr>
          <p:cNvPr id="29" name=""/>
          <p:cNvGraphicFramePr/>
          <p:nvPr/>
        </p:nvGraphicFramePr>
        <p:xfrm>
          <a:off xmlns:a="http://schemas.openxmlformats.org/drawingml/2006/main" x="514350" y="3362325"/>
          <a:ext xmlns:a="http://schemas.openxmlformats.org/drawingml/2006/main" cx="3714750" cy="1600200"/>
        </p:xfrm>
        <a:graphic xmlns:a="http://schemas.openxmlformats.org/drawingml/2006/main">
          <a:graphicData uri="http://schemas.openxmlformats.org/drawingml/2006/table">
            <a:tbl>
              <a:tblPr/>
              <a:tblGrid>
                <a:gridCol w="1666875"/>
                <a:gridCol w="885825"/>
                <a:gridCol w="1162050"/>
              </a:tblGrid>
              <a:tr h="266700">
                <a:tc>
                  <a:txBody>
                    <a:bodyPr lIns="66675" tIns="28575" rIns="57150" bIns="28575">
                      <a:noAutofit/>
                    </a:bodyPr>
                    <a:lstStyle/>
                    <a:p>
                      <a:pPr algn="l"/>
                      <a:r>
                        <a:rPr sz="690" b="1">
                          <a:solidFill>
                            <a:srgbClr val="FFFFFF"/>
                          </a:solidFill>
                          <a:latin typeface="Helvetica Neue"/>
                          <a:ea typeface="Helvetica Neue"/>
                          <a:cs typeface="Helvetica Neue"/>
                        </a:rPr>
                        <a:t>Check</a:t>
                      </a:r>
                    </a:p>
                  </a:txBody>
                  <a:tcPr marL="91440" marR="91440" marT="45720" marB="45720" anchor="ctr">
                    <a:solidFill>
                      <a:srgbClr val="0F4C5C"/>
                    </a:solidFill>
                  </a:tcPr>
                </a:tc>
                <a:tc>
                  <a:txBody>
                    <a:bodyPr lIns="66675" tIns="28575" rIns="57150" bIns="28575">
                      <a:noAutofit/>
                    </a:bodyPr>
                    <a:lstStyle/>
                    <a:p>
                      <a:pPr algn="l"/>
                      <a:r>
                        <a:rPr sz="690" b="1">
                          <a:solidFill>
                            <a:srgbClr val="FFFFFF"/>
                          </a:solidFill>
                          <a:latin typeface="Helvetica Neue"/>
                          <a:ea typeface="Helvetica Neue"/>
                          <a:cs typeface="Helvetica Neue"/>
                        </a:rPr>
                        <a:t>Scale</a:t>
                      </a:r>
                    </a:p>
                  </a:txBody>
                  <a:tcPr marL="91440" marR="91440" marT="45720" marB="45720" anchor="ctr">
                    <a:solidFill>
                      <a:srgbClr val="0F4C5C"/>
                    </a:solidFill>
                  </a:tcPr>
                </a:tc>
                <a:tc>
                  <a:txBody>
                    <a:bodyPr lIns="66675" tIns="28575" rIns="57150" bIns="28575">
                      <a:noAutofit/>
                    </a:bodyPr>
                    <a:lstStyle/>
                    <a:p>
                      <a:pPr algn="l"/>
                      <a:r>
                        <a:rPr sz="690" b="1">
                          <a:solidFill>
                            <a:srgbClr val="FFFFFF"/>
                          </a:solidFill>
                          <a:latin typeface="Helvetica Neue"/>
                          <a:ea typeface="Helvetica Neue"/>
                          <a:cs typeface="Helvetica Neue"/>
                        </a:rPr>
                        <a:t>Meaning</a:t>
                      </a:r>
                    </a:p>
                  </a:txBody>
                  <a:tcPr marL="91440" marR="91440" marT="45720" marB="45720" anchor="ctr">
                    <a:solidFill>
                      <a:srgbClr val="0F4C5C"/>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Missing follow-up status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2,587 rows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Care transition visibility gap</a:t>
                      </a:r>
                    </a:p>
                  </a:txBody>
                  <a:tcPr marL="91440" marR="91440" marT="45720" marB="45720" anchor="ctr">
                    <a:solidFill>
                      <a:srgbClr val="EEF6F7"/>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Other missing fields</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1.5-2.0%</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Use cleaned/imputed file</a:t>
                      </a:r>
                    </a:p>
                  </a:txBody>
                  <a:tcPr marL="91440" marR="91440" marT="45720" marB="45720" anchor="ctr">
                    <a:solidFill>
                      <a:srgbClr val="F8FBFC"/>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Length-of-stay outliers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191 rows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Review extended stays</a:t>
                      </a:r>
                    </a:p>
                  </a:txBody>
                  <a:tcPr marL="91440" marR="91440" marT="45720" marB="45720" anchor="ctr">
                    <a:solidFill>
                      <a:srgbClr val="EEF6F7"/>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Total care cost outliers</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72 rows</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Protect ROI estimates</a:t>
                      </a:r>
                    </a:p>
                  </a:txBody>
                  <a:tcPr marL="91440" marR="91440" marT="45720" marB="45720" anchor="ctr">
                    <a:solidFill>
                      <a:srgbClr val="F8FBFC"/>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Negative penalty cost</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49 rows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Validate financial extract</a:t>
                      </a:r>
                    </a:p>
                  </a:txBody>
                  <a:tcPr marL="91440" marR="91440" marT="45720" marB="45720" anchor="ctr">
                    <a:solidFill>
                      <a:srgbClr val="EEF6F7"/>
                    </a:solidFill>
                  </a:tcPr>
                </a:tc>
              </a:tr>
            </a:tbl>
          </a:graphicData>
        </a:graphic>
      </p:graphicFrame>
      <p:sp>
        <p:nvSpPr>
          <p:cNvPr id="10" name="">
            <a:extLst xmlns:a="http://schemas.openxmlformats.org/drawingml/2006/main">
              <a:ext uri="{FF2B5EF4-FFF2-40B4-BE49-F238E27FC236}">
                <a16:creationId xmlns:a16="http://schemas.microsoft.com/office/drawing/2014/main" id="{AF50E18D-9567-4659-8FCF-F72B84B1D65E}"/>
              </a:ext>
            </a:extLst>
          </p:cNvPr>
          <p:cNvSpPr>
            <a:spLocks xmlns:a="http://schemas.openxmlformats.org/drawingml/2006/main" noGrp="1"/>
          </p:cNvSpPr>
          <p:nvPr/>
        </p:nvSpPr>
        <p:spPr>
          <a:xfrm xmlns:a="http://schemas.openxmlformats.org/drawingml/2006/main">
            <a:off x="514350" y="5095875"/>
            <a:ext cx="3714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03">
                <a:solidFill>
                  <a:srgbClr val="50636B"/>
                </a:solidFill>
                <a:latin typeface="Helvetica Neue"/>
                <a:ea typeface="Helvetica Neue"/>
                <a:cs typeface="Helvetica Neue"/>
              </a:defRPr>
            </a:pPr>
            <a:r>
              <a:rPr sz="803">
                <a:solidFill>
                  <a:srgbClr val="50636B"/>
                </a:solidFill>
                <a:latin typeface="Helvetica Neue"/>
                <a:ea typeface="Helvetica Neue"/>
                <a:cs typeface="Helvetica Neue"/>
              </a:rPr>
              <a:t>Interpretation: data is usable, but follow-up status and financial fields need validation before final recommendations.</a:t>
            </a:r>
          </a:p>
        </p:txBody>
      </p:sp>
      <p:sp>
        <p:nvSpPr>
          <p:cNvPr id="11" name="">
            <a:extLst xmlns:a="http://schemas.openxmlformats.org/drawingml/2006/main">
              <a:ext uri="{FF2B5EF4-FFF2-40B4-BE49-F238E27FC236}">
                <a16:creationId xmlns:a16="http://schemas.microsoft.com/office/drawing/2014/main" id="{304F1B4E-2614-4BBD-91B6-E6E221F688C6}"/>
              </a:ext>
            </a:extLst>
          </p:cNvPr>
          <p:cNvSpPr>
            <a:spLocks xmlns:a="http://schemas.openxmlformats.org/drawingml/2006/main" noGrp="1"/>
          </p:cNvSpPr>
          <p:nvPr/>
        </p:nvSpPr>
        <p:spPr>
          <a:xfrm xmlns:a="http://schemas.openxmlformats.org/drawingml/2006/main">
            <a:off x="4629150" y="30099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High-risk trend by segment</a:t>
            </a:r>
          </a:p>
        </p:txBody>
      </p:sp>
      <p:graphicFrame>
        <p:nvGraphicFramePr>
          <p:cNvPr id="32" name="Chart"/>
          <p:cNvGraphicFramePr/>
          <p:nvPr/>
        </p:nvGraphicFramePr>
        <p:xfrm>
          <a:off xmlns:a="http://schemas.openxmlformats.org/drawingml/2006/main" x="4629150" y="3352800"/>
          <a:ext xmlns:a="http://schemas.openxmlformats.org/drawingml/2006/main" cx="3905250" cy="1924050"/>
        </p:xfrm>
        <a:graphic xmlns:a="http://schemas.openxmlformats.org/drawingml/2006/main">
          <a:graphicData uri="http://schemas.openxmlformats.org/drawingml/2006/chart">
            <c:chart xmlns:r="http://schemas.openxmlformats.org/officeDocument/2006/relationships" xmlns:c="http://schemas.openxmlformats.org/drawingml/2006/chart" r:id="R7a90cc35ad0f46be"/>
          </a:graphicData>
        </a:graphic>
      </p:graphicFrame>
      <p:sp>
        <p:nvSpPr>
          <p:cNvPr id="13" name="">
            <a:extLst xmlns:a="http://schemas.openxmlformats.org/drawingml/2006/main">
              <a:ext uri="{FF2B5EF4-FFF2-40B4-BE49-F238E27FC236}">
                <a16:creationId xmlns:a16="http://schemas.microsoft.com/office/drawing/2014/main" id="{6E50017F-6762-45C8-BFA4-89706D5C2188}"/>
              </a:ext>
            </a:extLst>
          </p:cNvPr>
          <p:cNvSpPr>
            <a:spLocks xmlns:a="http://schemas.openxmlformats.org/drawingml/2006/main" noGrp="1"/>
          </p:cNvSpPr>
          <p:nvPr/>
        </p:nvSpPr>
        <p:spPr>
          <a:xfrm xmlns:a="http://schemas.openxmlformats.org/drawingml/2006/main">
            <a:off x="4629150" y="5391150"/>
            <a:ext cx="390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803">
                <a:solidFill>
                  <a:srgbClr val="50636B"/>
                </a:solidFill>
                <a:latin typeface="Helvetica Neue"/>
                <a:ea typeface="Helvetica Neue"/>
                <a:cs typeface="Helvetica Neue"/>
              </a:defRPr>
            </a:pPr>
            <a:r>
              <a:rPr sz="803">
                <a:solidFill>
                  <a:srgbClr val="50636B"/>
                </a:solidFill>
                <a:latin typeface="Helvetica Neue"/>
                <a:ea typeface="Helvetica Neue"/>
                <a:cs typeface="Helvetica Neue"/>
              </a:rPr>
              <a:t>These segments show where readmission risk concentrates before modeling.</a:t>
            </a:r>
          </a:p>
        </p:txBody>
      </p:sp>
      <p:sp>
        <p:nvSpPr>
          <p:cNvPr id="14" name="">
            <a:extLst xmlns:a="http://schemas.openxmlformats.org/drawingml/2006/main">
              <a:ext uri="{FF2B5EF4-FFF2-40B4-BE49-F238E27FC236}">
                <a16:creationId xmlns:a16="http://schemas.microsoft.com/office/drawing/2014/main" id="{F4D1B179-7E99-4138-9009-1553E0EAB6A9}"/>
              </a:ext>
            </a:extLst>
          </p:cNvPr>
          <p:cNvSpPr>
            <a:spLocks xmlns:a="http://schemas.openxmlformats.org/drawingml/2006/main" noGrp="1"/>
          </p:cNvSpPr>
          <p:nvPr/>
        </p:nvSpPr>
        <p:spPr>
          <a:xfrm xmlns:a="http://schemas.openxmlformats.org/drawingml/2006/main">
            <a:off x="8915400" y="300990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Correlation signals</a:t>
            </a:r>
          </a:p>
        </p:txBody>
      </p:sp>
      <p:graphicFrame>
        <p:nvGraphicFramePr>
          <p:cNvPr id="35" name="Chart"/>
          <p:cNvGraphicFramePr/>
          <p:nvPr/>
        </p:nvGraphicFramePr>
        <p:xfrm>
          <a:off xmlns:a="http://schemas.openxmlformats.org/drawingml/2006/main" x="8858250" y="3352800"/>
          <a:ext xmlns:a="http://schemas.openxmlformats.org/drawingml/2006/main" cx="1943100" cy="1257300"/>
        </p:xfrm>
        <a:graphic xmlns:a="http://schemas.openxmlformats.org/drawingml/2006/main">
          <a:graphicData uri="http://schemas.openxmlformats.org/drawingml/2006/chart">
            <c:chart xmlns:r="http://schemas.openxmlformats.org/officeDocument/2006/relationships" xmlns:c="http://schemas.openxmlformats.org/drawingml/2006/chart" r:id="Re82274e37e864c11"/>
          </a:graphicData>
        </a:graphic>
      </p:graphicFrame>
      <p:sp>
        <p:nvSpPr>
          <p:cNvPr id="16" name="">
            <a:extLst xmlns:a="http://schemas.openxmlformats.org/drawingml/2006/main">
              <a:ext uri="{FF2B5EF4-FFF2-40B4-BE49-F238E27FC236}">
                <a16:creationId xmlns:a16="http://schemas.microsoft.com/office/drawing/2014/main" id="{34921299-E135-4E8F-B1E6-48EA37BB534C}"/>
              </a:ext>
            </a:extLst>
          </p:cNvPr>
          <p:cNvSpPr>
            <a:spLocks xmlns:a="http://schemas.openxmlformats.org/drawingml/2006/main" noGrp="1"/>
          </p:cNvSpPr>
          <p:nvPr/>
        </p:nvSpPr>
        <p:spPr>
          <a:xfrm xmlns:a="http://schemas.openxmlformats.org/drawingml/2006/main">
            <a:off x="8915400" y="4810125"/>
            <a:ext cx="1952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788">
                <a:solidFill>
                  <a:srgbClr val="50636B"/>
                </a:solidFill>
                <a:latin typeface="Helvetica Neue"/>
                <a:ea typeface="Helvetica Neue"/>
                <a:cs typeface="Helvetica Neue"/>
              </a:defRPr>
            </a:pPr>
            <a:r>
              <a:rPr sz="788">
                <a:solidFill>
                  <a:srgbClr val="50636B"/>
                </a:solidFill>
                <a:latin typeface="Helvetica Neue"/>
                <a:ea typeface="Helvetica Neue"/>
                <a:cs typeface="Helvetica Neue"/>
              </a:rPr>
              <a:t>Prior admissions and chronic burden show the strongest early relationship with readmission.</a:t>
            </a:r>
          </a:p>
        </p:txBody>
      </p:sp>
      <p:sp>
        <p:nvSpPr>
          <p:cNvPr id="17" name="">
            <a:extLst xmlns:a="http://schemas.openxmlformats.org/drawingml/2006/main">
              <a:ext uri="{FF2B5EF4-FFF2-40B4-BE49-F238E27FC236}">
                <a16:creationId xmlns:a16="http://schemas.microsoft.com/office/drawing/2014/main" id="{7540CB38-5626-417E-8D5F-E226F235290E}"/>
              </a:ext>
            </a:extLst>
          </p:cNvPr>
          <p:cNvSpPr>
            <a:spLocks xmlns:a="http://schemas.openxmlformats.org/drawingml/2006/main" noGrp="1"/>
          </p:cNvSpPr>
          <p:nvPr/>
        </p:nvSpPr>
        <p:spPr>
          <a:xfrm xmlns:a="http://schemas.openxmlformats.org/drawingml/2006/main">
            <a:off x="514350" y="5800725"/>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E3D65CC-E374-4074-9DB2-8B2A02F63556}"/>
              </a:ext>
            </a:extLst>
          </p:cNvPr>
          <p:cNvSpPr>
            <a:spLocks xmlns:a="http://schemas.openxmlformats.org/drawingml/2006/main" noGrp="1"/>
          </p:cNvSpPr>
          <p:nvPr/>
        </p:nvSpPr>
        <p:spPr>
          <a:xfrm xmlns:a="http://schemas.openxmlformats.org/drawingml/2006/main">
            <a:off x="514350" y="601980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00" b="1">
                <a:solidFill>
                  <a:srgbClr val="102A34"/>
                </a:solidFill>
                <a:latin typeface="Helvetica Neue"/>
                <a:ea typeface="Helvetica Neue"/>
                <a:cs typeface="Helvetica Neue"/>
              </a:defRPr>
            </a:pPr>
            <a:r>
              <a:rPr sz="1200" b="1">
                <a:solidFill>
                  <a:srgbClr val="102A34"/>
                </a:solidFill>
                <a:latin typeface="Helvetica Neue"/>
                <a:ea typeface="Helvetica Neue"/>
                <a:cs typeface="Helvetica Neue"/>
              </a:rPr>
              <a:t>Analytical implication</a:t>
            </a:r>
          </a:p>
        </p:txBody>
      </p:sp>
      <p:sp>
        <p:nvSpPr>
          <p:cNvPr id="19" name="">
            <a:extLst xmlns:a="http://schemas.openxmlformats.org/drawingml/2006/main">
              <a:ext uri="{FF2B5EF4-FFF2-40B4-BE49-F238E27FC236}">
                <a16:creationId xmlns:a16="http://schemas.microsoft.com/office/drawing/2014/main" id="{08946074-F8F0-4F6A-A346-7B47FEF48D5F}"/>
              </a:ext>
            </a:extLst>
          </p:cNvPr>
          <p:cNvSpPr>
            <a:spLocks xmlns:a="http://schemas.openxmlformats.org/drawingml/2006/main" noGrp="1"/>
          </p:cNvSpPr>
          <p:nvPr/>
        </p:nvSpPr>
        <p:spPr>
          <a:xfrm xmlns:a="http://schemas.openxmlformats.org/drawingml/2006/main">
            <a:off x="2533650" y="60388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15">
                <a:solidFill>
                  <a:srgbClr val="253B44"/>
                </a:solidFill>
                <a:latin typeface="Helvetica Neue"/>
                <a:ea typeface="Helvetica Neue"/>
                <a:cs typeface="Helvetica Neue"/>
              </a:defRPr>
            </a:pPr>
            <a:r>
              <a:rPr sz="915">
                <a:solidFill>
                  <a:srgbClr val="253B44"/>
                </a:solidFill>
                <a:latin typeface="Helvetica Neue"/>
                <a:ea typeface="Helvetica Neue"/>
                <a:cs typeface="Helvetica Neue"/>
              </a:rPr>
              <a:t>Focus the next analysis on patient risk profiles and care-transition gaps, while treating financial estimates as validation-sensitive.</a:t>
            </a:r>
          </a:p>
        </p:txBody>
      </p:sp>
      <p:sp>
        <p:nvSpPr>
          <p:cNvPr id="20" name="">
            <a:extLst xmlns:a="http://schemas.openxmlformats.org/drawingml/2006/main">
              <a:ext uri="{FF2B5EF4-FFF2-40B4-BE49-F238E27FC236}">
                <a16:creationId xmlns:a16="http://schemas.microsoft.com/office/drawing/2014/main" id="{423DB0D5-DD70-44FB-8C46-F60FA4B6EB37}"/>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cleaned NHN patient, financial, and care coordination datasets; clinical segment analysis</a:t>
            </a:r>
          </a:p>
        </p:txBody>
      </p:sp>
    </p:spTree>
    <p:extLst>
      <p:ext uri="{BB962C8B-B14F-4D97-AF65-F5344CB8AC3E}">
        <p14:creationId xmlns:p14="http://schemas.microsoft.com/office/powerpoint/2010/main" val="24911965"/>
      </p:ext>
    </p:extLst>
  </p:cSld>
</p:sld>
</file>

<file path=ppt/slides/slide3.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3EADE791-1FCA-4A7C-988A-DC66C7251EC9}"/>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62B1A9E-7F6D-4B86-A424-C21C7BBB629A}"/>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0A5B2C4E-923B-4B81-B483-499EA8D9BDBD}"/>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Analytical approach</a:t>
            </a:r>
          </a:p>
        </p:txBody>
      </p:sp>
      <p:sp>
        <p:nvSpPr>
          <p:cNvPr id="4" name="">
            <a:extLst xmlns:a="http://schemas.openxmlformats.org/drawingml/2006/main">
              <a:ext uri="{FF2B5EF4-FFF2-40B4-BE49-F238E27FC236}">
                <a16:creationId xmlns:a16="http://schemas.microsoft.com/office/drawing/2014/main" id="{1203CE1E-4D56-475E-9673-1A7FE053537D}"/>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088">
                <a:solidFill>
                  <a:srgbClr val="50636B"/>
                </a:solidFill>
                <a:latin typeface="Helvetica Neue"/>
                <a:ea typeface="Helvetica Neue"/>
                <a:cs typeface="Helvetica Neue"/>
              </a:defRPr>
            </a:pPr>
            <a:r>
              <a:rPr sz="1088">
                <a:solidFill>
                  <a:srgbClr val="50636B"/>
                </a:solidFill>
                <a:latin typeface="Helvetica Neue"/>
                <a:ea typeface="Helvetica Neue"/>
                <a:cs typeface="Helvetica Neue"/>
              </a:rPr>
              <a:t>Methods chosen to connect risk drivers with business decisions</a:t>
            </a:r>
          </a:p>
        </p:txBody>
      </p:sp>
      <p:sp>
        <p:nvSpPr>
          <p:cNvPr id="5" name="">
            <a:extLst xmlns:a="http://schemas.openxmlformats.org/drawingml/2006/main">
              <a:ext uri="{FF2B5EF4-FFF2-40B4-BE49-F238E27FC236}">
                <a16:creationId xmlns:a16="http://schemas.microsoft.com/office/drawing/2014/main" id="{A6EE068A-C9F2-41F6-89E5-9887CCA81EF2}"/>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F68A4D7-1511-47C5-B98A-5CFF9F121F1B}"/>
              </a:ext>
            </a:extLst>
          </p:cNvPr>
          <p:cNvSpPr>
            <a:spLocks xmlns:a="http://schemas.openxmlformats.org/drawingml/2006/main" noGrp="1"/>
          </p:cNvSpPr>
          <p:nvPr/>
        </p:nvSpPr>
        <p:spPr>
          <a:xfrm xmlns:a="http://schemas.openxmlformats.org/drawingml/2006/main">
            <a:off x="514350" y="1743075"/>
            <a:ext cx="5048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Why this approach fits the NHN problem</a:t>
            </a:r>
          </a:p>
        </p:txBody>
      </p:sp>
      <p:sp>
        <p:nvSpPr>
          <p:cNvPr id="7" name="">
            <a:extLst xmlns:a="http://schemas.openxmlformats.org/drawingml/2006/main">
              <a:ext uri="{FF2B5EF4-FFF2-40B4-BE49-F238E27FC236}">
                <a16:creationId xmlns:a16="http://schemas.microsoft.com/office/drawing/2014/main" id="{08ED6BDF-493D-4FCB-A28B-9EC8837C158B}"/>
              </a:ext>
            </a:extLst>
          </p:cNvPr>
          <p:cNvSpPr>
            <a:spLocks xmlns:a="http://schemas.openxmlformats.org/drawingml/2006/main" noGrp="1"/>
          </p:cNvSpPr>
          <p:nvPr/>
        </p:nvSpPr>
        <p:spPr>
          <a:xfrm xmlns:a="http://schemas.openxmlformats.org/drawingml/2006/main">
            <a:off x="514350" y="2095500"/>
            <a:ext cx="53816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953">
                <a:solidFill>
                  <a:srgbClr val="253B44"/>
                </a:solidFill>
                <a:latin typeface="Helvetica Neue"/>
                <a:ea typeface="Helvetica Neue"/>
                <a:cs typeface="Helvetica Neue"/>
              </a:defRPr>
            </a:pPr>
            <a:r>
              <a:rPr sz="953">
                <a:solidFill>
                  <a:srgbClr val="253B44"/>
                </a:solidFill>
                <a:latin typeface="Helvetica Neue"/>
                <a:ea typeface="Helvetica Neue"/>
                <a:cs typeface="Helvetica Neue"/>
              </a:rPr>
              <a:t>Readmissions combine clinical risk, utilization history, discharge setting, care-transition activity, and financial exposure. The approach needs to explain drivers, group patients into action pools, and compare business value across scenarios.</a:t>
            </a:r>
          </a:p>
        </p:txBody>
      </p:sp>
      <p:sp>
        <p:nvSpPr>
          <p:cNvPr id="8" name="">
            <a:extLst xmlns:a="http://schemas.openxmlformats.org/drawingml/2006/main">
              <a:ext uri="{FF2B5EF4-FFF2-40B4-BE49-F238E27FC236}">
                <a16:creationId xmlns:a16="http://schemas.microsoft.com/office/drawing/2014/main" id="{0A991127-B45B-483F-98FC-4A96A61FFC40}"/>
              </a:ext>
            </a:extLst>
          </p:cNvPr>
          <p:cNvSpPr>
            <a:spLocks xmlns:a="http://schemas.openxmlformats.org/drawingml/2006/main" noGrp="1"/>
          </p:cNvSpPr>
          <p:nvPr/>
        </p:nvSpPr>
        <p:spPr>
          <a:xfrm xmlns:a="http://schemas.openxmlformats.org/drawingml/2006/main">
            <a:off x="6534150" y="1743075"/>
            <a:ext cx="4191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Model performance evidence</a:t>
            </a:r>
          </a:p>
        </p:txBody>
      </p:sp>
      <p:graphicFrame>
        <p:nvGraphicFramePr>
          <p:cNvPr id="36" name="Chart"/>
          <p:cNvGraphicFramePr/>
          <p:nvPr/>
        </p:nvGraphicFramePr>
        <p:xfrm>
          <a:off xmlns:a="http://schemas.openxmlformats.org/drawingml/2006/main" x="6515100" y="2095500"/>
          <a:ext xmlns:a="http://schemas.openxmlformats.org/drawingml/2006/main" cx="4286250" cy="1352550"/>
        </p:xfrm>
        <a:graphic xmlns:a="http://schemas.openxmlformats.org/drawingml/2006/main">
          <a:graphicData uri="http://schemas.openxmlformats.org/drawingml/2006/chart">
            <c:chart xmlns:r="http://schemas.openxmlformats.org/officeDocument/2006/relationships" xmlns:c="http://schemas.openxmlformats.org/drawingml/2006/chart" r:id="R716022696a6246de"/>
          </a:graphicData>
        </a:graphic>
      </p:graphicFrame>
      <p:sp>
        <p:nvSpPr>
          <p:cNvPr id="10" name="">
            <a:extLst xmlns:a="http://schemas.openxmlformats.org/drawingml/2006/main">
              <a:ext uri="{FF2B5EF4-FFF2-40B4-BE49-F238E27FC236}">
                <a16:creationId xmlns:a16="http://schemas.microsoft.com/office/drawing/2014/main" id="{9F538C61-6FC7-482C-9ECC-10192492928A}"/>
              </a:ext>
            </a:extLst>
          </p:cNvPr>
          <p:cNvSpPr>
            <a:spLocks xmlns:a="http://schemas.openxmlformats.org/drawingml/2006/main" noGrp="1"/>
          </p:cNvSpPr>
          <p:nvPr/>
        </p:nvSpPr>
        <p:spPr>
          <a:xfrm xmlns:a="http://schemas.openxmlformats.org/drawingml/2006/main">
            <a:off x="6534150" y="3505200"/>
            <a:ext cx="4143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03">
                <a:solidFill>
                  <a:srgbClr val="50636B"/>
                </a:solidFill>
                <a:latin typeface="Helvetica Neue"/>
                <a:ea typeface="Helvetica Neue"/>
                <a:cs typeface="Helvetica Neue"/>
              </a:defRPr>
            </a:pPr>
            <a:r>
              <a:rPr sz="803">
                <a:solidFill>
                  <a:srgbClr val="50636B"/>
                </a:solidFill>
                <a:latin typeface="Helvetica Neue"/>
                <a:ea typeface="Helvetica Neue"/>
                <a:cs typeface="Helvetica Neue"/>
              </a:rPr>
              <a:t>Expanded model improves ROC-AUC to 0.74, giving a stronger basis for risk-tier decisions.</a:t>
            </a:r>
          </a:p>
        </p:txBody>
      </p:sp>
      <p:sp>
        <p:nvSpPr>
          <p:cNvPr id="11" name="">
            <a:extLst xmlns:a="http://schemas.openxmlformats.org/drawingml/2006/main">
              <a:ext uri="{FF2B5EF4-FFF2-40B4-BE49-F238E27FC236}">
                <a16:creationId xmlns:a16="http://schemas.microsoft.com/office/drawing/2014/main" id="{2271EDD3-C45B-4EEC-B8CD-D084362188B1}"/>
              </a:ext>
            </a:extLst>
          </p:cNvPr>
          <p:cNvSpPr>
            <a:spLocks xmlns:a="http://schemas.openxmlformats.org/drawingml/2006/main" noGrp="1"/>
          </p:cNvSpPr>
          <p:nvPr/>
        </p:nvSpPr>
        <p:spPr>
          <a:xfrm xmlns:a="http://schemas.openxmlformats.org/drawingml/2006/main">
            <a:off x="514350" y="3943350"/>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1175F49-C34F-43B6-ADF3-C9D0DEF5B36B}"/>
              </a:ext>
            </a:extLst>
          </p:cNvPr>
          <p:cNvSpPr>
            <a:spLocks xmlns:a="http://schemas.openxmlformats.org/drawingml/2006/main" noGrp="1"/>
          </p:cNvSpPr>
          <p:nvPr/>
        </p:nvSpPr>
        <p:spPr>
          <a:xfrm xmlns:a="http://schemas.openxmlformats.org/drawingml/2006/main">
            <a:off x="514350" y="422910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388" b="1">
                <a:solidFill>
                  <a:srgbClr val="102A34"/>
                </a:solidFill>
                <a:latin typeface="Helvetica Neue"/>
                <a:ea typeface="Helvetica Neue"/>
                <a:cs typeface="Helvetica Neue"/>
              </a:defRPr>
            </a:pPr>
            <a:r>
              <a:rPr sz="1388" b="1">
                <a:solidFill>
                  <a:srgbClr val="102A34"/>
                </a:solidFill>
                <a:latin typeface="Helvetica Neue"/>
                <a:ea typeface="Helvetica Neue"/>
                <a:cs typeface="Helvetica Neue"/>
              </a:rPr>
              <a:t>Regression analysis</a:t>
            </a:r>
          </a:p>
        </p:txBody>
      </p:sp>
      <p:sp>
        <p:nvSpPr>
          <p:cNvPr id="13" name="">
            <a:extLst xmlns:a="http://schemas.openxmlformats.org/drawingml/2006/main">
              <a:ext uri="{FF2B5EF4-FFF2-40B4-BE49-F238E27FC236}">
                <a16:creationId xmlns:a16="http://schemas.microsoft.com/office/drawing/2014/main" id="{2BB8C7A8-1FDC-4845-AC98-00098DA2C9AF}"/>
              </a:ext>
            </a:extLst>
          </p:cNvPr>
          <p:cNvSpPr>
            <a:spLocks xmlns:a="http://schemas.openxmlformats.org/drawingml/2006/main" noGrp="1"/>
          </p:cNvSpPr>
          <p:nvPr/>
        </p:nvSpPr>
        <p:spPr>
          <a:xfrm xmlns:a="http://schemas.openxmlformats.org/drawingml/2006/main">
            <a:off x="514350" y="4524375"/>
            <a:ext cx="2914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7" b="1">
                <a:solidFill>
                  <a:srgbClr val="0F6F73"/>
                </a:solidFill>
                <a:latin typeface="Helvetica Neue"/>
                <a:ea typeface="Helvetica Neue"/>
                <a:cs typeface="Helvetica Neue"/>
              </a:defRPr>
            </a:pPr>
            <a:r>
              <a:rPr sz="907" b="1">
                <a:solidFill>
                  <a:srgbClr val="0F6F73"/>
                </a:solidFill>
                <a:latin typeface="Helvetica Neue"/>
                <a:ea typeface="Helvetica Neue"/>
                <a:cs typeface="Helvetica Neue"/>
              </a:rPr>
              <a:t>Quantify risk drivers</a:t>
            </a:r>
          </a:p>
        </p:txBody>
      </p:sp>
      <p:sp>
        <p:nvSpPr>
          <p:cNvPr id="14" name="">
            <a:extLst xmlns:a="http://schemas.openxmlformats.org/drawingml/2006/main">
              <a:ext uri="{FF2B5EF4-FFF2-40B4-BE49-F238E27FC236}">
                <a16:creationId xmlns:a16="http://schemas.microsoft.com/office/drawing/2014/main" id="{3978C81A-23E4-4917-AB16-737364BFCA3D}"/>
              </a:ext>
            </a:extLst>
          </p:cNvPr>
          <p:cNvSpPr>
            <a:spLocks xmlns:a="http://schemas.openxmlformats.org/drawingml/2006/main" noGrp="1"/>
          </p:cNvSpPr>
          <p:nvPr/>
        </p:nvSpPr>
        <p:spPr>
          <a:xfrm xmlns:a="http://schemas.openxmlformats.org/drawingml/2006/main">
            <a:off x="514350" y="4838700"/>
            <a:ext cx="29146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Model readmission likelihood using clinical, utilization, discharge, and follow-up variables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Control for overlap across risk factors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Turn model output into explainable indicators</a:t>
            </a:r>
          </a:p>
        </p:txBody>
      </p:sp>
      <p:sp>
        <p:nvSpPr>
          <p:cNvPr id="15" name="">
            <a:extLst xmlns:a="http://schemas.openxmlformats.org/drawingml/2006/main">
              <a:ext uri="{FF2B5EF4-FFF2-40B4-BE49-F238E27FC236}">
                <a16:creationId xmlns:a16="http://schemas.microsoft.com/office/drawing/2014/main" id="{43C6B7AC-73B0-4103-9A11-AD2EC8185C5E}"/>
              </a:ext>
            </a:extLst>
          </p:cNvPr>
          <p:cNvSpPr>
            <a:spLocks xmlns:a="http://schemas.openxmlformats.org/drawingml/2006/main" noGrp="1"/>
          </p:cNvSpPr>
          <p:nvPr/>
        </p:nvSpPr>
        <p:spPr>
          <a:xfrm xmlns:a="http://schemas.openxmlformats.org/drawingml/2006/main">
            <a:off x="514350" y="5772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757">
                <a:solidFill>
                  <a:srgbClr val="50636B"/>
                </a:solidFill>
                <a:latin typeface="Helvetica Neue"/>
                <a:ea typeface="Helvetica Neue"/>
                <a:cs typeface="Helvetica Neue"/>
              </a:defRPr>
            </a:pPr>
            <a:r>
              <a:rPr sz="757">
                <a:solidFill>
                  <a:srgbClr val="50636B"/>
                </a:solidFill>
                <a:latin typeface="Helvetica Neue"/>
                <a:ea typeface="Helvetica Neue"/>
                <a:cs typeface="Helvetica Neue"/>
              </a:rPr>
              <a:t>Example output: odds ratios, feature importance, predicted risk</a:t>
            </a:r>
          </a:p>
        </p:txBody>
      </p:sp>
      <p:sp>
        <p:nvSpPr>
          <p:cNvPr id="16" name="">
            <a:extLst xmlns:a="http://schemas.openxmlformats.org/drawingml/2006/main">
              <a:ext uri="{FF2B5EF4-FFF2-40B4-BE49-F238E27FC236}">
                <a16:creationId xmlns:a16="http://schemas.microsoft.com/office/drawing/2014/main" id="{EA5E3F6E-1498-4AC3-A39A-06E139489B49}"/>
              </a:ext>
            </a:extLst>
          </p:cNvPr>
          <p:cNvSpPr>
            <a:spLocks xmlns:a="http://schemas.openxmlformats.org/drawingml/2006/main" noGrp="1"/>
          </p:cNvSpPr>
          <p:nvPr/>
        </p:nvSpPr>
        <p:spPr>
          <a:xfrm xmlns:a="http://schemas.openxmlformats.org/drawingml/2006/main">
            <a:off x="4286250" y="422910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388" b="1">
                <a:solidFill>
                  <a:srgbClr val="102A34"/>
                </a:solidFill>
                <a:latin typeface="Helvetica Neue"/>
                <a:ea typeface="Helvetica Neue"/>
                <a:cs typeface="Helvetica Neue"/>
              </a:defRPr>
            </a:pPr>
            <a:r>
              <a:rPr sz="1388" b="1">
                <a:solidFill>
                  <a:srgbClr val="102A34"/>
                </a:solidFill>
                <a:latin typeface="Helvetica Neue"/>
                <a:ea typeface="Helvetica Neue"/>
                <a:cs typeface="Helvetica Neue"/>
              </a:rPr>
              <a:t>Customer segmentation</a:t>
            </a:r>
          </a:p>
        </p:txBody>
      </p:sp>
      <p:sp>
        <p:nvSpPr>
          <p:cNvPr id="17" name="">
            <a:extLst xmlns:a="http://schemas.openxmlformats.org/drawingml/2006/main">
              <a:ext uri="{FF2B5EF4-FFF2-40B4-BE49-F238E27FC236}">
                <a16:creationId xmlns:a16="http://schemas.microsoft.com/office/drawing/2014/main" id="{3F464F23-1D9B-4382-9352-425347C15E34}"/>
              </a:ext>
            </a:extLst>
          </p:cNvPr>
          <p:cNvSpPr>
            <a:spLocks xmlns:a="http://schemas.openxmlformats.org/drawingml/2006/main" noGrp="1"/>
          </p:cNvSpPr>
          <p:nvPr/>
        </p:nvSpPr>
        <p:spPr>
          <a:xfrm xmlns:a="http://schemas.openxmlformats.org/drawingml/2006/main">
            <a:off x="4286250" y="4524375"/>
            <a:ext cx="2914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7" b="1">
                <a:solidFill>
                  <a:srgbClr val="0F6F73"/>
                </a:solidFill>
                <a:latin typeface="Helvetica Neue"/>
                <a:ea typeface="Helvetica Neue"/>
                <a:cs typeface="Helvetica Neue"/>
              </a:defRPr>
            </a:pPr>
            <a:r>
              <a:rPr sz="907" b="1">
                <a:solidFill>
                  <a:srgbClr val="0F6F73"/>
                </a:solidFill>
                <a:latin typeface="Helvetica Neue"/>
                <a:ea typeface="Helvetica Neue"/>
                <a:cs typeface="Helvetica Neue"/>
              </a:rPr>
              <a:t>Group patients into action pools</a:t>
            </a:r>
          </a:p>
        </p:txBody>
      </p:sp>
      <p:sp>
        <p:nvSpPr>
          <p:cNvPr id="18" name="">
            <a:extLst xmlns:a="http://schemas.openxmlformats.org/drawingml/2006/main">
              <a:ext uri="{FF2B5EF4-FFF2-40B4-BE49-F238E27FC236}">
                <a16:creationId xmlns:a16="http://schemas.microsoft.com/office/drawing/2014/main" id="{30B5F5CF-462A-48A1-A639-05B451F5FDF7}"/>
              </a:ext>
            </a:extLst>
          </p:cNvPr>
          <p:cNvSpPr>
            <a:spLocks xmlns:a="http://schemas.openxmlformats.org/drawingml/2006/main" noGrp="1"/>
          </p:cNvSpPr>
          <p:nvPr/>
        </p:nvSpPr>
        <p:spPr>
          <a:xfrm xmlns:a="http://schemas.openxmlformats.org/drawingml/2006/main">
            <a:off x="4286250" y="4838700"/>
            <a:ext cx="29146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Create segments by chronic burden, prior admissions, discharge setting, and follow-up status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Compare readmission rates and cost exposure across segments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Prioritize care coordination for the highest-risk groups</a:t>
            </a:r>
          </a:p>
        </p:txBody>
      </p:sp>
      <p:sp>
        <p:nvSpPr>
          <p:cNvPr id="19" name="">
            <a:extLst xmlns:a="http://schemas.openxmlformats.org/drawingml/2006/main">
              <a:ext uri="{FF2B5EF4-FFF2-40B4-BE49-F238E27FC236}">
                <a16:creationId xmlns:a16="http://schemas.microsoft.com/office/drawing/2014/main" id="{DACDED6B-8DC5-45F1-83E1-264326CD2B8A}"/>
              </a:ext>
            </a:extLst>
          </p:cNvPr>
          <p:cNvSpPr>
            <a:spLocks xmlns:a="http://schemas.openxmlformats.org/drawingml/2006/main" noGrp="1"/>
          </p:cNvSpPr>
          <p:nvPr/>
        </p:nvSpPr>
        <p:spPr>
          <a:xfrm xmlns:a="http://schemas.openxmlformats.org/drawingml/2006/main">
            <a:off x="4286250" y="5772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757">
                <a:solidFill>
                  <a:srgbClr val="50636B"/>
                </a:solidFill>
                <a:latin typeface="Helvetica Neue"/>
                <a:ea typeface="Helvetica Neue"/>
                <a:cs typeface="Helvetica Neue"/>
              </a:defRPr>
            </a:pPr>
            <a:r>
              <a:rPr sz="757">
                <a:solidFill>
                  <a:srgbClr val="50636B"/>
                </a:solidFill>
                <a:latin typeface="Helvetica Neue"/>
                <a:ea typeface="Helvetica Neue"/>
                <a:cs typeface="Helvetica Neue"/>
              </a:rPr>
              <a:t>Example output: risk tiers and intervention priority list</a:t>
            </a:r>
          </a:p>
        </p:txBody>
      </p:sp>
      <p:sp>
        <p:nvSpPr>
          <p:cNvPr id="20" name="">
            <a:extLst xmlns:a="http://schemas.openxmlformats.org/drawingml/2006/main">
              <a:ext uri="{FF2B5EF4-FFF2-40B4-BE49-F238E27FC236}">
                <a16:creationId xmlns:a16="http://schemas.microsoft.com/office/drawing/2014/main" id="{30DAE800-9A6B-49A3-87AB-ABA14BE843F7}"/>
              </a:ext>
            </a:extLst>
          </p:cNvPr>
          <p:cNvSpPr>
            <a:spLocks xmlns:a="http://schemas.openxmlformats.org/drawingml/2006/main" noGrp="1"/>
          </p:cNvSpPr>
          <p:nvPr/>
        </p:nvSpPr>
        <p:spPr>
          <a:xfrm xmlns:a="http://schemas.openxmlformats.org/drawingml/2006/main">
            <a:off x="8058150" y="422910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388" b="1">
                <a:solidFill>
                  <a:srgbClr val="102A34"/>
                </a:solidFill>
                <a:latin typeface="Helvetica Neue"/>
                <a:ea typeface="Helvetica Neue"/>
                <a:cs typeface="Helvetica Neue"/>
              </a:defRPr>
            </a:pPr>
            <a:r>
              <a:rPr sz="1388" b="1">
                <a:solidFill>
                  <a:srgbClr val="102A34"/>
                </a:solidFill>
                <a:latin typeface="Helvetica Neue"/>
                <a:ea typeface="Helvetica Neue"/>
                <a:cs typeface="Helvetica Neue"/>
              </a:rPr>
              <a:t>Market basic analysis</a:t>
            </a:r>
          </a:p>
        </p:txBody>
      </p:sp>
      <p:sp>
        <p:nvSpPr>
          <p:cNvPr id="21" name="">
            <a:extLst xmlns:a="http://schemas.openxmlformats.org/drawingml/2006/main">
              <a:ext uri="{FF2B5EF4-FFF2-40B4-BE49-F238E27FC236}">
                <a16:creationId xmlns:a16="http://schemas.microsoft.com/office/drawing/2014/main" id="{D68C96DC-62C1-4BE8-BBB8-29677AEF5BF1}"/>
              </a:ext>
            </a:extLst>
          </p:cNvPr>
          <p:cNvSpPr>
            <a:spLocks xmlns:a="http://schemas.openxmlformats.org/drawingml/2006/main" noGrp="1"/>
          </p:cNvSpPr>
          <p:nvPr/>
        </p:nvSpPr>
        <p:spPr>
          <a:xfrm xmlns:a="http://schemas.openxmlformats.org/drawingml/2006/main">
            <a:off x="8058150" y="4524375"/>
            <a:ext cx="2914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7" b="1">
                <a:solidFill>
                  <a:srgbClr val="0F6F73"/>
                </a:solidFill>
                <a:latin typeface="Helvetica Neue"/>
                <a:ea typeface="Helvetica Neue"/>
                <a:cs typeface="Helvetica Neue"/>
              </a:defRPr>
            </a:pPr>
            <a:r>
              <a:rPr sz="907" b="1">
                <a:solidFill>
                  <a:srgbClr val="0F6F73"/>
                </a:solidFill>
                <a:latin typeface="Helvetica Neue"/>
                <a:ea typeface="Helvetica Neue"/>
                <a:cs typeface="Helvetica Neue"/>
              </a:rPr>
              <a:t>Place results in context</a:t>
            </a:r>
          </a:p>
        </p:txBody>
      </p:sp>
      <p:sp>
        <p:nvSpPr>
          <p:cNvPr id="22" name="">
            <a:extLst xmlns:a="http://schemas.openxmlformats.org/drawingml/2006/main">
              <a:ext uri="{FF2B5EF4-FFF2-40B4-BE49-F238E27FC236}">
                <a16:creationId xmlns:a16="http://schemas.microsoft.com/office/drawing/2014/main" id="{E2983D8D-9293-490D-B12A-34CAC20F705C}"/>
              </a:ext>
            </a:extLst>
          </p:cNvPr>
          <p:cNvSpPr>
            <a:spLocks xmlns:a="http://schemas.openxmlformats.org/drawingml/2006/main" noGrp="1"/>
          </p:cNvSpPr>
          <p:nvPr/>
        </p:nvSpPr>
        <p:spPr>
          <a:xfrm xmlns:a="http://schemas.openxmlformats.org/drawingml/2006/main">
            <a:off x="8058150" y="4838700"/>
            <a:ext cx="29146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Compare NHN patterns across service lines and discharge types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Separate broad readmission pressure from segment-specific gaps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Connect trend patterns to financial scenarios</a:t>
            </a:r>
          </a:p>
        </p:txBody>
      </p:sp>
      <p:sp>
        <p:nvSpPr>
          <p:cNvPr id="23" name="">
            <a:extLst xmlns:a="http://schemas.openxmlformats.org/drawingml/2006/main">
              <a:ext uri="{FF2B5EF4-FFF2-40B4-BE49-F238E27FC236}">
                <a16:creationId xmlns:a16="http://schemas.microsoft.com/office/drawing/2014/main" id="{2887F7E1-1D91-46BF-B490-6E743004FB37}"/>
              </a:ext>
            </a:extLst>
          </p:cNvPr>
          <p:cNvSpPr>
            <a:spLocks xmlns:a="http://schemas.openxmlformats.org/drawingml/2006/main" noGrp="1"/>
          </p:cNvSpPr>
          <p:nvPr/>
        </p:nvSpPr>
        <p:spPr>
          <a:xfrm xmlns:a="http://schemas.openxmlformats.org/drawingml/2006/main">
            <a:off x="8058150" y="5772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757">
                <a:solidFill>
                  <a:srgbClr val="50636B"/>
                </a:solidFill>
                <a:latin typeface="Helvetica Neue"/>
                <a:ea typeface="Helvetica Neue"/>
                <a:cs typeface="Helvetica Neue"/>
              </a:defRPr>
            </a:pPr>
            <a:r>
              <a:rPr sz="757">
                <a:solidFill>
                  <a:srgbClr val="50636B"/>
                </a:solidFill>
                <a:latin typeface="Helvetica Neue"/>
                <a:ea typeface="Helvetica Neue"/>
                <a:cs typeface="Helvetica Neue"/>
              </a:rPr>
              <a:t>Example output: benchmark table, trend summary, ROI scenarios</a:t>
            </a:r>
          </a:p>
        </p:txBody>
      </p:sp>
      <p:sp>
        <p:nvSpPr>
          <p:cNvPr id="24" name="">
            <a:extLst xmlns:a="http://schemas.openxmlformats.org/drawingml/2006/main">
              <a:ext uri="{FF2B5EF4-FFF2-40B4-BE49-F238E27FC236}">
                <a16:creationId xmlns:a16="http://schemas.microsoft.com/office/drawing/2014/main" id="{9FA2D58A-A98E-4FBF-9C39-185CECEFE8E5}"/>
              </a:ext>
            </a:extLst>
          </p:cNvPr>
          <p:cNvSpPr>
            <a:spLocks xmlns:a="http://schemas.openxmlformats.org/drawingml/2006/main" noGrp="1"/>
          </p:cNvSpPr>
          <p:nvPr/>
        </p:nvSpPr>
        <p:spPr>
          <a:xfrm xmlns:a="http://schemas.openxmlformats.org/drawingml/2006/main">
            <a:off x="514350" y="6153150"/>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9112A8D-E5F5-4168-A75C-10A3C0991098}"/>
              </a:ext>
            </a:extLst>
          </p:cNvPr>
          <p:cNvSpPr>
            <a:spLocks xmlns:a="http://schemas.openxmlformats.org/drawingml/2006/main" noGrp="1"/>
          </p:cNvSpPr>
          <p:nvPr/>
        </p:nvSpPr>
        <p:spPr>
          <a:xfrm xmlns:a="http://schemas.openxmlformats.org/drawingml/2006/main">
            <a:off x="514350" y="63436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163" b="1">
                <a:solidFill>
                  <a:srgbClr val="102A34"/>
                </a:solidFill>
                <a:latin typeface="Helvetica Neue"/>
                <a:ea typeface="Helvetica Neue"/>
                <a:cs typeface="Helvetica Neue"/>
              </a:defRPr>
            </a:pPr>
            <a:r>
              <a:rPr sz="1163" b="1">
                <a:solidFill>
                  <a:srgbClr val="102A34"/>
                </a:solidFill>
                <a:latin typeface="Helvetica Neue"/>
                <a:ea typeface="Helvetica Neue"/>
                <a:cs typeface="Helvetica Neue"/>
              </a:rPr>
              <a:t>Decision standard</a:t>
            </a:r>
          </a:p>
        </p:txBody>
      </p:sp>
      <p:sp>
        <p:nvSpPr>
          <p:cNvPr id="26" name="">
            <a:extLst xmlns:a="http://schemas.openxmlformats.org/drawingml/2006/main">
              <a:ext uri="{FF2B5EF4-FFF2-40B4-BE49-F238E27FC236}">
                <a16:creationId xmlns:a16="http://schemas.microsoft.com/office/drawing/2014/main" id="{7F5B5CCC-364B-4DA0-AAA3-ED4AB7153E94}"/>
              </a:ext>
            </a:extLst>
          </p:cNvPr>
          <p:cNvSpPr>
            <a:spLocks xmlns:a="http://schemas.openxmlformats.org/drawingml/2006/main" noGrp="1"/>
          </p:cNvSpPr>
          <p:nvPr/>
        </p:nvSpPr>
        <p:spPr>
          <a:xfrm xmlns:a="http://schemas.openxmlformats.org/drawingml/2006/main">
            <a:off x="2228850" y="6362700"/>
            <a:ext cx="752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0">
                <a:solidFill>
                  <a:srgbClr val="253B44"/>
                </a:solidFill>
                <a:latin typeface="Helvetica Neue"/>
                <a:ea typeface="Helvetica Neue"/>
                <a:cs typeface="Helvetica Neue"/>
              </a:defRPr>
            </a:pPr>
            <a:r>
              <a:rPr sz="900">
                <a:solidFill>
                  <a:srgbClr val="253B44"/>
                </a:solidFill>
                <a:latin typeface="Helvetica Neue"/>
                <a:ea typeface="Helvetica Neue"/>
                <a:cs typeface="Helvetica Neue"/>
              </a:rPr>
              <a:t>Prioritize actions that are statistically supported, clinically explainable, operationally feasible, and financially material.</a:t>
            </a:r>
          </a:p>
        </p:txBody>
      </p:sp>
      <p:sp>
        <p:nvSpPr>
          <p:cNvPr id="27" name="">
            <a:extLst xmlns:a="http://schemas.openxmlformats.org/drawingml/2006/main">
              <a:ext uri="{FF2B5EF4-FFF2-40B4-BE49-F238E27FC236}">
                <a16:creationId xmlns:a16="http://schemas.microsoft.com/office/drawing/2014/main" id="{354E71C7-99A9-414B-8D9F-9169CE2F9253}"/>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NHN cleaned datasets, model metrics, and project charter analytical requirements</a:t>
            </a:r>
          </a:p>
        </p:txBody>
      </p:sp>
    </p:spTree>
    <p:extLst>
      <p:ext uri="{BB962C8B-B14F-4D97-AF65-F5344CB8AC3E}">
        <p14:creationId xmlns:p14="http://schemas.microsoft.com/office/powerpoint/2010/main" val="1325649716"/>
      </p:ext>
    </p:extLst>
  </p:cSld>
</p:sld>
</file>

<file path=ppt/slides/slide4.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418F832-8C4E-49EB-91EE-AF7AA7D0FC66}"/>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FC5D0AD-BAE6-4C80-AF50-258E710168EA}"/>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488BF421-9871-4B88-83DB-4AD77F72E603}"/>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Business insights</a:t>
            </a:r>
          </a:p>
        </p:txBody>
      </p:sp>
      <p:sp>
        <p:nvSpPr>
          <p:cNvPr id="4" name="">
            <a:extLst xmlns:a="http://schemas.openxmlformats.org/drawingml/2006/main">
              <a:ext uri="{FF2B5EF4-FFF2-40B4-BE49-F238E27FC236}">
                <a16:creationId xmlns:a16="http://schemas.microsoft.com/office/drawing/2014/main" id="{D20119AB-EF87-4B3B-ADD8-24B640561BCD}"/>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088">
                <a:solidFill>
                  <a:srgbClr val="50636B"/>
                </a:solidFill>
                <a:latin typeface="Helvetica Neue"/>
                <a:ea typeface="Helvetica Neue"/>
                <a:cs typeface="Helvetica Neue"/>
              </a:defRPr>
            </a:pPr>
            <a:r>
              <a:rPr sz="1088">
                <a:solidFill>
                  <a:srgbClr val="50636B"/>
                </a:solidFill>
                <a:latin typeface="Helvetica Neue"/>
                <a:ea typeface="Helvetica Neue"/>
                <a:cs typeface="Helvetica Neue"/>
              </a:rPr>
              <a:t>Team-identified evidence and significance for leadership decisions</a:t>
            </a:r>
          </a:p>
        </p:txBody>
      </p:sp>
      <p:sp>
        <p:nvSpPr>
          <p:cNvPr id="5" name="">
            <a:extLst xmlns:a="http://schemas.openxmlformats.org/drawingml/2006/main">
              <a:ext uri="{FF2B5EF4-FFF2-40B4-BE49-F238E27FC236}">
                <a16:creationId xmlns:a16="http://schemas.microsoft.com/office/drawing/2014/main" id="{D359FF68-50C9-4C88-9FD3-95D442FAD55A}"/>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724C9DA-8D45-40BA-8899-9AD22F4E6A88}"/>
              </a:ext>
            </a:extLst>
          </p:cNvPr>
          <p:cNvSpPr>
            <a:spLocks xmlns:a="http://schemas.openxmlformats.org/drawingml/2006/main" noGrp="1"/>
          </p:cNvSpPr>
          <p:nvPr/>
        </p:nvSpPr>
        <p:spPr>
          <a:xfrm xmlns:a="http://schemas.openxmlformats.org/drawingml/2006/main">
            <a:off x="514350" y="1743075"/>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Readmission risk stratification</a:t>
            </a:r>
          </a:p>
        </p:txBody>
      </p:sp>
      <p:graphicFrame>
        <p:nvGraphicFramePr>
          <p:cNvPr id="25" name="Chart"/>
          <p:cNvGraphicFramePr/>
          <p:nvPr/>
        </p:nvGraphicFramePr>
        <p:xfrm>
          <a:off xmlns:a="http://schemas.openxmlformats.org/drawingml/2006/main" x="514350" y="2095500"/>
          <a:ext xmlns:a="http://schemas.openxmlformats.org/drawingml/2006/main" cx="4724400" cy="1524000"/>
        </p:xfrm>
        <a:graphic xmlns:a="http://schemas.openxmlformats.org/drawingml/2006/main">
          <a:graphicData uri="http://schemas.openxmlformats.org/drawingml/2006/chart">
            <c:chart xmlns:r="http://schemas.openxmlformats.org/officeDocument/2006/relationships" xmlns:c="http://schemas.openxmlformats.org/drawingml/2006/chart" r:id="Ra677d170313b4d00"/>
          </a:graphicData>
        </a:graphic>
      </p:graphicFrame>
      <p:sp>
        <p:nvSpPr>
          <p:cNvPr id="8" name="">
            <a:extLst xmlns:a="http://schemas.openxmlformats.org/drawingml/2006/main">
              <a:ext uri="{FF2B5EF4-FFF2-40B4-BE49-F238E27FC236}">
                <a16:creationId xmlns:a16="http://schemas.microsoft.com/office/drawing/2014/main" id="{FEB35BCE-EA0F-4657-8098-A3209ECA7A0F}"/>
              </a:ext>
            </a:extLst>
          </p:cNvPr>
          <p:cNvSpPr>
            <a:spLocks xmlns:a="http://schemas.openxmlformats.org/drawingml/2006/main" noGrp="1"/>
          </p:cNvSpPr>
          <p:nvPr/>
        </p:nvSpPr>
        <p:spPr>
          <a:xfrm xmlns:a="http://schemas.openxmlformats.org/drawingml/2006/main">
            <a:off x="514350" y="3695700"/>
            <a:ext cx="4724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810">
                <a:solidFill>
                  <a:srgbClr val="50636B"/>
                </a:solidFill>
                <a:latin typeface="Helvetica Neue"/>
                <a:ea typeface="Helvetica Neue"/>
                <a:cs typeface="Helvetica Neue"/>
              </a:defRPr>
            </a:pPr>
            <a:r>
              <a:rPr sz="810">
                <a:solidFill>
                  <a:srgbClr val="50636B"/>
                </a:solidFill>
                <a:latin typeface="Helvetica Neue"/>
                <a:ea typeface="Helvetica Neue"/>
                <a:cs typeface="Helvetica Neue"/>
              </a:rPr>
              <a:t>Risk deciles separate observed readmission rates from 11.8% in D1 to 82.3% in D10.</a:t>
            </a:r>
          </a:p>
        </p:txBody>
      </p:sp>
      <p:sp>
        <p:nvSpPr>
          <p:cNvPr id="9" name="">
            <a:extLst xmlns:a="http://schemas.openxmlformats.org/drawingml/2006/main">
              <a:ext uri="{FF2B5EF4-FFF2-40B4-BE49-F238E27FC236}">
                <a16:creationId xmlns:a16="http://schemas.microsoft.com/office/drawing/2014/main" id="{7DBDB3D8-65EE-4B99-8923-808FE515D47C}"/>
              </a:ext>
            </a:extLst>
          </p:cNvPr>
          <p:cNvSpPr>
            <a:spLocks xmlns:a="http://schemas.openxmlformats.org/drawingml/2006/main" noGrp="1"/>
          </p:cNvSpPr>
          <p:nvPr/>
        </p:nvSpPr>
        <p:spPr>
          <a:xfrm xmlns:a="http://schemas.openxmlformats.org/drawingml/2006/main">
            <a:off x="6076950" y="174307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Business value scenario</a:t>
            </a:r>
          </a:p>
        </p:txBody>
      </p:sp>
      <p:graphicFrame>
        <p:nvGraphicFramePr>
          <p:cNvPr id="28" name=""/>
          <p:cNvGraphicFramePr/>
          <p:nvPr/>
        </p:nvGraphicFramePr>
        <p:xfrm>
          <a:off xmlns:a="http://schemas.openxmlformats.org/drawingml/2006/main" x="6076950" y="2095500"/>
          <a:ext xmlns:a="http://schemas.openxmlformats.org/drawingml/2006/main" cx="4724400" cy="1485900"/>
        </p:xfrm>
        <a:graphic xmlns:a="http://schemas.openxmlformats.org/drawingml/2006/main">
          <a:graphicData uri="http://schemas.openxmlformats.org/drawingml/2006/table">
            <a:tbl>
              <a:tblPr/>
              <a:tblGrid>
                <a:gridCol w="1352550"/>
                <a:gridCol w="1047750"/>
                <a:gridCol w="1162050"/>
                <a:gridCol w="1162050"/>
              </a:tblGrid>
              <a:tr h="371475">
                <a:tc>
                  <a:txBody>
                    <a:bodyPr lIns="66675" tIns="28575" rIns="57150" bIns="28575">
                      <a:noAutofit/>
                    </a:bodyPr>
                    <a:lstStyle/>
                    <a:p>
                      <a:pPr algn="l"/>
                      <a:r>
                        <a:rPr sz="713" b="1">
                          <a:solidFill>
                            <a:srgbClr val="FFFFFF"/>
                          </a:solidFill>
                          <a:latin typeface="Helvetica Neue"/>
                          <a:ea typeface="Helvetica Neue"/>
                          <a:cs typeface="Helvetica Neue"/>
                        </a:rPr>
                        <a:t>Scenario</a:t>
                      </a:r>
                    </a:p>
                  </a:txBody>
                  <a:tcPr marL="91440" marR="91440" marT="45720" marB="45720" anchor="ctr">
                    <a:solidFill>
                      <a:srgbClr val="0F4C5C"/>
                    </a:solidFill>
                  </a:tcPr>
                </a:tc>
                <a:tc>
                  <a:txBody>
                    <a:bodyPr lIns="66675" tIns="28575" rIns="57150" bIns="28575">
                      <a:noAutofit/>
                    </a:bodyPr>
                    <a:lstStyle/>
                    <a:p>
                      <a:pPr algn="ctr"/>
                      <a:r>
                        <a:rPr sz="713" b="1">
                          <a:solidFill>
                            <a:srgbClr val="FFFFFF"/>
                          </a:solidFill>
                          <a:latin typeface="Helvetica Neue"/>
                          <a:ea typeface="Helvetica Neue"/>
                          <a:cs typeface="Helvetica Neue"/>
                        </a:rPr>
                        <a:t>Reduction</a:t>
                      </a:r>
                    </a:p>
                  </a:txBody>
                  <a:tcPr marL="91440" marR="91440" marT="45720" marB="45720" anchor="ctr">
                    <a:solidFill>
                      <a:srgbClr val="0F4C5C"/>
                    </a:solidFill>
                  </a:tcPr>
                </a:tc>
                <a:tc>
                  <a:txBody>
                    <a:bodyPr lIns="66675" tIns="28575" rIns="57150" bIns="28575">
                      <a:noAutofit/>
                    </a:bodyPr>
                    <a:lstStyle/>
                    <a:p>
                      <a:pPr algn="ctr"/>
                      <a:r>
                        <a:rPr sz="713" b="1">
                          <a:solidFill>
                            <a:srgbClr val="FFFFFF"/>
                          </a:solidFill>
                          <a:latin typeface="Helvetica Neue"/>
                          <a:ea typeface="Helvetica Neue"/>
                          <a:cs typeface="Helvetica Neue"/>
                        </a:rPr>
                        <a:t>Net savings</a:t>
                      </a:r>
                    </a:p>
                  </a:txBody>
                  <a:tcPr marL="91440" marR="91440" marT="45720" marB="45720" anchor="ctr">
                    <a:solidFill>
                      <a:srgbClr val="0F4C5C"/>
                    </a:solidFill>
                  </a:tcPr>
                </a:tc>
                <a:tc>
                  <a:txBody>
                    <a:bodyPr lIns="66675" tIns="28575" rIns="57150" bIns="28575">
                      <a:noAutofit/>
                    </a:bodyPr>
                    <a:lstStyle/>
                    <a:p>
                      <a:pPr algn="ctr"/>
                      <a:r>
                        <a:rPr sz="713" b="1">
                          <a:solidFill>
                            <a:srgbClr val="FFFFFF"/>
                          </a:solidFill>
                          <a:latin typeface="Helvetica Neue"/>
                          <a:ea typeface="Helvetica Neue"/>
                          <a:cs typeface="Helvetica Neue"/>
                        </a:rPr>
                        <a:t>ROI</a:t>
                      </a:r>
                    </a:p>
                  </a:txBody>
                  <a:tcPr marL="91440" marR="91440" marT="45720" marB="45720" anchor="ctr">
                    <a:solidFill>
                      <a:srgbClr val="0F4C5C"/>
                    </a:solidFill>
                  </a:tcPr>
                </a:tc>
              </a:tr>
              <a:tr h="371475">
                <a:tc>
                  <a:txBody>
                    <a:bodyPr lIns="66675" tIns="28575" rIns="57150" bIns="28575">
                      <a:noAutofit/>
                    </a:bodyPr>
                    <a:lstStyle/>
                    <a:p>
                      <a:pPr algn="l"/>
                      <a:r>
                        <a:rPr sz="690" b="1">
                          <a:solidFill>
                            <a:srgbClr val="253B44"/>
                          </a:solidFill>
                          <a:latin typeface="Helvetica Neue"/>
                          <a:ea typeface="Helvetica Neue"/>
                          <a:cs typeface="Helvetica Neue"/>
                        </a:rPr>
                        <a:t>Conservative</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5.0%</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$4.28M</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4.28x</a:t>
                      </a:r>
                    </a:p>
                  </a:txBody>
                  <a:tcPr marL="91440" marR="91440" marT="45720" marB="45720" anchor="ctr">
                    <a:solidFill>
                      <a:srgbClr val="EEF6F7"/>
                    </a:solidFill>
                  </a:tcPr>
                </a:tc>
              </a:tr>
              <a:tr h="371475">
                <a:tc>
                  <a:txBody>
                    <a:bodyPr lIns="66675" tIns="28575" rIns="57150" bIns="28575">
                      <a:noAutofit/>
                    </a:bodyPr>
                    <a:lstStyle/>
                    <a:p>
                      <a:pPr algn="l"/>
                      <a:r>
                        <a:rPr sz="690" b="1">
                          <a:solidFill>
                            <a:srgbClr val="253B44"/>
                          </a:solidFill>
                          <a:latin typeface="Helvetica Neue"/>
                          <a:ea typeface="Helvetica Neue"/>
                          <a:cs typeface="Helvetica Neue"/>
                        </a:rPr>
                        <a:t>Expected</a:t>
                      </a:r>
                    </a:p>
                  </a:txBody>
                  <a:tcPr marL="91440" marR="91440" marT="45720" marB="45720" anchor="ctr">
                    <a:solidFill>
                      <a:srgbClr val="F8FBFC"/>
                    </a:solidFill>
                  </a:tcPr>
                </a:tc>
                <a:tc>
                  <a:txBody>
                    <a:bodyPr lIns="66675" tIns="28575" rIns="57150" bIns="28575">
                      <a:noAutofit/>
                    </a:bodyPr>
                    <a:lstStyle/>
                    <a:p>
                      <a:pPr algn="ctr"/>
                      <a:r>
                        <a:rPr sz="690" b="0">
                          <a:solidFill>
                            <a:srgbClr val="253B44"/>
                          </a:solidFill>
                          <a:latin typeface="Helvetica Neue"/>
                          <a:ea typeface="Helvetica Neue"/>
                          <a:cs typeface="Helvetica Neue"/>
                        </a:rPr>
                        <a:t>10.0%</a:t>
                      </a:r>
                    </a:p>
                  </a:txBody>
                  <a:tcPr marL="91440" marR="91440" marT="45720" marB="45720" anchor="ctr">
                    <a:solidFill>
                      <a:srgbClr val="F8FBFC"/>
                    </a:solidFill>
                  </a:tcPr>
                </a:tc>
                <a:tc>
                  <a:txBody>
                    <a:bodyPr lIns="66675" tIns="28575" rIns="57150" bIns="28575">
                      <a:noAutofit/>
                    </a:bodyPr>
                    <a:lstStyle/>
                    <a:p>
                      <a:pPr algn="ctr"/>
                      <a:r>
                        <a:rPr sz="690" b="0">
                          <a:solidFill>
                            <a:srgbClr val="253B44"/>
                          </a:solidFill>
                          <a:latin typeface="Helvetica Neue"/>
                          <a:ea typeface="Helvetica Neue"/>
                          <a:cs typeface="Helvetica Neue"/>
                        </a:rPr>
                        <a:t>$8.81M</a:t>
                      </a:r>
                    </a:p>
                  </a:txBody>
                  <a:tcPr marL="91440" marR="91440" marT="45720" marB="45720" anchor="ctr">
                    <a:solidFill>
                      <a:srgbClr val="F8FBFC"/>
                    </a:solidFill>
                  </a:tcPr>
                </a:tc>
                <a:tc>
                  <a:txBody>
                    <a:bodyPr lIns="66675" tIns="28575" rIns="57150" bIns="28575">
                      <a:noAutofit/>
                    </a:bodyPr>
                    <a:lstStyle/>
                    <a:p>
                      <a:pPr algn="ctr"/>
                      <a:r>
                        <a:rPr sz="690" b="0">
                          <a:solidFill>
                            <a:srgbClr val="253B44"/>
                          </a:solidFill>
                          <a:latin typeface="Helvetica Neue"/>
                          <a:ea typeface="Helvetica Neue"/>
                          <a:cs typeface="Helvetica Neue"/>
                        </a:rPr>
                        <a:t>5.03x</a:t>
                      </a:r>
                    </a:p>
                  </a:txBody>
                  <a:tcPr marL="91440" marR="91440" marT="45720" marB="45720" anchor="ctr">
                    <a:solidFill>
                      <a:srgbClr val="F8FBFC"/>
                    </a:solidFill>
                  </a:tcPr>
                </a:tc>
              </a:tr>
              <a:tr h="371475">
                <a:tc>
                  <a:txBody>
                    <a:bodyPr lIns="66675" tIns="28575" rIns="57150" bIns="28575">
                      <a:noAutofit/>
                    </a:bodyPr>
                    <a:lstStyle/>
                    <a:p>
                      <a:pPr algn="l"/>
                      <a:r>
                        <a:rPr sz="690" b="1">
                          <a:solidFill>
                            <a:srgbClr val="253B44"/>
                          </a:solidFill>
                          <a:latin typeface="Helvetica Neue"/>
                          <a:ea typeface="Helvetica Neue"/>
                          <a:cs typeface="Helvetica Neue"/>
                        </a:rPr>
                        <a:t>Optimistic</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15.0%</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$13.36M</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5.34x</a:t>
                      </a:r>
                    </a:p>
                  </a:txBody>
                  <a:tcPr marL="91440" marR="91440" marT="45720" marB="45720" anchor="ctr">
                    <a:solidFill>
                      <a:srgbClr val="EEF6F7"/>
                    </a:solidFill>
                  </a:tcPr>
                </a:tc>
              </a:tr>
            </a:tbl>
          </a:graphicData>
        </a:graphic>
      </p:graphicFrame>
      <p:sp>
        <p:nvSpPr>
          <p:cNvPr id="11" name="">
            <a:extLst xmlns:a="http://schemas.openxmlformats.org/drawingml/2006/main">
              <a:ext uri="{FF2B5EF4-FFF2-40B4-BE49-F238E27FC236}">
                <a16:creationId xmlns:a16="http://schemas.microsoft.com/office/drawing/2014/main" id="{70141F9B-25FF-4272-80D7-A78A6CE6B3D8}"/>
              </a:ext>
            </a:extLst>
          </p:cNvPr>
          <p:cNvSpPr>
            <a:spLocks xmlns:a="http://schemas.openxmlformats.org/drawingml/2006/main" noGrp="1"/>
          </p:cNvSpPr>
          <p:nvPr/>
        </p:nvSpPr>
        <p:spPr>
          <a:xfrm xmlns:a="http://schemas.openxmlformats.org/drawingml/2006/main">
            <a:off x="6076950" y="3695700"/>
            <a:ext cx="4724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810">
                <a:solidFill>
                  <a:srgbClr val="50636B"/>
                </a:solidFill>
                <a:latin typeface="Helvetica Neue"/>
                <a:ea typeface="Helvetica Neue"/>
                <a:cs typeface="Helvetica Neue"/>
              </a:defRPr>
            </a:pPr>
            <a:r>
              <a:rPr sz="810">
                <a:solidFill>
                  <a:srgbClr val="50636B"/>
                </a:solidFill>
                <a:latin typeface="Helvetica Neue"/>
                <a:ea typeface="Helvetica Neue"/>
                <a:cs typeface="Helvetica Neue"/>
              </a:rPr>
              <a:t>Expected case avoids about 518 readmissions and produces $8.81M in net savings.</a:t>
            </a:r>
          </a:p>
        </p:txBody>
      </p:sp>
      <p:sp>
        <p:nvSpPr>
          <p:cNvPr id="12" name="">
            <a:extLst xmlns:a="http://schemas.openxmlformats.org/drawingml/2006/main">
              <a:ext uri="{FF2B5EF4-FFF2-40B4-BE49-F238E27FC236}">
                <a16:creationId xmlns:a16="http://schemas.microsoft.com/office/drawing/2014/main" id="{17F5E38B-9048-47A5-9558-DF69DAD92E74}"/>
              </a:ext>
            </a:extLst>
          </p:cNvPr>
          <p:cNvSpPr>
            <a:spLocks xmlns:a="http://schemas.openxmlformats.org/drawingml/2006/main" noGrp="1"/>
          </p:cNvSpPr>
          <p:nvPr/>
        </p:nvSpPr>
        <p:spPr>
          <a:xfrm xmlns:a="http://schemas.openxmlformats.org/drawingml/2006/main">
            <a:off x="514350" y="4162425"/>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662FF9B-24A5-4284-820F-511330003451}"/>
              </a:ext>
            </a:extLst>
          </p:cNvPr>
          <p:cNvSpPr>
            <a:spLocks xmlns:a="http://schemas.openxmlformats.org/drawingml/2006/main" noGrp="1"/>
          </p:cNvSpPr>
          <p:nvPr/>
        </p:nvSpPr>
        <p:spPr>
          <a:xfrm xmlns:a="http://schemas.openxmlformats.org/drawingml/2006/main">
            <a:off x="514350" y="44005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Team identified</a:t>
            </a:r>
          </a:p>
        </p:txBody>
      </p:sp>
      <p:graphicFrame>
        <p:nvGraphicFramePr>
          <p:cNvPr id="32" name=""/>
          <p:cNvGraphicFramePr/>
          <p:nvPr/>
        </p:nvGraphicFramePr>
        <p:xfrm>
          <a:off xmlns:a="http://schemas.openxmlformats.org/drawingml/2006/main" x="514350" y="4743450"/>
          <a:ext xmlns:a="http://schemas.openxmlformats.org/drawingml/2006/main" cx="4953000" cy="1143000"/>
        </p:xfrm>
        <a:graphic xmlns:a="http://schemas.openxmlformats.org/drawingml/2006/main">
          <a:graphicData uri="http://schemas.openxmlformats.org/drawingml/2006/table">
            <a:tbl>
              <a:tblPr/>
              <a:tblGrid>
                <a:gridCol w="1657350"/>
                <a:gridCol w="3295650"/>
              </a:tblGrid>
              <a:tr h="228600">
                <a:tc>
                  <a:txBody>
                    <a:bodyPr lIns="66675" tIns="28575" rIns="57150" bIns="28575">
                      <a:noAutofit/>
                    </a:bodyPr>
                    <a:lstStyle/>
                    <a:p>
                      <a:pPr algn="l"/>
                      <a:r>
                        <a:rPr sz="638" b="1">
                          <a:solidFill>
                            <a:srgbClr val="FFFFFF"/>
                          </a:solidFill>
                          <a:latin typeface="Helvetica Neue"/>
                          <a:ea typeface="Helvetica Neue"/>
                          <a:cs typeface="Helvetica Neue"/>
                        </a:rPr>
                        <a:t>Insight area</a:t>
                      </a:r>
                    </a:p>
                  </a:txBody>
                  <a:tcPr marL="91440" marR="91440" marT="45720" marB="45720" anchor="ctr">
                    <a:solidFill>
                      <a:srgbClr val="0F4C5C"/>
                    </a:solidFill>
                  </a:tcPr>
                </a:tc>
                <a:tc>
                  <a:txBody>
                    <a:bodyPr lIns="66675" tIns="28575" rIns="57150" bIns="28575">
                      <a:noAutofit/>
                    </a:bodyPr>
                    <a:lstStyle/>
                    <a:p>
                      <a:pPr algn="l"/>
                      <a:r>
                        <a:rPr sz="638" b="1">
                          <a:solidFill>
                            <a:srgbClr val="FFFFFF"/>
                          </a:solidFill>
                          <a:latin typeface="Helvetica Neue"/>
                          <a:ea typeface="Helvetica Neue"/>
                          <a:cs typeface="Helvetica Neue"/>
                        </a:rPr>
                        <a:t>What the team found</a:t>
                      </a:r>
                    </a:p>
                  </a:txBody>
                  <a:tcPr marL="91440" marR="91440" marT="45720" marB="45720" anchor="ctr">
                    <a:solidFill>
                      <a:srgbClr val="0F4C5C"/>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Major performance drivers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Chronic burden, prior admissions, emergency admission, and skilled nursing discharge</a:t>
                      </a:r>
                    </a:p>
                  </a:txBody>
                  <a:tcPr marL="91440" marR="91440" marT="45720" marB="45720" anchor="ctr">
                    <a:solidFill>
                      <a:srgbClr val="EEF6F7"/>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Hidden opportunities</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Risk tiers can focus support on patients most likely to return</a:t>
                      </a:r>
                    </a:p>
                  </a:txBody>
                  <a:tcPr marL="91440" marR="91440" marT="45720" marB="45720" anchor="ctr">
                    <a:solidFill>
                      <a:srgbClr val="F8FBFC"/>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Risk factors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Unknown follow-up status, high-acuity discharge, repeat utilization, and financial data quality</a:t>
                      </a:r>
                    </a:p>
                  </a:txBody>
                  <a:tcPr marL="91440" marR="91440" marT="45720" marB="45720" anchor="ctr">
                    <a:solidFill>
                      <a:srgbClr val="EEF6F7"/>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Unexpected findings</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Unknown follow-up status has the highest observed readmission rate</a:t>
                      </a:r>
                    </a:p>
                  </a:txBody>
                  <a:tcPr marL="91440" marR="91440" marT="45720" marB="45720" anchor="ctr">
                    <a:solidFill>
                      <a:srgbClr val="F8FBFC"/>
                    </a:solidFill>
                  </a:tcPr>
                </a:tc>
              </a:tr>
            </a:tbl>
          </a:graphicData>
        </a:graphic>
      </p:graphicFrame>
      <p:sp>
        <p:nvSpPr>
          <p:cNvPr id="15" name="">
            <a:extLst xmlns:a="http://schemas.openxmlformats.org/drawingml/2006/main">
              <a:ext uri="{FF2B5EF4-FFF2-40B4-BE49-F238E27FC236}">
                <a16:creationId xmlns:a16="http://schemas.microsoft.com/office/drawing/2014/main" id="{E99F4089-A559-4A3D-BE81-07B51AFEAC37}"/>
              </a:ext>
            </a:extLst>
          </p:cNvPr>
          <p:cNvSpPr>
            <a:spLocks xmlns:a="http://schemas.openxmlformats.org/drawingml/2006/main" noGrp="1"/>
          </p:cNvSpPr>
          <p:nvPr/>
        </p:nvSpPr>
        <p:spPr>
          <a:xfrm xmlns:a="http://schemas.openxmlformats.org/drawingml/2006/main">
            <a:off x="6076950" y="44005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Significance distinction</a:t>
            </a:r>
          </a:p>
        </p:txBody>
      </p:sp>
      <p:graphicFrame>
        <p:nvGraphicFramePr>
          <p:cNvPr id="34" name=""/>
          <p:cNvGraphicFramePr/>
          <p:nvPr/>
        </p:nvGraphicFramePr>
        <p:xfrm>
          <a:off xmlns:a="http://schemas.openxmlformats.org/drawingml/2006/main" x="6076950" y="4743450"/>
          <a:ext xmlns:a="http://schemas.openxmlformats.org/drawingml/2006/main" cx="4724400" cy="1028700"/>
        </p:xfrm>
        <a:graphic xmlns:a="http://schemas.openxmlformats.org/drawingml/2006/main">
          <a:graphicData uri="http://schemas.openxmlformats.org/drawingml/2006/table">
            <a:tbl>
              <a:tblPr/>
              <a:tblGrid>
                <a:gridCol w="1181100"/>
                <a:gridCol w="3543300"/>
              </a:tblGrid>
              <a:tr h="257175">
                <a:tc>
                  <a:txBody>
                    <a:bodyPr lIns="66675" tIns="28575" rIns="57150" bIns="28575">
                      <a:noAutofit/>
                    </a:bodyPr>
                    <a:lstStyle/>
                    <a:p>
                      <a:pPr algn="l"/>
                      <a:r>
                        <a:rPr sz="660" b="1">
                          <a:solidFill>
                            <a:srgbClr val="FFFFFF"/>
                          </a:solidFill>
                          <a:latin typeface="Helvetica Neue"/>
                          <a:ea typeface="Helvetica Neue"/>
                          <a:cs typeface="Helvetica Neue"/>
                        </a:rPr>
                        <a:t>Lens</a:t>
                      </a:r>
                    </a:p>
                  </a:txBody>
                  <a:tcPr marL="91440" marR="91440" marT="45720" marB="45720" anchor="ctr">
                    <a:solidFill>
                      <a:srgbClr val="0F4C5C"/>
                    </a:solidFill>
                  </a:tcPr>
                </a:tc>
                <a:tc>
                  <a:txBody>
                    <a:bodyPr lIns="66675" tIns="28575" rIns="57150" bIns="28575">
                      <a:noAutofit/>
                    </a:bodyPr>
                    <a:lstStyle/>
                    <a:p>
                      <a:pPr algn="l"/>
                      <a:r>
                        <a:rPr sz="660" b="1">
                          <a:solidFill>
                            <a:srgbClr val="FFFFFF"/>
                          </a:solidFill>
                          <a:latin typeface="Helvetica Neue"/>
                          <a:ea typeface="Helvetica Neue"/>
                          <a:cs typeface="Helvetica Neue"/>
                        </a:rPr>
                        <a:t>Meaning for NHN</a:t>
                      </a:r>
                    </a:p>
                  </a:txBody>
                  <a:tcPr marL="91440" marR="91440" marT="45720" marB="45720" anchor="ctr">
                    <a:solidFill>
                      <a:srgbClr val="0F4C5C"/>
                    </a:solidFill>
                  </a:tcPr>
                </a:tc>
              </a:tr>
              <a:tr h="257175">
                <a:tc>
                  <a:txBody>
                    <a:bodyPr lIns="66675" tIns="28575" rIns="57150" bIns="28575">
                      <a:noAutofit/>
                    </a:bodyPr>
                    <a:lstStyle/>
                    <a:p>
                      <a:pPr algn="l"/>
                      <a:r>
                        <a:rPr sz="615" b="1">
                          <a:solidFill>
                            <a:srgbClr val="253B44"/>
                          </a:solidFill>
                          <a:latin typeface="Helvetica Neue"/>
                          <a:ea typeface="Helvetica Neue"/>
                          <a:cs typeface="Helvetica Neue"/>
                        </a:rPr>
                        <a:t>Statistical</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The model and deciles reliably separate higher-risk patients</a:t>
                      </a:r>
                    </a:p>
                  </a:txBody>
                  <a:tcPr marL="91440" marR="91440" marT="45720" marB="45720" anchor="ctr">
                    <a:solidFill>
                      <a:srgbClr val="EEF6F7"/>
                    </a:solidFill>
                  </a:tcPr>
                </a:tc>
              </a:tr>
              <a:tr h="257175">
                <a:tc>
                  <a:txBody>
                    <a:bodyPr lIns="66675" tIns="28575" rIns="57150" bIns="28575">
                      <a:noAutofit/>
                    </a:bodyPr>
                    <a:lstStyle/>
                    <a:p>
                      <a:pPr algn="l"/>
                      <a:r>
                        <a:rPr sz="615" b="1">
                          <a:solidFill>
                            <a:srgbClr val="253B44"/>
                          </a:solidFill>
                          <a:latin typeface="Helvetica Neue"/>
                          <a:ea typeface="Helvetica Neue"/>
                          <a:cs typeface="Helvetica Neue"/>
                        </a:rPr>
                        <a:t>Practical</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Care teams can act on risk tiers before discharge or during follow-up</a:t>
                      </a:r>
                    </a:p>
                  </a:txBody>
                  <a:tcPr marL="91440" marR="91440" marT="45720" marB="45720" anchor="ctr">
                    <a:solidFill>
                      <a:srgbClr val="F8FBFC"/>
                    </a:solidFill>
                  </a:tcPr>
                </a:tc>
              </a:tr>
              <a:tr h="257175">
                <a:tc>
                  <a:txBody>
                    <a:bodyPr lIns="66675" tIns="28575" rIns="57150" bIns="28575">
                      <a:noAutofit/>
                    </a:bodyPr>
                    <a:lstStyle/>
                    <a:p>
                      <a:pPr algn="l"/>
                      <a:r>
                        <a:rPr sz="615" b="1">
                          <a:solidFill>
                            <a:srgbClr val="253B44"/>
                          </a:solidFill>
                          <a:latin typeface="Helvetica Neue"/>
                          <a:ea typeface="Helvetica Neue"/>
                          <a:cs typeface="Helvetica Neue"/>
                        </a:rPr>
                        <a:t>Business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Targeted action must improve outcomes, capacity, penalties, or savings</a:t>
                      </a:r>
                    </a:p>
                  </a:txBody>
                  <a:tcPr marL="91440" marR="91440" marT="45720" marB="45720" anchor="ctr">
                    <a:solidFill>
                      <a:srgbClr val="EEF6F7"/>
                    </a:solidFill>
                  </a:tcPr>
                </a:tc>
              </a:tr>
            </a:tbl>
          </a:graphicData>
        </a:graphic>
      </p:graphicFrame>
      <p:sp>
        <p:nvSpPr>
          <p:cNvPr id="17" name="">
            <a:extLst xmlns:a="http://schemas.openxmlformats.org/drawingml/2006/main">
              <a:ext uri="{FF2B5EF4-FFF2-40B4-BE49-F238E27FC236}">
                <a16:creationId xmlns:a16="http://schemas.microsoft.com/office/drawing/2014/main" id="{AAF01B1A-DB38-45B6-8C46-8799B8DEC9B8}"/>
              </a:ext>
            </a:extLst>
          </p:cNvPr>
          <p:cNvSpPr>
            <a:spLocks xmlns:a="http://schemas.openxmlformats.org/drawingml/2006/main" noGrp="1"/>
          </p:cNvSpPr>
          <p:nvPr/>
        </p:nvSpPr>
        <p:spPr>
          <a:xfrm xmlns:a="http://schemas.openxmlformats.org/drawingml/2006/main">
            <a:off x="6076950" y="5924550"/>
            <a:ext cx="4724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818">
                <a:solidFill>
                  <a:srgbClr val="253B44"/>
                </a:solidFill>
                <a:latin typeface="Helvetica Neue"/>
                <a:ea typeface="Helvetica Neue"/>
                <a:cs typeface="Helvetica Neue"/>
              </a:defRPr>
            </a:pPr>
            <a:r>
              <a:rPr sz="818">
                <a:solidFill>
                  <a:srgbClr val="253B44"/>
                </a:solidFill>
                <a:latin typeface="Helvetica Neue"/>
                <a:ea typeface="Helvetica Neue"/>
                <a:cs typeface="Helvetica Neue"/>
              </a:rPr>
              <a:t>Board implication: prioritize insights that are credible in the model, actionable in the workflow, and material to the business case.</a:t>
            </a:r>
          </a:p>
        </p:txBody>
      </p:sp>
      <p:sp>
        <p:nvSpPr>
          <p:cNvPr id="18" name="">
            <a:extLst xmlns:a="http://schemas.openxmlformats.org/drawingml/2006/main">
              <a:ext uri="{FF2B5EF4-FFF2-40B4-BE49-F238E27FC236}">
                <a16:creationId xmlns:a16="http://schemas.microsoft.com/office/drawing/2014/main" id="{B4FCBF8A-1B64-48D5-80F5-D2091AE58358}"/>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risk score deciles, ROI scenarios, clinical segments, and cleaned NHN analysis outputs</a:t>
            </a:r>
          </a:p>
        </p:txBody>
      </p:sp>
    </p:spTree>
    <p:extLst>
      <p:ext uri="{BB962C8B-B14F-4D97-AF65-F5344CB8AC3E}">
        <p14:creationId xmlns:p14="http://schemas.microsoft.com/office/powerpoint/2010/main" val="2009785202"/>
      </p:ext>
    </p:extLst>
  </p:cSld>
</p:sld>
</file>

<file path=ppt/slides/slide5.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34465A5-A768-47DD-A79E-0A597E436147}"/>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025EBC5-6356-437A-92F2-46F298D46C69}"/>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7778A4DC-B196-4AE4-99CA-48658A4D2B08}"/>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Recommendations</a:t>
            </a:r>
          </a:p>
        </p:txBody>
      </p:sp>
      <p:sp>
        <p:nvSpPr>
          <p:cNvPr id="4" name="">
            <a:extLst xmlns:a="http://schemas.openxmlformats.org/drawingml/2006/main">
              <a:ext uri="{FF2B5EF4-FFF2-40B4-BE49-F238E27FC236}">
                <a16:creationId xmlns:a16="http://schemas.microsoft.com/office/drawing/2014/main" id="{7DD75931-C767-4409-BF72-15DCAA2A81B9}"/>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088">
                <a:solidFill>
                  <a:srgbClr val="50636B"/>
                </a:solidFill>
                <a:latin typeface="Helvetica Neue"/>
                <a:ea typeface="Helvetica Neue"/>
                <a:cs typeface="Helvetica Neue"/>
              </a:defRPr>
            </a:pPr>
            <a:r>
              <a:rPr sz="1088">
                <a:solidFill>
                  <a:srgbClr val="50636B"/>
                </a:solidFill>
                <a:latin typeface="Helvetica Neue"/>
                <a:ea typeface="Helvetica Neue"/>
                <a:cs typeface="Helvetica Neue"/>
              </a:rPr>
              <a:t>Actions, strategy, cost, benefits, timeline, and risks</a:t>
            </a:r>
          </a:p>
        </p:txBody>
      </p:sp>
      <p:sp>
        <p:nvSpPr>
          <p:cNvPr id="5" name="">
            <a:extLst xmlns:a="http://schemas.openxmlformats.org/drawingml/2006/main">
              <a:ext uri="{FF2B5EF4-FFF2-40B4-BE49-F238E27FC236}">
                <a16:creationId xmlns:a16="http://schemas.microsoft.com/office/drawing/2014/main" id="{A8B90E13-20DF-4ADE-AD86-305D39409100}"/>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graphicFrame>
        <p:nvGraphicFramePr>
          <p:cNvPr id="25" name=""/>
          <p:cNvGraphicFramePr/>
          <p:nvPr/>
        </p:nvGraphicFramePr>
        <p:xfrm>
          <a:off xmlns:a="http://schemas.openxmlformats.org/drawingml/2006/main" x="514350" y="1695450"/>
          <a:ext xmlns:a="http://schemas.openxmlformats.org/drawingml/2006/main" cx="10287000" cy="819150"/>
        </p:xfrm>
        <a:graphic xmlns:a="http://schemas.openxmlformats.org/drawingml/2006/main">
          <a:graphicData uri="http://schemas.openxmlformats.org/drawingml/2006/table">
            <a:tbl>
              <a:tblPr/>
              <a:tblGrid>
                <a:gridCol w="2571750"/>
                <a:gridCol w="2571750"/>
                <a:gridCol w="2571750"/>
                <a:gridCol w="2571750"/>
              </a:tblGrid>
              <a:tr h="409575">
                <a:tc>
                  <a:txBody>
                    <a:bodyPr lIns="66675" tIns="28575" rIns="57150" bIns="28575">
                      <a:noAutofit/>
                    </a:bodyPr>
                    <a:lstStyle/>
                    <a:p>
                      <a:pPr algn="ctr"/>
                      <a:r>
                        <a:rPr sz="1650" b="1">
                          <a:solidFill>
                            <a:srgbClr val="0F4C5C"/>
                          </a:solidFill>
                          <a:latin typeface="Helvetica Neue"/>
                          <a:ea typeface="Helvetica Neue"/>
                          <a:cs typeface="Helvetica Neue"/>
                        </a:rPr>
                        <a:t>$1.75M</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518</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$8.81M</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5.03x</a:t>
                      </a:r>
                    </a:p>
                  </a:txBody>
                  <a:tcPr marL="91440" marR="91440" marT="45720" marB="45720" anchor="ctr">
                    <a:solidFill>
                      <a:srgbClr val="EEF6F7"/>
                    </a:solidFill>
                  </a:tcPr>
                </a:tc>
              </a:tr>
              <a:tr h="409575">
                <a:tc>
                  <a:txBody>
                    <a:bodyPr lIns="66675" tIns="28575" rIns="57150" bIns="28575">
                      <a:noAutofit/>
                    </a:bodyPr>
                    <a:lstStyle/>
                    <a:p>
                      <a:pPr algn="ctr"/>
                      <a:r>
                        <a:rPr sz="705" b="0">
                          <a:solidFill>
                            <a:srgbClr val="50636B"/>
                          </a:solidFill>
                          <a:latin typeface="Helvetica Neue"/>
                          <a:ea typeface="Helvetica Neue"/>
                          <a:cs typeface="Helvetica Neue"/>
                        </a:rPr>
                        <a:t>Estimated implementation cost</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Expected avoided readmissions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Expected net savings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Expected ROI</a:t>
                      </a:r>
                    </a:p>
                  </a:txBody>
                  <a:tcPr marL="91440" marR="91440" marT="45720" marB="45720" anchor="ctr">
                    <a:solidFill>
                      <a:srgbClr val="F8FBFC"/>
                    </a:solidFill>
                  </a:tcPr>
                </a:tc>
              </a:tr>
            </a:tbl>
          </a:graphicData>
        </a:graphic>
      </p:graphicFrame>
      <p:sp>
        <p:nvSpPr>
          <p:cNvPr id="7" name="">
            <a:extLst xmlns:a="http://schemas.openxmlformats.org/drawingml/2006/main">
              <a:ext uri="{FF2B5EF4-FFF2-40B4-BE49-F238E27FC236}">
                <a16:creationId xmlns:a16="http://schemas.microsoft.com/office/drawing/2014/main" id="{EFD793B9-EC11-4558-BB92-248F53980688}"/>
              </a:ext>
            </a:extLst>
          </p:cNvPr>
          <p:cNvSpPr>
            <a:spLocks xmlns:a="http://schemas.openxmlformats.org/drawingml/2006/main" noGrp="1"/>
          </p:cNvSpPr>
          <p:nvPr/>
        </p:nvSpPr>
        <p:spPr>
          <a:xfrm xmlns:a="http://schemas.openxmlformats.org/drawingml/2006/main">
            <a:off x="514350" y="2771775"/>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8BB5B85-1EF3-48A7-8770-807CF1D0E530}"/>
              </a:ext>
            </a:extLst>
          </p:cNvPr>
          <p:cNvSpPr>
            <a:spLocks xmlns:a="http://schemas.openxmlformats.org/drawingml/2006/main" noGrp="1"/>
          </p:cNvSpPr>
          <p:nvPr/>
        </p:nvSpPr>
        <p:spPr>
          <a:xfrm xmlns:a="http://schemas.openxmlformats.org/drawingml/2006/main">
            <a:off x="514350" y="3009900"/>
            <a:ext cx="361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Recommendation roadmap</a:t>
            </a:r>
          </a:p>
        </p:txBody>
      </p:sp>
      <p:graphicFrame>
        <p:nvGraphicFramePr>
          <p:cNvPr id="28" name=""/>
          <p:cNvGraphicFramePr/>
          <p:nvPr/>
        </p:nvGraphicFramePr>
        <p:xfrm>
          <a:off xmlns:a="http://schemas.openxmlformats.org/drawingml/2006/main" x="514350" y="3362325"/>
          <a:ext xmlns:a="http://schemas.openxmlformats.org/drawingml/2006/main" cx="6343650" cy="1752600"/>
        </p:xfrm>
        <a:graphic xmlns:a="http://schemas.openxmlformats.org/drawingml/2006/main">
          <a:graphicData uri="http://schemas.openxmlformats.org/drawingml/2006/table">
            <a:tbl>
              <a:tblPr/>
              <a:tblGrid>
                <a:gridCol w="1295400"/>
                <a:gridCol w="2400300"/>
                <a:gridCol w="1333500"/>
                <a:gridCol w="1314450"/>
              </a:tblGrid>
              <a:tr h="292100">
                <a:tc>
                  <a:txBody>
                    <a:bodyPr lIns="66675" tIns="28575" rIns="57150" bIns="28575">
                      <a:noAutofit/>
                    </a:bodyPr>
                    <a:lstStyle/>
                    <a:p>
                      <a:pPr algn="l"/>
                      <a:r>
                        <a:rPr sz="623" b="1">
                          <a:solidFill>
                            <a:srgbClr val="FFFFFF"/>
                          </a:solidFill>
                          <a:latin typeface="Helvetica Neue"/>
                          <a:ea typeface="Helvetica Neue"/>
                          <a:cs typeface="Helvetica Neue"/>
                        </a:rPr>
                        <a:t>Action</a:t>
                      </a:r>
                    </a:p>
                  </a:txBody>
                  <a:tcPr marL="91440" marR="91440" marT="45720" marB="45720" anchor="ctr">
                    <a:solidFill>
                      <a:srgbClr val="0F4C5C"/>
                    </a:solidFill>
                  </a:tcPr>
                </a:tc>
                <a:tc>
                  <a:txBody>
                    <a:bodyPr lIns="66675" tIns="28575" rIns="57150" bIns="28575">
                      <a:noAutofit/>
                    </a:bodyPr>
                    <a:lstStyle/>
                    <a:p>
                      <a:pPr algn="l"/>
                      <a:r>
                        <a:rPr sz="623" b="1">
                          <a:solidFill>
                            <a:srgbClr val="FFFFFF"/>
                          </a:solidFill>
                          <a:latin typeface="Helvetica Neue"/>
                          <a:ea typeface="Helvetica Neue"/>
                          <a:cs typeface="Helvetica Neue"/>
                        </a:rPr>
                        <a:t>Recommendation</a:t>
                      </a:r>
                    </a:p>
                  </a:txBody>
                  <a:tcPr marL="91440" marR="91440" marT="45720" marB="45720" anchor="ctr">
                    <a:solidFill>
                      <a:srgbClr val="0F4C5C"/>
                    </a:solidFill>
                  </a:tcPr>
                </a:tc>
                <a:tc>
                  <a:txBody>
                    <a:bodyPr lIns="66675" tIns="28575" rIns="57150" bIns="28575">
                      <a:noAutofit/>
                    </a:bodyPr>
                    <a:lstStyle/>
                    <a:p>
                      <a:pPr algn="l"/>
                      <a:r>
                        <a:rPr sz="623" b="1">
                          <a:solidFill>
                            <a:srgbClr val="FFFFFF"/>
                          </a:solidFill>
                          <a:latin typeface="Helvetica Neue"/>
                          <a:ea typeface="Helvetica Neue"/>
                          <a:cs typeface="Helvetica Neue"/>
                        </a:rPr>
                        <a:t>Timing</a:t>
                      </a:r>
                    </a:p>
                  </a:txBody>
                  <a:tcPr marL="91440" marR="91440" marT="45720" marB="45720" anchor="ctr">
                    <a:solidFill>
                      <a:srgbClr val="0F4C5C"/>
                    </a:solidFill>
                  </a:tcPr>
                </a:tc>
                <a:tc>
                  <a:txBody>
                    <a:bodyPr lIns="66675" tIns="28575" rIns="57150" bIns="28575">
                      <a:noAutofit/>
                    </a:bodyPr>
                    <a:lstStyle/>
                    <a:p>
                      <a:pPr algn="l"/>
                      <a:r>
                        <a:rPr sz="623" b="1">
                          <a:solidFill>
                            <a:srgbClr val="FFFFFF"/>
                          </a:solidFill>
                          <a:latin typeface="Helvetica Neue"/>
                          <a:ea typeface="Helvetica Neue"/>
                          <a:cs typeface="Helvetica Neue"/>
                        </a:rPr>
                        <a:t>Expected benefit</a:t>
                      </a:r>
                    </a:p>
                  </a:txBody>
                  <a:tcPr marL="91440" marR="91440" marT="45720" marB="45720" anchor="ctr">
                    <a:solidFill>
                      <a:srgbClr val="0F4C5C"/>
                    </a:solidFill>
                  </a:tcPr>
                </a:tc>
              </a:tr>
              <a:tr h="292100">
                <a:tc>
                  <a:txBody>
                    <a:bodyPr lIns="66675" tIns="28575" rIns="57150" bIns="28575">
                      <a:noAutofit/>
                    </a:bodyPr>
                    <a:lstStyle/>
                    <a:p>
                      <a:pPr algn="l"/>
                      <a:r>
                        <a:rPr sz="555" b="1">
                          <a:solidFill>
                            <a:srgbClr val="253B44"/>
                          </a:solidFill>
                          <a:latin typeface="Helvetica Neue"/>
                          <a:ea typeface="Helvetica Neue"/>
                          <a:cs typeface="Helvetica Neue"/>
                        </a:rPr>
                        <a:t>Short term</a:t>
                      </a:r>
                    </a:p>
                  </a:txBody>
                  <a:tcPr marL="91440" marR="91440" marT="45720" marB="45720" anchor="ctr">
                    <a:solidFill>
                      <a:srgbClr val="EEF6F7"/>
                    </a:solidFill>
                  </a:tcPr>
                </a:tc>
                <a:tc>
                  <a:txBody>
                    <a:bodyPr lIns="66675" tIns="28575" rIns="57150" bIns="28575">
                      <a:noAutofit/>
                    </a:bodyPr>
                    <a:lstStyle/>
                    <a:p>
                      <a:pPr algn="l"/>
                      <a:r>
                        <a:rPr sz="555" b="0">
                          <a:solidFill>
                            <a:srgbClr val="253B44"/>
                          </a:solidFill>
                          <a:latin typeface="Helvetica Neue"/>
                          <a:ea typeface="Helvetica Neue"/>
                          <a:cs typeface="Helvetica Neue"/>
                        </a:rPr>
                        <a:t>Pilot pre-discharge risk scoring for emergency and skilled nursing discharges</a:t>
                      </a:r>
                    </a:p>
                  </a:txBody>
                  <a:tcPr marL="91440" marR="91440" marT="45720" marB="45720" anchor="ctr">
                    <a:solidFill>
                      <a:srgbClr val="EEF6F7"/>
                    </a:solidFill>
                  </a:tcPr>
                </a:tc>
                <a:tc>
                  <a:txBody>
                    <a:bodyPr lIns="66675" tIns="28575" rIns="57150" bIns="28575">
                      <a:noAutofit/>
                    </a:bodyPr>
                    <a:lstStyle/>
                    <a:p>
                      <a:pPr algn="l"/>
                      <a:r>
                        <a:rPr sz="555" b="0">
                          <a:solidFill>
                            <a:srgbClr val="253B44"/>
                          </a:solidFill>
                          <a:latin typeface="Helvetica Neue"/>
                          <a:ea typeface="Helvetica Neue"/>
                          <a:cs typeface="Helvetica Neue"/>
                        </a:rPr>
                        <a:t>0-3 months</a:t>
                      </a:r>
                    </a:p>
                  </a:txBody>
                  <a:tcPr marL="91440" marR="91440" marT="45720" marB="45720" anchor="ctr">
                    <a:solidFill>
                      <a:srgbClr val="EEF6F7"/>
                    </a:solidFill>
                  </a:tcPr>
                </a:tc>
                <a:tc>
                  <a:txBody>
                    <a:bodyPr lIns="66675" tIns="28575" rIns="57150" bIns="28575">
                      <a:noAutofit/>
                    </a:bodyPr>
                    <a:lstStyle/>
                    <a:p>
                      <a:pPr algn="l"/>
                      <a:r>
                        <a:rPr sz="555" b="0">
                          <a:solidFill>
                            <a:srgbClr val="253B44"/>
                          </a:solidFill>
                          <a:latin typeface="Helvetica Neue"/>
                          <a:ea typeface="Helvetica Neue"/>
                          <a:cs typeface="Helvetica Neue"/>
                        </a:rPr>
                        <a:t>Earlier targeting of highest-risk patients</a:t>
                      </a:r>
                    </a:p>
                  </a:txBody>
                  <a:tcPr marL="91440" marR="91440" marT="45720" marB="45720" anchor="ctr">
                    <a:solidFill>
                      <a:srgbClr val="EEF6F7"/>
                    </a:solidFill>
                  </a:tcPr>
                </a:tc>
              </a:tr>
              <a:tr h="292100">
                <a:tc>
                  <a:txBody>
                    <a:bodyPr lIns="66675" tIns="28575" rIns="57150" bIns="28575">
                      <a:noAutofit/>
                    </a:bodyPr>
                    <a:lstStyle/>
                    <a:p>
                      <a:pPr algn="l"/>
                      <a:r>
                        <a:rPr sz="555" b="1">
                          <a:solidFill>
                            <a:srgbClr val="253B44"/>
                          </a:solidFill>
                          <a:latin typeface="Helvetica Neue"/>
                          <a:ea typeface="Helvetica Neue"/>
                          <a:cs typeface="Helvetica Neue"/>
                        </a:rPr>
                        <a:t>Short term</a:t>
                      </a:r>
                    </a:p>
                  </a:txBody>
                  <a:tcPr marL="91440" marR="91440" marT="45720" marB="45720" anchor="ctr">
                    <a:solidFill>
                      <a:srgbClr val="F8FBFC"/>
                    </a:solidFill>
                  </a:tcPr>
                </a:tc>
                <a:tc>
                  <a:txBody>
                    <a:bodyPr lIns="66675" tIns="28575" rIns="57150" bIns="28575">
                      <a:noAutofit/>
                    </a:bodyPr>
                    <a:lstStyle/>
                    <a:p>
                      <a:pPr algn="l"/>
                      <a:r>
                        <a:rPr sz="555" b="0">
                          <a:solidFill>
                            <a:srgbClr val="253B44"/>
                          </a:solidFill>
                          <a:latin typeface="Helvetica Neue"/>
                          <a:ea typeface="Helvetica Neue"/>
                          <a:cs typeface="Helvetica Neue"/>
                        </a:rPr>
                        <a:t>Close follow-up documentation and completion gaps</a:t>
                      </a:r>
                    </a:p>
                  </a:txBody>
                  <a:tcPr marL="91440" marR="91440" marT="45720" marB="45720" anchor="ctr">
                    <a:solidFill>
                      <a:srgbClr val="F8FBFC"/>
                    </a:solidFill>
                  </a:tcPr>
                </a:tc>
                <a:tc>
                  <a:txBody>
                    <a:bodyPr lIns="66675" tIns="28575" rIns="57150" bIns="28575">
                      <a:noAutofit/>
                    </a:bodyPr>
                    <a:lstStyle/>
                    <a:p>
                      <a:pPr algn="l"/>
                      <a:r>
                        <a:rPr sz="555" b="0">
                          <a:solidFill>
                            <a:srgbClr val="253B44"/>
                          </a:solidFill>
                          <a:latin typeface="Helvetica Neue"/>
                          <a:ea typeface="Helvetica Neue"/>
                          <a:cs typeface="Helvetica Neue"/>
                        </a:rPr>
                        <a:t>0-3 months</a:t>
                      </a:r>
                    </a:p>
                  </a:txBody>
                  <a:tcPr marL="91440" marR="91440" marT="45720" marB="45720" anchor="ctr">
                    <a:solidFill>
                      <a:srgbClr val="F8FBFC"/>
                    </a:solidFill>
                  </a:tcPr>
                </a:tc>
                <a:tc>
                  <a:txBody>
                    <a:bodyPr lIns="66675" tIns="28575" rIns="57150" bIns="28575">
                      <a:noAutofit/>
                    </a:bodyPr>
                    <a:lstStyle/>
                    <a:p>
                      <a:pPr algn="l"/>
                      <a:r>
                        <a:rPr sz="555" b="0">
                          <a:solidFill>
                            <a:srgbClr val="253B44"/>
                          </a:solidFill>
                          <a:latin typeface="Helvetica Neue"/>
                          <a:ea typeface="Helvetica Neue"/>
                          <a:cs typeface="Helvetica Neue"/>
                        </a:rPr>
                        <a:t>Lower unknown follow-up status rate</a:t>
                      </a:r>
                    </a:p>
                  </a:txBody>
                  <a:tcPr marL="91440" marR="91440" marT="45720" marB="45720" anchor="ctr">
                    <a:solidFill>
                      <a:srgbClr val="F8FBFC"/>
                    </a:solidFill>
                  </a:tcPr>
                </a:tc>
              </a:tr>
              <a:tr h="292100">
                <a:tc>
                  <a:txBody>
                    <a:bodyPr lIns="66675" tIns="28575" rIns="57150" bIns="28575">
                      <a:noAutofit/>
                    </a:bodyPr>
                    <a:lstStyle/>
                    <a:p>
                      <a:pPr algn="l"/>
                      <a:r>
                        <a:rPr sz="555" b="1">
                          <a:solidFill>
                            <a:srgbClr val="253B44"/>
                          </a:solidFill>
                          <a:latin typeface="Helvetica Neue"/>
                          <a:ea typeface="Helvetica Neue"/>
                          <a:cs typeface="Helvetica Neue"/>
                        </a:rPr>
                        <a:t>Short term</a:t>
                      </a:r>
                    </a:p>
                  </a:txBody>
                  <a:tcPr marL="91440" marR="91440" marT="45720" marB="45720" anchor="ctr">
                    <a:solidFill>
                      <a:srgbClr val="EEF6F7"/>
                    </a:solidFill>
                  </a:tcPr>
                </a:tc>
                <a:tc>
                  <a:txBody>
                    <a:bodyPr lIns="66675" tIns="28575" rIns="57150" bIns="28575">
                      <a:noAutofit/>
                    </a:bodyPr>
                    <a:lstStyle/>
                    <a:p>
                      <a:pPr algn="l"/>
                      <a:r>
                        <a:rPr sz="555" b="0">
                          <a:solidFill>
                            <a:srgbClr val="253B44"/>
                          </a:solidFill>
                          <a:latin typeface="Helvetica Neue"/>
                          <a:ea typeface="Helvetica Neue"/>
                          <a:cs typeface="Helvetica Neue"/>
                        </a:rPr>
                        <a:t>Approve dashboard KPIs and readmission reduction targets</a:t>
                      </a:r>
                    </a:p>
                  </a:txBody>
                  <a:tcPr marL="91440" marR="91440" marT="45720" marB="45720" anchor="ctr">
                    <a:solidFill>
                      <a:srgbClr val="EEF6F7"/>
                    </a:solidFill>
                  </a:tcPr>
                </a:tc>
                <a:tc>
                  <a:txBody>
                    <a:bodyPr lIns="66675" tIns="28575" rIns="57150" bIns="28575">
                      <a:noAutofit/>
                    </a:bodyPr>
                    <a:lstStyle/>
                    <a:p>
                      <a:pPr algn="l"/>
                      <a:r>
                        <a:rPr sz="555" b="0">
                          <a:solidFill>
                            <a:srgbClr val="253B44"/>
                          </a:solidFill>
                          <a:latin typeface="Helvetica Neue"/>
                          <a:ea typeface="Helvetica Neue"/>
                          <a:cs typeface="Helvetica Neue"/>
                        </a:rPr>
                        <a:t>0-3 months</a:t>
                      </a:r>
                    </a:p>
                  </a:txBody>
                  <a:tcPr marL="91440" marR="91440" marT="45720" marB="45720" anchor="ctr">
                    <a:solidFill>
                      <a:srgbClr val="EEF6F7"/>
                    </a:solidFill>
                  </a:tcPr>
                </a:tc>
                <a:tc>
                  <a:txBody>
                    <a:bodyPr lIns="66675" tIns="28575" rIns="57150" bIns="28575">
                      <a:noAutofit/>
                    </a:bodyPr>
                    <a:lstStyle/>
                    <a:p>
                      <a:pPr algn="l"/>
                      <a:r>
                        <a:rPr sz="555" b="0">
                          <a:solidFill>
                            <a:srgbClr val="253B44"/>
                          </a:solidFill>
                          <a:latin typeface="Helvetica Neue"/>
                          <a:ea typeface="Helvetica Neue"/>
                          <a:cs typeface="Helvetica Neue"/>
                        </a:rPr>
                        <a:t>Consistent executive reporting</a:t>
                      </a:r>
                    </a:p>
                  </a:txBody>
                  <a:tcPr marL="91440" marR="91440" marT="45720" marB="45720" anchor="ctr">
                    <a:solidFill>
                      <a:srgbClr val="EEF6F7"/>
                    </a:solidFill>
                  </a:tcPr>
                </a:tc>
              </a:tr>
              <a:tr h="292100">
                <a:tc>
                  <a:txBody>
                    <a:bodyPr lIns="66675" tIns="28575" rIns="57150" bIns="28575">
                      <a:noAutofit/>
                    </a:bodyPr>
                    <a:lstStyle/>
                    <a:p>
                      <a:pPr algn="l"/>
                      <a:r>
                        <a:rPr sz="555" b="1">
                          <a:solidFill>
                            <a:srgbClr val="253B44"/>
                          </a:solidFill>
                          <a:latin typeface="Helvetica Neue"/>
                          <a:ea typeface="Helvetica Neue"/>
                          <a:cs typeface="Helvetica Neue"/>
                        </a:rPr>
                        <a:t>Long term</a:t>
                      </a:r>
                    </a:p>
                  </a:txBody>
                  <a:tcPr marL="91440" marR="91440" marT="45720" marB="45720" anchor="ctr">
                    <a:solidFill>
                      <a:srgbClr val="F8FBFC"/>
                    </a:solidFill>
                  </a:tcPr>
                </a:tc>
                <a:tc>
                  <a:txBody>
                    <a:bodyPr lIns="66675" tIns="28575" rIns="57150" bIns="28575">
                      <a:noAutofit/>
                    </a:bodyPr>
                    <a:lstStyle/>
                    <a:p>
                      <a:pPr algn="l"/>
                      <a:r>
                        <a:rPr sz="555" b="0">
                          <a:solidFill>
                            <a:srgbClr val="253B44"/>
                          </a:solidFill>
                          <a:latin typeface="Helvetica Neue"/>
                          <a:ea typeface="Helvetica Neue"/>
                          <a:cs typeface="Helvetica Neue"/>
                        </a:rPr>
                        <a:t>Expand care coordination for chronic disease and repeat-admission groups</a:t>
                      </a:r>
                    </a:p>
                  </a:txBody>
                  <a:tcPr marL="91440" marR="91440" marT="45720" marB="45720" anchor="ctr">
                    <a:solidFill>
                      <a:srgbClr val="F8FBFC"/>
                    </a:solidFill>
                  </a:tcPr>
                </a:tc>
                <a:tc>
                  <a:txBody>
                    <a:bodyPr lIns="66675" tIns="28575" rIns="57150" bIns="28575">
                      <a:noAutofit/>
                    </a:bodyPr>
                    <a:lstStyle/>
                    <a:p>
                      <a:pPr algn="l"/>
                      <a:r>
                        <a:rPr sz="555" b="0">
                          <a:solidFill>
                            <a:srgbClr val="253B44"/>
                          </a:solidFill>
                          <a:latin typeface="Helvetica Neue"/>
                          <a:ea typeface="Helvetica Neue"/>
                          <a:cs typeface="Helvetica Neue"/>
                        </a:rPr>
                        <a:t>3-6 months</a:t>
                      </a:r>
                    </a:p>
                  </a:txBody>
                  <a:tcPr marL="91440" marR="91440" marT="45720" marB="45720" anchor="ctr">
                    <a:solidFill>
                      <a:srgbClr val="F8FBFC"/>
                    </a:solidFill>
                  </a:tcPr>
                </a:tc>
                <a:tc>
                  <a:txBody>
                    <a:bodyPr lIns="66675" tIns="28575" rIns="57150" bIns="28575">
                      <a:noAutofit/>
                    </a:bodyPr>
                    <a:lstStyle/>
                    <a:p>
                      <a:pPr algn="l"/>
                      <a:r>
                        <a:rPr sz="555" b="0">
                          <a:solidFill>
                            <a:srgbClr val="253B44"/>
                          </a:solidFill>
                          <a:latin typeface="Helvetica Neue"/>
                          <a:ea typeface="Helvetica Neue"/>
                          <a:cs typeface="Helvetica Neue"/>
                        </a:rPr>
                        <a:t>Higher intervention completion in high-risk groups</a:t>
                      </a:r>
                    </a:p>
                  </a:txBody>
                  <a:tcPr marL="91440" marR="91440" marT="45720" marB="45720" anchor="ctr">
                    <a:solidFill>
                      <a:srgbClr val="F8FBFC"/>
                    </a:solidFill>
                  </a:tcPr>
                </a:tc>
              </a:tr>
              <a:tr h="292100">
                <a:tc>
                  <a:txBody>
                    <a:bodyPr lIns="66675" tIns="28575" rIns="57150" bIns="28575">
                      <a:noAutofit/>
                    </a:bodyPr>
                    <a:lstStyle/>
                    <a:p>
                      <a:pPr algn="l"/>
                      <a:r>
                        <a:rPr sz="555" b="1">
                          <a:solidFill>
                            <a:srgbClr val="253B44"/>
                          </a:solidFill>
                          <a:latin typeface="Helvetica Neue"/>
                          <a:ea typeface="Helvetica Neue"/>
                          <a:cs typeface="Helvetica Neue"/>
                        </a:rPr>
                        <a:t>Long term</a:t>
                      </a:r>
                    </a:p>
                  </a:txBody>
                  <a:tcPr marL="91440" marR="91440" marT="45720" marB="45720" anchor="ctr">
                    <a:solidFill>
                      <a:srgbClr val="EEF6F7"/>
                    </a:solidFill>
                  </a:tcPr>
                </a:tc>
                <a:tc>
                  <a:txBody>
                    <a:bodyPr lIns="66675" tIns="28575" rIns="57150" bIns="28575">
                      <a:noAutofit/>
                    </a:bodyPr>
                    <a:lstStyle/>
                    <a:p>
                      <a:pPr algn="l"/>
                      <a:r>
                        <a:rPr sz="555" b="0">
                          <a:solidFill>
                            <a:srgbClr val="253B44"/>
                          </a:solidFill>
                          <a:latin typeface="Helvetica Neue"/>
                          <a:ea typeface="Helvetica Neue"/>
                          <a:cs typeface="Helvetica Neue"/>
                        </a:rPr>
                        <a:t>Track ROI, penalty exposure, and model performance monthly</a:t>
                      </a:r>
                    </a:p>
                  </a:txBody>
                  <a:tcPr marL="91440" marR="91440" marT="45720" marB="45720" anchor="ctr">
                    <a:solidFill>
                      <a:srgbClr val="EEF6F7"/>
                    </a:solidFill>
                  </a:tcPr>
                </a:tc>
                <a:tc>
                  <a:txBody>
                    <a:bodyPr lIns="66675" tIns="28575" rIns="57150" bIns="28575">
                      <a:noAutofit/>
                    </a:bodyPr>
                    <a:lstStyle/>
                    <a:p>
                      <a:pPr algn="l"/>
                      <a:r>
                        <a:rPr sz="555" b="0">
                          <a:solidFill>
                            <a:srgbClr val="253B44"/>
                          </a:solidFill>
                          <a:latin typeface="Helvetica Neue"/>
                          <a:ea typeface="Helvetica Neue"/>
                          <a:cs typeface="Helvetica Neue"/>
                        </a:rPr>
                        <a:t>6-12 months</a:t>
                      </a:r>
                    </a:p>
                  </a:txBody>
                  <a:tcPr marL="91440" marR="91440" marT="45720" marB="45720" anchor="ctr">
                    <a:solidFill>
                      <a:srgbClr val="EEF6F7"/>
                    </a:solidFill>
                  </a:tcPr>
                </a:tc>
                <a:tc>
                  <a:txBody>
                    <a:bodyPr lIns="66675" tIns="28575" rIns="57150" bIns="28575">
                      <a:noAutofit/>
                    </a:bodyPr>
                    <a:lstStyle/>
                    <a:p>
                      <a:pPr algn="l"/>
                      <a:r>
                        <a:rPr sz="555" b="0">
                          <a:solidFill>
                            <a:srgbClr val="253B44"/>
                          </a:solidFill>
                          <a:latin typeface="Helvetica Neue"/>
                          <a:ea typeface="Helvetica Neue"/>
                          <a:cs typeface="Helvetica Neue"/>
                        </a:rPr>
                        <a:t>Sustained savings and model governance</a:t>
                      </a:r>
                    </a:p>
                  </a:txBody>
                  <a:tcPr marL="91440" marR="91440" marT="45720" marB="45720" anchor="ctr">
                    <a:solidFill>
                      <a:srgbClr val="EEF6F7"/>
                    </a:solidFill>
                  </a:tcPr>
                </a:tc>
              </a:tr>
            </a:tbl>
          </a:graphicData>
        </a:graphic>
      </p:graphicFrame>
      <p:sp>
        <p:nvSpPr>
          <p:cNvPr id="10" name="">
            <a:extLst xmlns:a="http://schemas.openxmlformats.org/drawingml/2006/main">
              <a:ext uri="{FF2B5EF4-FFF2-40B4-BE49-F238E27FC236}">
                <a16:creationId xmlns:a16="http://schemas.microsoft.com/office/drawing/2014/main" id="{63391FE7-E85D-41AA-89C6-9A8E933530F6}"/>
              </a:ext>
            </a:extLst>
          </p:cNvPr>
          <p:cNvSpPr>
            <a:spLocks xmlns:a="http://schemas.openxmlformats.org/drawingml/2006/main" noGrp="1"/>
          </p:cNvSpPr>
          <p:nvPr/>
        </p:nvSpPr>
        <p:spPr>
          <a:xfrm xmlns:a="http://schemas.openxmlformats.org/drawingml/2006/main">
            <a:off x="7277100" y="30099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Implementation timeline</a:t>
            </a:r>
          </a:p>
        </p:txBody>
      </p:sp>
      <p:graphicFrame>
        <p:nvGraphicFramePr>
          <p:cNvPr id="30" name=""/>
          <p:cNvGraphicFramePr/>
          <p:nvPr/>
        </p:nvGraphicFramePr>
        <p:xfrm>
          <a:off xmlns:a="http://schemas.openxmlformats.org/drawingml/2006/main" x="7277100" y="3362325"/>
          <a:ext xmlns:a="http://schemas.openxmlformats.org/drawingml/2006/main" cx="3524250" cy="1104900"/>
        </p:xfrm>
        <a:graphic xmlns:a="http://schemas.openxmlformats.org/drawingml/2006/main">
          <a:graphicData uri="http://schemas.openxmlformats.org/drawingml/2006/table">
            <a:tbl>
              <a:tblPr/>
              <a:tblGrid>
                <a:gridCol w="990600"/>
                <a:gridCol w="2533650"/>
              </a:tblGrid>
              <a:tr h="276225">
                <a:tc>
                  <a:txBody>
                    <a:bodyPr lIns="66675" tIns="28575" rIns="57150" bIns="28575">
                      <a:noAutofit/>
                    </a:bodyPr>
                    <a:lstStyle/>
                    <a:p>
                      <a:pPr algn="l"/>
                      <a:r>
                        <a:rPr sz="660" b="1">
                          <a:solidFill>
                            <a:srgbClr val="FFFFFF"/>
                          </a:solidFill>
                          <a:latin typeface="Helvetica Neue"/>
                          <a:ea typeface="Helvetica Neue"/>
                          <a:cs typeface="Helvetica Neue"/>
                        </a:rPr>
                        <a:t>Phase</a:t>
                      </a:r>
                    </a:p>
                  </a:txBody>
                  <a:tcPr marL="91440" marR="91440" marT="45720" marB="45720" anchor="ctr">
                    <a:solidFill>
                      <a:srgbClr val="0F4C5C"/>
                    </a:solidFill>
                  </a:tcPr>
                </a:tc>
                <a:tc>
                  <a:txBody>
                    <a:bodyPr lIns="66675" tIns="28575" rIns="57150" bIns="28575">
                      <a:noAutofit/>
                    </a:bodyPr>
                    <a:lstStyle/>
                    <a:p>
                      <a:pPr algn="l"/>
                      <a:r>
                        <a:rPr sz="660" b="1">
                          <a:solidFill>
                            <a:srgbClr val="FFFFFF"/>
                          </a:solidFill>
                          <a:latin typeface="Helvetica Neue"/>
                          <a:ea typeface="Helvetica Neue"/>
                          <a:cs typeface="Helvetica Neue"/>
                        </a:rPr>
                        <a:t>Focus</a:t>
                      </a:r>
                    </a:p>
                  </a:txBody>
                  <a:tcPr marL="91440" marR="91440" marT="45720" marB="45720" anchor="ctr">
                    <a:solidFill>
                      <a:srgbClr val="0F4C5C"/>
                    </a:solidFill>
                  </a:tcPr>
                </a:tc>
              </a:tr>
              <a:tr h="276225">
                <a:tc>
                  <a:txBody>
                    <a:bodyPr lIns="66675" tIns="28575" rIns="57150" bIns="28575">
                      <a:noAutofit/>
                    </a:bodyPr>
                    <a:lstStyle/>
                    <a:p>
                      <a:pPr algn="l"/>
                      <a:r>
                        <a:rPr sz="623" b="1">
                          <a:solidFill>
                            <a:srgbClr val="253B44"/>
                          </a:solidFill>
                          <a:latin typeface="Helvetica Neue"/>
                          <a:ea typeface="Helvetica Neue"/>
                          <a:cs typeface="Helvetica Neue"/>
                        </a:rPr>
                        <a:t>0-3 months</a:t>
                      </a:r>
                    </a:p>
                  </a:txBody>
                  <a:tcPr marL="91440" marR="91440" marT="45720" marB="45720" anchor="ctr">
                    <a:solidFill>
                      <a:srgbClr val="EEF6F7"/>
                    </a:solidFill>
                  </a:tcPr>
                </a:tc>
                <a:tc>
                  <a:txBody>
                    <a:bodyPr lIns="66675" tIns="28575" rIns="57150" bIns="28575">
                      <a:noAutofit/>
                    </a:bodyPr>
                    <a:lstStyle/>
                    <a:p>
                      <a:pPr algn="l"/>
                      <a:r>
                        <a:rPr sz="623" b="0">
                          <a:solidFill>
                            <a:srgbClr val="253B44"/>
                          </a:solidFill>
                          <a:latin typeface="Helvetica Neue"/>
                          <a:ea typeface="Helvetica Neue"/>
                          <a:cs typeface="Helvetica Neue"/>
                        </a:rPr>
                        <a:t>Risk-score pilot, follow-up workflow fix, KPI governance</a:t>
                      </a:r>
                    </a:p>
                  </a:txBody>
                  <a:tcPr marL="91440" marR="91440" marT="45720" marB="45720" anchor="ctr">
                    <a:solidFill>
                      <a:srgbClr val="EEF6F7"/>
                    </a:solidFill>
                  </a:tcPr>
                </a:tc>
              </a:tr>
              <a:tr h="276225">
                <a:tc>
                  <a:txBody>
                    <a:bodyPr lIns="66675" tIns="28575" rIns="57150" bIns="28575">
                      <a:noAutofit/>
                    </a:bodyPr>
                    <a:lstStyle/>
                    <a:p>
                      <a:pPr algn="l"/>
                      <a:r>
                        <a:rPr sz="623" b="1">
                          <a:solidFill>
                            <a:srgbClr val="253B44"/>
                          </a:solidFill>
                          <a:latin typeface="Helvetica Neue"/>
                          <a:ea typeface="Helvetica Neue"/>
                          <a:cs typeface="Helvetica Neue"/>
                        </a:rPr>
                        <a:t>3-6 months</a:t>
                      </a:r>
                    </a:p>
                  </a:txBody>
                  <a:tcPr marL="91440" marR="91440" marT="45720" marB="45720" anchor="ctr">
                    <a:solidFill>
                      <a:srgbClr val="F8FBFC"/>
                    </a:solidFill>
                  </a:tcPr>
                </a:tc>
                <a:tc>
                  <a:txBody>
                    <a:bodyPr lIns="66675" tIns="28575" rIns="57150" bIns="28575">
                      <a:noAutofit/>
                    </a:bodyPr>
                    <a:lstStyle/>
                    <a:p>
                      <a:pPr algn="l"/>
                      <a:r>
                        <a:rPr sz="623" b="0">
                          <a:solidFill>
                            <a:srgbClr val="253B44"/>
                          </a:solidFill>
                          <a:latin typeface="Helvetica Neue"/>
                          <a:ea typeface="Helvetica Neue"/>
                          <a:cs typeface="Helvetica Neue"/>
                        </a:rPr>
                        <a:t>Targeted care coordination expansion and executive dashboard</a:t>
                      </a:r>
                    </a:p>
                  </a:txBody>
                  <a:tcPr marL="91440" marR="91440" marT="45720" marB="45720" anchor="ctr">
                    <a:solidFill>
                      <a:srgbClr val="F8FBFC"/>
                    </a:solidFill>
                  </a:tcPr>
                </a:tc>
              </a:tr>
              <a:tr h="276225">
                <a:tc>
                  <a:txBody>
                    <a:bodyPr lIns="66675" tIns="28575" rIns="57150" bIns="28575">
                      <a:noAutofit/>
                    </a:bodyPr>
                    <a:lstStyle/>
                    <a:p>
                      <a:pPr algn="l"/>
                      <a:r>
                        <a:rPr sz="623" b="1">
                          <a:solidFill>
                            <a:srgbClr val="253B44"/>
                          </a:solidFill>
                          <a:latin typeface="Helvetica Neue"/>
                          <a:ea typeface="Helvetica Neue"/>
                          <a:cs typeface="Helvetica Neue"/>
                        </a:rPr>
                        <a:t>6-12 months</a:t>
                      </a:r>
                    </a:p>
                  </a:txBody>
                  <a:tcPr marL="91440" marR="91440" marT="45720" marB="45720" anchor="ctr">
                    <a:solidFill>
                      <a:srgbClr val="EEF6F7"/>
                    </a:solidFill>
                  </a:tcPr>
                </a:tc>
                <a:tc>
                  <a:txBody>
                    <a:bodyPr lIns="66675" tIns="28575" rIns="57150" bIns="28575">
                      <a:noAutofit/>
                    </a:bodyPr>
                    <a:lstStyle/>
                    <a:p>
                      <a:pPr algn="l"/>
                      <a:r>
                        <a:rPr sz="623" b="0">
                          <a:solidFill>
                            <a:srgbClr val="253B44"/>
                          </a:solidFill>
                          <a:latin typeface="Helvetica Neue"/>
                          <a:ea typeface="Helvetica Neue"/>
                          <a:cs typeface="Helvetica Neue"/>
                        </a:rPr>
                        <a:t>Monthly ROI tracking and model refresh</a:t>
                      </a:r>
                    </a:p>
                  </a:txBody>
                  <a:tcPr marL="91440" marR="91440" marT="45720" marB="45720" anchor="ctr">
                    <a:solidFill>
                      <a:srgbClr val="EEF6F7"/>
                    </a:solidFill>
                  </a:tcPr>
                </a:tc>
              </a:tr>
            </a:tbl>
          </a:graphicData>
        </a:graphic>
      </p:graphicFrame>
      <p:sp>
        <p:nvSpPr>
          <p:cNvPr id="12" name="">
            <a:extLst xmlns:a="http://schemas.openxmlformats.org/drawingml/2006/main">
              <a:ext uri="{FF2B5EF4-FFF2-40B4-BE49-F238E27FC236}">
                <a16:creationId xmlns:a16="http://schemas.microsoft.com/office/drawing/2014/main" id="{488F6F33-4A2D-47C5-9D04-DC7DCF41CF25}"/>
              </a:ext>
            </a:extLst>
          </p:cNvPr>
          <p:cNvSpPr>
            <a:spLocks xmlns:a="http://schemas.openxmlformats.org/drawingml/2006/main" noGrp="1"/>
          </p:cNvSpPr>
          <p:nvPr/>
        </p:nvSpPr>
        <p:spPr>
          <a:xfrm xmlns:a="http://schemas.openxmlformats.org/drawingml/2006/main">
            <a:off x="7277100" y="469582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Potential risks</a:t>
            </a:r>
          </a:p>
        </p:txBody>
      </p:sp>
      <p:sp>
        <p:nvSpPr>
          <p:cNvPr id="13" name="">
            <a:extLst xmlns:a="http://schemas.openxmlformats.org/drawingml/2006/main">
              <a:ext uri="{FF2B5EF4-FFF2-40B4-BE49-F238E27FC236}">
                <a16:creationId xmlns:a16="http://schemas.microsoft.com/office/drawing/2014/main" id="{87D342A4-5AB4-4CB4-A209-9F4FF5EBD699}"/>
              </a:ext>
            </a:extLst>
          </p:cNvPr>
          <p:cNvSpPr>
            <a:spLocks xmlns:a="http://schemas.openxmlformats.org/drawingml/2006/main" noGrp="1"/>
          </p:cNvSpPr>
          <p:nvPr/>
        </p:nvSpPr>
        <p:spPr>
          <a:xfrm xmlns:a="http://schemas.openxmlformats.org/drawingml/2006/main">
            <a:off x="7353300" y="5029200"/>
            <a:ext cx="3333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3000"/>
              </a:lnSpc>
              <a:spcAft>
                <a:spcPts val="300"/>
              </a:spcAft>
              <a:buNone/>
              <a:defRPr sz="765">
                <a:solidFill>
                  <a:srgbClr val="253B44"/>
                </a:solidFill>
                <a:latin typeface="Helvetica Neue"/>
                <a:ea typeface="Helvetica Neue"/>
                <a:cs typeface="Helvetica Neue"/>
              </a:defRPr>
            </a:pPr>
            <a:r>
              <a:rPr sz="765">
                <a:solidFill>
                  <a:srgbClr val="253B44"/>
                </a:solidFill>
                <a:latin typeface="Helvetica Neue"/>
                <a:ea typeface="Helvetica Neue"/>
                <a:cs typeface="Helvetica Neue"/>
              </a:rPr>
              <a:t>Risk score adoption may stall without clear clinical workflow ownership</a:t>
            </a:r>
          </a:p>
          <a:p xmlns:a="http://schemas.openxmlformats.org/drawingml/2006/main">
            <a:pPr marL="139700" indent="-63500">
              <a:lnSpc>
                <a:spcPct val="103000"/>
              </a:lnSpc>
              <a:spcAft>
                <a:spcPts val="300"/>
              </a:spcAft>
              <a:buNone/>
              <a:defRPr sz="765">
                <a:solidFill>
                  <a:srgbClr val="253B44"/>
                </a:solidFill>
                <a:latin typeface="Helvetica Neue"/>
                <a:ea typeface="Helvetica Neue"/>
                <a:cs typeface="Helvetica Neue"/>
              </a:defRPr>
            </a:pPr>
            <a:r>
              <a:rPr sz="765">
                <a:solidFill>
                  <a:srgbClr val="253B44"/>
                </a:solidFill>
                <a:latin typeface="Helvetica Neue"/>
                <a:ea typeface="Helvetica Neue"/>
                <a:cs typeface="Helvetica Neue"/>
              </a:rPr>
              <a:t>Follow-up documentation gaps may hide operational performance issues</a:t>
            </a:r>
          </a:p>
          <a:p xmlns:a="http://schemas.openxmlformats.org/drawingml/2006/main">
            <a:pPr marL="139700" indent="-63500">
              <a:lnSpc>
                <a:spcPct val="103000"/>
              </a:lnSpc>
              <a:spcAft>
                <a:spcPts val="300"/>
              </a:spcAft>
              <a:buNone/>
              <a:defRPr sz="765">
                <a:solidFill>
                  <a:srgbClr val="253B44"/>
                </a:solidFill>
                <a:latin typeface="Helvetica Neue"/>
                <a:ea typeface="Helvetica Neue"/>
                <a:cs typeface="Helvetica Neue"/>
              </a:defRPr>
            </a:pPr>
            <a:r>
              <a:rPr sz="765">
                <a:solidFill>
                  <a:srgbClr val="253B44"/>
                </a:solidFill>
                <a:latin typeface="Helvetica Neue"/>
                <a:ea typeface="Helvetica Neue"/>
                <a:cs typeface="Helvetica Neue"/>
              </a:rPr>
              <a:t>ROI estimates depend on validated cost, penalty, and intervention assumptions</a:t>
            </a:r>
          </a:p>
        </p:txBody>
      </p:sp>
      <p:sp>
        <p:nvSpPr>
          <p:cNvPr id="14" name="">
            <a:extLst xmlns:a="http://schemas.openxmlformats.org/drawingml/2006/main">
              <a:ext uri="{FF2B5EF4-FFF2-40B4-BE49-F238E27FC236}">
                <a16:creationId xmlns:a16="http://schemas.microsoft.com/office/drawing/2014/main" id="{5A7250E2-C6AB-47AC-9AF0-6A33CAE42449}"/>
              </a:ext>
            </a:extLst>
          </p:cNvPr>
          <p:cNvSpPr>
            <a:spLocks xmlns:a="http://schemas.openxmlformats.org/drawingml/2006/main" noGrp="1"/>
          </p:cNvSpPr>
          <p:nvPr/>
        </p:nvSpPr>
        <p:spPr>
          <a:xfrm xmlns:a="http://schemas.openxmlformats.org/drawingml/2006/main">
            <a:off x="514350" y="5400675"/>
            <a:ext cx="634365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BC093EE-2BEE-4430-8417-50FFC986DE31}"/>
              </a:ext>
            </a:extLst>
          </p:cNvPr>
          <p:cNvSpPr>
            <a:spLocks xmlns:a="http://schemas.openxmlformats.org/drawingml/2006/main" noGrp="1"/>
          </p:cNvSpPr>
          <p:nvPr/>
        </p:nvSpPr>
        <p:spPr>
          <a:xfrm xmlns:a="http://schemas.openxmlformats.org/drawingml/2006/main">
            <a:off x="514350" y="5610225"/>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00" b="1">
                <a:solidFill>
                  <a:srgbClr val="102A34"/>
                </a:solidFill>
                <a:latin typeface="Helvetica Neue"/>
                <a:ea typeface="Helvetica Neue"/>
                <a:cs typeface="Helvetica Neue"/>
              </a:defRPr>
            </a:pPr>
            <a:r>
              <a:rPr sz="1200" b="1">
                <a:solidFill>
                  <a:srgbClr val="102A34"/>
                </a:solidFill>
                <a:latin typeface="Helvetica Neue"/>
                <a:ea typeface="Helvetica Neue"/>
                <a:cs typeface="Helvetica Neue"/>
              </a:rPr>
              <a:t>Cost and benefit logic</a:t>
            </a:r>
          </a:p>
        </p:txBody>
      </p:sp>
      <p:sp>
        <p:nvSpPr>
          <p:cNvPr id="16" name="">
            <a:extLst xmlns:a="http://schemas.openxmlformats.org/drawingml/2006/main">
              <a:ext uri="{FF2B5EF4-FFF2-40B4-BE49-F238E27FC236}">
                <a16:creationId xmlns:a16="http://schemas.microsoft.com/office/drawing/2014/main" id="{146FBC89-3FC5-446D-88D3-4C48526936E0}"/>
              </a:ext>
            </a:extLst>
          </p:cNvPr>
          <p:cNvSpPr>
            <a:spLocks xmlns:a="http://schemas.openxmlformats.org/drawingml/2006/main" noGrp="1"/>
          </p:cNvSpPr>
          <p:nvPr/>
        </p:nvSpPr>
        <p:spPr>
          <a:xfrm xmlns:a="http://schemas.openxmlformats.org/drawingml/2006/main">
            <a:off x="2609850" y="5629275"/>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10">
                <a:solidFill>
                  <a:srgbClr val="253B44"/>
                </a:solidFill>
                <a:latin typeface="Helvetica Neue"/>
                <a:ea typeface="Helvetica Neue"/>
                <a:cs typeface="Helvetica Neue"/>
              </a:defRPr>
            </a:pPr>
            <a:r>
              <a:rPr sz="810">
                <a:solidFill>
                  <a:srgbClr val="253B44"/>
                </a:solidFill>
                <a:latin typeface="Helvetica Neue"/>
                <a:ea typeface="Helvetica Neue"/>
                <a:cs typeface="Helvetica Neue"/>
              </a:rPr>
              <a:t>Expected scenario assumes a 10.0% readmission reduction, $1.75M implementation cost, and 518 avoided readmissions. Finance should validate assumptions before budget commitment.</a:t>
            </a:r>
          </a:p>
        </p:txBody>
      </p:sp>
      <p:sp>
        <p:nvSpPr>
          <p:cNvPr id="17" name="">
            <a:extLst xmlns:a="http://schemas.openxmlformats.org/drawingml/2006/main">
              <a:ext uri="{FF2B5EF4-FFF2-40B4-BE49-F238E27FC236}">
                <a16:creationId xmlns:a16="http://schemas.microsoft.com/office/drawing/2014/main" id="{C6818857-0A5A-482E-B5C4-E1C0CE787E4D}"/>
              </a:ext>
            </a:extLst>
          </p:cNvPr>
          <p:cNvSpPr>
            <a:spLocks xmlns:a="http://schemas.openxmlformats.org/drawingml/2006/main" noGrp="1"/>
          </p:cNvSpPr>
          <p:nvPr/>
        </p:nvSpPr>
        <p:spPr>
          <a:xfrm xmlns:a="http://schemas.openxmlformats.org/drawingml/2006/main">
            <a:off x="7277100" y="603885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00" b="1">
                <a:solidFill>
                  <a:srgbClr val="102A34"/>
                </a:solidFill>
                <a:latin typeface="Helvetica Neue"/>
                <a:ea typeface="Helvetica Neue"/>
                <a:cs typeface="Helvetica Neue"/>
              </a:defRPr>
            </a:pPr>
            <a:r>
              <a:rPr sz="1200" b="1">
                <a:solidFill>
                  <a:srgbClr val="102A34"/>
                </a:solidFill>
                <a:latin typeface="Helvetica Neue"/>
                <a:ea typeface="Helvetica Neue"/>
                <a:cs typeface="Helvetica Neue"/>
              </a:rPr>
              <a:t>Decision ask</a:t>
            </a:r>
          </a:p>
        </p:txBody>
      </p:sp>
      <p:sp>
        <p:nvSpPr>
          <p:cNvPr id="18" name="">
            <a:extLst xmlns:a="http://schemas.openxmlformats.org/drawingml/2006/main">
              <a:ext uri="{FF2B5EF4-FFF2-40B4-BE49-F238E27FC236}">
                <a16:creationId xmlns:a16="http://schemas.microsoft.com/office/drawing/2014/main" id="{F965EFF2-8506-47A3-A657-B2CC74A86D78}"/>
              </a:ext>
            </a:extLst>
          </p:cNvPr>
          <p:cNvSpPr>
            <a:spLocks xmlns:a="http://schemas.openxmlformats.org/drawingml/2006/main" noGrp="1"/>
          </p:cNvSpPr>
          <p:nvPr/>
        </p:nvSpPr>
        <p:spPr>
          <a:xfrm xmlns:a="http://schemas.openxmlformats.org/drawingml/2006/main">
            <a:off x="8420100" y="6057900"/>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810">
                <a:solidFill>
                  <a:srgbClr val="253B44"/>
                </a:solidFill>
                <a:latin typeface="Helvetica Neue"/>
                <a:ea typeface="Helvetica Neue"/>
                <a:cs typeface="Helvetica Neue"/>
              </a:defRPr>
            </a:pPr>
            <a:r>
              <a:rPr sz="810">
                <a:solidFill>
                  <a:srgbClr val="253B44"/>
                </a:solidFill>
                <a:latin typeface="Helvetica Neue"/>
                <a:ea typeface="Helvetica Neue"/>
                <a:cs typeface="Helvetica Neue"/>
              </a:rPr>
              <a:t>Approve a 0-3 month pilot focused on risk scoring, follow-up visibility, and discharge review.</a:t>
            </a:r>
          </a:p>
        </p:txBody>
      </p:sp>
      <p:sp>
        <p:nvSpPr>
          <p:cNvPr id="19" name="">
            <a:extLst xmlns:a="http://schemas.openxmlformats.org/drawingml/2006/main">
              <a:ext uri="{FF2B5EF4-FFF2-40B4-BE49-F238E27FC236}">
                <a16:creationId xmlns:a16="http://schemas.microsoft.com/office/drawing/2014/main" id="{96232CFD-CE51-4E9D-B431-35717D83FAEE}"/>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recommendation evidence matrix, implementation roadmap, ROI scenarios, and success metrics</a:t>
            </a:r>
          </a:p>
        </p:txBody>
      </p:sp>
    </p:spTree>
    <p:extLst>
      <p:ext uri="{BB962C8B-B14F-4D97-AF65-F5344CB8AC3E}">
        <p14:creationId xmlns:p14="http://schemas.microsoft.com/office/powerpoint/2010/main" val="12857804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2026-09-19T18:19:40.7150000Z</dcterms:created>
  <dcterms:modified xsi:type="dcterms:W3CDTF">2026-09-19T18:19:40.7150000Z</dcterms:modified>
</coreProperties>
</file>