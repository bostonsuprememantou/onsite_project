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052e46edf14d09" /><Relationship Type="http://schemas.openxmlformats.org/officeDocument/2006/relationships/extended-properties" Target="/docProps/app.xml" Id="R982f23eed55b4848" /><Relationship Type="http://schemas.openxmlformats.org/officeDocument/2006/relationships/officeDocument" Target="/ppt/presentation.xml" Id="R1667fcebc99349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9fb958fe4d487f"/>
  </p:sldMasterIdLst>
  <p:sldIdLst>
    <p:sldId xmlns:r="http://schemas.openxmlformats.org/officeDocument/2006/relationships" id="256" r:id="Rea515b4678574d05"/>
    <p:sldId xmlns:r="http://schemas.openxmlformats.org/officeDocument/2006/relationships" id="257" r:id="Rslide2Draft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3ccc9e99a347b8" /><Relationship Type="http://schemas.openxmlformats.org/officeDocument/2006/relationships/slideMaster" Target="/ppt/slideMasters/slideMaster1.xml" Id="R6b9fb958fe4d487f" /><Relationship Type="http://schemas.openxmlformats.org/officeDocument/2006/relationships/presProps" Target="/ppt/presProps.xml" Id="R1060972bf95441aa" /><Relationship Type="http://schemas.openxmlformats.org/officeDocument/2006/relationships/tableStyles" Target="/ppt/tableStyles.xml" Id="R4776bbeb06d848be" /><Relationship Type="http://schemas.openxmlformats.org/officeDocument/2006/relationships/slide" Target="/ppt/slides/slide1.xml" Id="Rea515b4678574d05" /><Relationship Type="http://schemas.openxmlformats.org/officeDocument/2006/relationships/slide" Target="/ppt/slides/slide2.xml" Id="Rslide2Draft2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8a0aef732d46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85d8a9dfbf49ca" /><Relationship Type="http://schemas.openxmlformats.org/officeDocument/2006/relationships/slideLayout" Target="/ppt/slideLayouts/slideLayout1.xml" Id="Rf1f9d02e2b584e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f9d02e2b584e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973cc0d464325" /><Relationship Type="http://schemas.openxmlformats.org/officeDocument/2006/relationships/chart" Target="/ppt/slides/charts/chart1.xml" Id="R7556978d0ed442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6d27640124cc8" /><Relationship Type="http://schemas.openxmlformats.org/officeDocument/2006/relationships/chart" Target="/ppt/slides/charts/chart2.xml" Id="Rb3b533c5ef404a3f" /><Relationship Type="http://schemas.openxmlformats.org/officeDocument/2006/relationships/chart" Target="/ppt/slides/charts/chart3.xml" Id="Re0a64537d92949e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30-day readmission rate</c:v>
          </c:tx>
          <c:spPr>
            <a:ln xmlns:a="http://schemas.openxmlformats.org/drawingml/2006/main" w="38100">
              <a:solidFill>
                <a:srgbClr val="0F6F73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0F6F73"/>
              </a:solidFill>
            </c:spPr>
          </c:marker>
          <c:dPt>
            <c:idx val="0"/>
            <c:spPr>
              <a:solidFill xmlns:a="http://schemas.openxmlformats.org/drawingml/2006/main">
                <a:srgbClr val="0F6F73"/>
              </a:solidFill>
              <a:ln xmlns:a="http://schemas.openxmlformats.org/drawingml/2006/main" w="9525">
                <a:solidFill>
                  <a:srgbClr val="0F6F73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E9A93A"/>
              </a:solidFill>
              <a:ln xmlns:a="http://schemas.openxmlformats.org/drawingml/2006/main" w="9525">
                <a:solidFill>
                  <a:srgbClr val="B7791F"/>
                </a:solidFill>
                <a:prstDash val="solid"/>
              </a:ln>
            </c:spPr>
          </c:dPt>
          <c:cat>
            <c:numRef>
              <c:f>'Chart Data'!$A$2:$A$3</c:f>
              <c:numCache>
                <c:formatCode>General</c:formatCode>
                <c:ptCount val="2"/>
                <c:pt idx="0">
                  <c:v>2022</c:v>
                </c:pt>
                <c:pt idx="1">
                  <c:v>2025</c:v>
                </c:pt>
              </c:numCache>
            </c:num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0.142</c:v>
                </c:pt>
                <c:pt idx="1">
                  <c:v>0.184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02A34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D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44B54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0.2"/>
          <c:min val="0.12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6EA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B8CD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6B7D84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0.02"/>
      </c:valAx>
      <c:spPr>
        <a:solidFill xmlns:a="http://schemas.openxmlformats.org/drawingml/2006/main">
          <a:srgbClr val="F8FBFC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8FBFC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Readmission rate</c:v>
          </c:tx>
          <c:spPr>
            <a:ln xmlns:a="http://schemas.openxmlformats.org/drawingml/2006/main" w="38100">
              <a:solidFill>
                <a:srgbClr val="0F6F73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F6F73"/>
              </a:solidFill>
            </c:spPr>
          </c:marker>
          <c:cat>
            <c:strRef>
              <c:f>'Chart Data'!$A$2:$A$5</c:f>
              <c:strCache>
                <c:ptCount val="4"/>
                <c:pt idx="0">
                  <c:v>50-64</c:v>
                </c:pt>
                <c:pt idx="1">
                  <c:v>65-74</c:v>
                </c:pt>
                <c:pt idx="2">
                  <c:v>75-84</c:v>
                </c:pt>
                <c:pt idx="3">
                  <c:v>85+</c:v>
                </c:pt>
              </c:strCache>
            </c:strRef>
          </c:cat>
          <c:val>
            <c:numRef>
              <c:f>'Chart Data'!$B$2:$B$5</c:f>
              <c:numCache>
                <c:formatCode>0.0%</c:formatCode>
                <c:ptCount val="4"/>
                <c:pt idx="0">
                  <c:v>0.4202</c:v>
                </c:pt>
                <c:pt idx="1">
                  <c:v>0.4797</c:v>
                </c:pt>
                <c:pt idx="2">
                  <c:v>0.5111</c:v>
                </c:pt>
                <c:pt idx="3">
                  <c:v>0.5427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45" b="1">
                  <a:solidFill>
                    <a:srgbClr val="102A34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D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05">
                <a:solidFill>
                  <a:srgbClr val="344B54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0.6"/>
          <c:min val="0.3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6EA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B8CD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60">
                <a:solidFill>
                  <a:srgbClr val="6B7D84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8FBFC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8FBFC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Correlation with readmission</c:v>
          </c:tx>
          <c:spPr>
            <a:solidFill xmlns:a="http://schemas.openxmlformats.org/drawingml/2006/main">
              <a:srgbClr val="0F6F73"/>
            </a:solidFill>
          </c:spPr>
          <c:cat>
            <c:strRef>
              <c:f>'Chart Data'!$A$2:$A$5</c:f>
              <c:strCache>
                <c:ptCount val="4"/>
                <c:pt idx="0">
                  <c:v>Prior admissions</c:v>
                </c:pt>
                <c:pt idx="1">
                  <c:v>Chronic conditions</c:v>
                </c:pt>
                <c:pt idx="2">
                  <c:v>Length of stay</c:v>
                </c:pt>
                <c:pt idx="3">
                  <c:v>Age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0.22</c:v>
                </c:pt>
                <c:pt idx="1">
                  <c:v>0.213</c:v>
                </c:pt>
                <c:pt idx="2">
                  <c:v>0.151</c:v>
                </c:pt>
                <c:pt idx="3">
                  <c:v>0.142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15" b="1">
                  <a:solidFill>
                    <a:srgbClr val="102A34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6EA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B8CD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570">
                <a:solidFill>
                  <a:srgbClr val="6B7D84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38">
                <a:solidFill>
                  <a:srgbClr val="344B54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8FBFC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8FBFC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E38A26-48F4-4942-95D7-B690797E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15285-95D5-42DC-8CD9-F090F4A9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6F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6F73"/>
                </a:solidFill>
                <a:latin typeface="Helvetica Neue"/>
                <a:ea typeface="Helvetica Neue"/>
                <a:cs typeface="Helvetica Neue"/>
              </a:rPr>
              <a:t>Meds Counsulting LLC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2C435-88DA-4473-BCEC-DA3AA9D0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rPr>
              <a:t>National Hospital Network project charter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DC56E-0180-4494-BCF9-6A888405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028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9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92F6B-E2C0-43DC-AA13-1DE9DE33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rPr>
              <a:t>Overview of the business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E513E3-4149-43DF-BFDF-3F7A7C20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5124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125">
                <a:solidFill>
                  <a:srgbClr val="253B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253B44"/>
                </a:solidFill>
                <a:latin typeface="Helvetica Neue"/>
                <a:ea typeface="Helvetica Neue"/>
                <a:cs typeface="Helvetica Neue"/>
              </a:rPr>
              <a:t>NHN is a large integrated healthcare system serving patients across a broad hospital and outpatient network.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514350" y="2609850"/>
          <a:ext xmlns:a="http://schemas.openxmlformats.org/drawingml/2006/main" cx="5543550" cy="114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85888"/>
                <a:gridCol w="1385888"/>
                <a:gridCol w="1385888"/>
                <a:gridCol w="1385888"/>
              </a:tblGrid>
              <a:tr h="571500">
                <a:tc>
                  <a:txBody>
                    <a:bodyPr lIns="38100" tIns="19050" rIns="38100" bIns="19050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0F4C5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42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  <a:tc>
                  <a:txBody>
                    <a:bodyPr lIns="38100" tIns="19050" rIns="38100" bIns="19050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0F4C5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300+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  <a:tc>
                  <a:txBody>
                    <a:bodyPr lIns="38100" tIns="19050" rIns="38100" bIns="19050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0F4C5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  <a:tc>
                  <a:txBody>
                    <a:bodyPr lIns="38100" tIns="19050" rIns="38100" bIns="19050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0F4C5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2.3M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</a:tr>
              <a:tr h="571500">
                <a:tc>
                  <a:txBody>
                    <a:bodyPr lIns="38100" tIns="19050" rIns="38100" bIns="19050">
                      <a:noAutofit/>
                    </a:bodyPr>
                    <a:lstStyle/>
                    <a:p>
                      <a:pPr algn="ctr"/>
                      <a:r>
                        <a:rPr sz="788" b="0">
                          <a:solidFill>
                            <a:srgbClr val="50636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Hospitals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lIns="38100" tIns="19050" rIns="38100" bIns="19050">
                      <a:noAutofit/>
                    </a:bodyPr>
                    <a:lstStyle/>
                    <a:p>
                      <a:pPr algn="ctr"/>
                      <a:r>
                        <a:rPr sz="788" b="0">
                          <a:solidFill>
                            <a:srgbClr val="50636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Outpatient sites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lIns="38100" tIns="19050" rIns="38100" bIns="19050">
                      <a:noAutofit/>
                    </a:bodyPr>
                    <a:lstStyle/>
                    <a:p>
                      <a:pPr algn="ctr"/>
                      <a:r>
                        <a:rPr sz="788" b="0">
                          <a:solidFill>
                            <a:srgbClr val="50636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States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lIns="38100" tIns="19050" rIns="38100" bIns="19050">
                      <a:noAutofit/>
                    </a:bodyPr>
                    <a:lstStyle/>
                    <a:p>
                      <a:pPr algn="ctr"/>
                      <a:r>
                        <a:rPr sz="788" b="0">
                          <a:solidFill>
                            <a:srgbClr val="50636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Patients per year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FF1E3-4EE1-4CCB-ADC1-76C4421B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764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rPr>
              <a:t>Problem statement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211102-73BE-46DD-B26A-8AB83A6F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383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125">
                <a:solidFill>
                  <a:srgbClr val="253B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253B44"/>
                </a:solidFill>
                <a:latin typeface="Helvetica Neue"/>
                <a:ea typeface="Helvetica Neue"/>
                <a:cs typeface="Helvetica Neue"/>
              </a:rPr>
              <a:t>Readmissions are rising despite investment in discharge planning, care coordination, and follow-up services.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6457950" y="2609850"/>
          <a:ext xmlns:a="http://schemas.openxmlformats.org/drawingml/2006/main" cx="4343400" cy="114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556978d0ed44278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DAF6D7-46BF-478C-8AC9-F25034F0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004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15" b="1">
                <a:solidFill>
                  <a:srgbClr val="0F4C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15" b="1">
                <a:solidFill>
                  <a:srgbClr val="0F4C5C"/>
                </a:solidFill>
                <a:latin typeface="Helvetica Neue"/>
                <a:ea typeface="Helvetica Neue"/>
                <a:cs typeface="Helvetica Neue"/>
              </a:rPr>
              <a:t>Annual cost exposure: more than $42M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47E763-3761-4A38-8DCF-54DBF8CF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1480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60FB9C-B666-4C1A-AB81-89D90F3F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rPr>
              <a:t>Team roles by workstream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514350" y="4686300"/>
          <a:ext xmlns:a="http://schemas.openxmlformats.org/drawingml/2006/main" cx="5543550" cy="1447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14550"/>
                <a:gridCol w="3429000"/>
              </a:tblGrid>
              <a:tr h="180975">
                <a:tc>
                  <a:txBody>
                    <a:bodyPr lIns="57150" tIns="19050" rIns="38100" bIns="19050">
                      <a:noAutofit/>
                    </a:bodyPr>
                    <a:lstStyle/>
                    <a:p>
                      <a:pPr algn="l"/>
                      <a:r>
                        <a:rPr sz="788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Workstream</a:t>
                      </a:r>
                    </a:p>
                  </a:txBody>
                  <a:tcPr marL="91440" marR="91440" marT="45720" marB="45720" anchor="ctr">
                    <a:solidFill>
                      <a:srgbClr val="0F4C5C"/>
                    </a:solidFill>
                  </a:tcPr>
                </a:tc>
                <a:tc>
                  <a:txBody>
                    <a:bodyPr lIns="57150" tIns="19050" rIns="38100" bIns="19050">
                      <a:noAutofit/>
                    </a:bodyPr>
                    <a:lstStyle/>
                    <a:p>
                      <a:pPr algn="l"/>
                      <a:r>
                        <a:rPr sz="788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Owner</a:t>
                      </a:r>
                    </a:p>
                  </a:txBody>
                  <a:tcPr marL="91440" marR="91440" marT="45720" marB="45720" anchor="ctr">
                    <a:solidFill>
                      <a:srgbClr val="0F4C5C"/>
                    </a:solidFill>
                  </a:tcPr>
                </a:tc>
              </a:tr>
              <a:tr h="180975">
                <a:tc>
                  <a:txBody>
                    <a:bodyPr lIns="57150" tIns="19050" rIns="38100" bIns="19050">
                      <a:noAutofit/>
                    </a:bodyPr>
                    <a:lstStyle/>
                    <a:p>
                      <a:pPr algn="l"/>
                      <a:r>
                        <a:rPr sz="698" b="1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Project lead and story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  <a:tc>
                  <a:txBody>
                    <a:bodyPr lIns="57150" tIns="19050" rIns="38100" bIns="19050">
                      <a:noAutofit/>
                    </a:bodyPr>
                    <a:lstStyle/>
                    <a:p>
                      <a:pPr algn="l"/>
                      <a:r>
                        <a:rPr sz="698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 He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</a:tr>
              <a:tr h="180975">
                <a:tc>
                  <a:txBody>
                    <a:bodyPr lIns="57150" tIns="19050" rIns="38100" bIns="19050">
                      <a:noAutofit/>
                    </a:bodyPr>
                    <a:lstStyle/>
                    <a:p>
                      <a:pPr algn="l"/>
                      <a:r>
                        <a:rPr sz="698" b="1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 preparation and EDA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lIns="57150" tIns="19050" rIns="38100" bIns="19050">
                      <a:noAutofit/>
                    </a:bodyPr>
                    <a:lstStyle/>
                    <a:p>
                      <a:pPr algn="l"/>
                      <a:r>
                        <a:rPr sz="698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Belal Glab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  <a:tr h="180975">
                <a:tc>
                  <a:txBody>
                    <a:bodyPr lIns="57150" tIns="19050" rIns="38100" bIns="19050">
                      <a:noAutofit/>
                    </a:bodyPr>
                    <a:lstStyle/>
                    <a:p>
                      <a:pPr algn="l"/>
                      <a:r>
                        <a:rPr sz="698" b="1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Clinical risk analysis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  <a:tc>
                  <a:txBody>
                    <a:bodyPr lIns="57150" tIns="19050" rIns="38100" bIns="19050">
                      <a:noAutofit/>
                    </a:bodyPr>
                    <a:lstStyle/>
                    <a:p>
                      <a:pPr algn="l"/>
                      <a:r>
                        <a:rPr sz="698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Jingyi Cao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</a:tr>
              <a:tr h="180975">
                <a:tc>
                  <a:txBody>
                    <a:bodyPr lIns="57150" tIns="19050" rIns="38100" bIns="19050">
                      <a:noAutofit/>
                    </a:bodyPr>
                    <a:lstStyle/>
                    <a:p>
                      <a:pPr algn="l"/>
                      <a:r>
                        <a:rPr sz="698" b="1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Predictive modeling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lIns="57150" tIns="19050" rIns="38100" bIns="19050">
                      <a:noAutofit/>
                    </a:bodyPr>
                    <a:lstStyle/>
                    <a:p>
                      <a:pPr algn="l"/>
                      <a:r>
                        <a:rPr sz="698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Santosh Kumar Chantati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  <a:tr h="180975">
                <a:tc>
                  <a:txBody>
                    <a:bodyPr lIns="57150" tIns="19050" rIns="38100" bIns="19050">
                      <a:noAutofit/>
                    </a:bodyPr>
                    <a:lstStyle/>
                    <a:p>
                      <a:pPr algn="l"/>
                      <a:r>
                        <a:rPr sz="698" b="1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Financial impact and ROI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  <a:tc>
                  <a:txBody>
                    <a:bodyPr lIns="57150" tIns="19050" rIns="38100" bIns="19050">
                      <a:noAutofit/>
                    </a:bodyPr>
                    <a:lstStyle/>
                    <a:p>
                      <a:pPr algn="l"/>
                      <a:r>
                        <a:rPr sz="698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Jeevan-Kumar Mittapalli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</a:tr>
              <a:tr h="180975">
                <a:tc>
                  <a:txBody>
                    <a:bodyPr lIns="57150" tIns="19050" rIns="38100" bIns="19050">
                      <a:noAutofit/>
                    </a:bodyPr>
                    <a:lstStyle/>
                    <a:p>
                      <a:pPr algn="l"/>
                      <a:r>
                        <a:rPr sz="698" b="1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Care coordination operations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lIns="57150" tIns="19050" rIns="38100" bIns="19050">
                      <a:noAutofit/>
                    </a:bodyPr>
                    <a:lstStyle/>
                    <a:p>
                      <a:pPr algn="l"/>
                      <a:r>
                        <a:rPr sz="698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Adarsh Pravinbhai Patel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  <a:tr h="180975">
                <a:tc>
                  <a:txBody>
                    <a:bodyPr lIns="57150" tIns="19050" rIns="38100" bIns="19050">
                      <a:noAutofit/>
                    </a:bodyPr>
                    <a:lstStyle/>
                    <a:p>
                      <a:pPr algn="l"/>
                      <a:r>
                        <a:rPr sz="698" b="1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Dashboard and recommendations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  <a:tc>
                  <a:txBody>
                    <a:bodyPr lIns="57150" tIns="19050" rIns="38100" bIns="19050">
                      <a:noAutofit/>
                    </a:bodyPr>
                    <a:lstStyle/>
                    <a:p>
                      <a:pPr algn="l"/>
                      <a:r>
                        <a:rPr sz="698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Sam-Aquila Siddani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</a:tr>
            </a:tbl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9E955E-F12B-47D0-B965-4E5697E5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243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rPr>
              <a:t>Stakeholders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2CF1E0-D23C-46F6-914E-9E10B147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86300"/>
            <a:ext cx="2190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165100" indent="-76200">
              <a:spcAft>
                <a:spcPts val="300"/>
              </a:spcAft>
              <a:buChar char="•"/>
              <a:defRPr sz="945">
                <a:solidFill>
                  <a:srgbClr val="253B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45">
                <a:solidFill>
                  <a:srgbClr val="253B44"/>
                </a:solidFill>
                <a:latin typeface="Helvetica Neue"/>
                <a:ea typeface="Helvetica Neue"/>
                <a:cs typeface="Helvetica Neue"/>
              </a:rPr>
              <a:t>Executive leadership and finance</a:t>
            </a:r>
          </a:p>
          <a:p xmlns:a="http://schemas.openxmlformats.org/drawingml/2006/main">
            <a:pPr marL="165100" indent="-76200">
              <a:spcAft>
                <a:spcPts val="300"/>
              </a:spcAft>
              <a:buChar char="•"/>
              <a:defRPr sz="945">
                <a:solidFill>
                  <a:srgbClr val="253B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45">
                <a:solidFill>
                  <a:srgbClr val="253B44"/>
                </a:solidFill>
                <a:latin typeface="Helvetica Neue"/>
                <a:ea typeface="Helvetica Neue"/>
                <a:cs typeface="Helvetica Neue"/>
              </a:rPr>
              <a:t>Clinical and operations teams</a:t>
            </a:r>
          </a:p>
          <a:p xmlns:a="http://schemas.openxmlformats.org/drawingml/2006/main">
            <a:pPr marL="165100" indent="-76200">
              <a:spcAft>
                <a:spcPts val="300"/>
              </a:spcAft>
              <a:buChar char="•"/>
              <a:defRPr sz="945">
                <a:solidFill>
                  <a:srgbClr val="253B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45">
                <a:solidFill>
                  <a:srgbClr val="253B44"/>
                </a:solidFill>
                <a:latin typeface="Helvetica Neue"/>
                <a:ea typeface="Helvetica Neue"/>
                <a:cs typeface="Helvetica Neue"/>
              </a:rPr>
              <a:t>Care coordinators and discharge planners</a:t>
            </a:r>
          </a:p>
          <a:p xmlns:a="http://schemas.openxmlformats.org/drawingml/2006/main">
            <a:pPr marL="165100" indent="-76200">
              <a:spcAft>
                <a:spcPts val="300"/>
              </a:spcAft>
              <a:buChar char="•"/>
              <a:defRPr sz="945">
                <a:solidFill>
                  <a:srgbClr val="253B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45">
                <a:solidFill>
                  <a:srgbClr val="253B44"/>
                </a:solidFill>
                <a:latin typeface="Helvetica Neue"/>
                <a:ea typeface="Helvetica Neue"/>
                <a:cs typeface="Helvetica Neue"/>
              </a:rPr>
              <a:t>Patients, caregivers, and community partners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BFDAB8-613F-46AE-9001-1E6A3FA8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3243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rPr>
              <a:t>Business hypothesis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AFB3A7-7C11-4F4B-B3CD-319CF842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8630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960">
                <a:solidFill>
                  <a:srgbClr val="253B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60">
                <a:solidFill>
                  <a:srgbClr val="253B44"/>
                </a:solidFill>
                <a:latin typeface="Helvetica Neue"/>
                <a:ea typeface="Helvetica Neue"/>
                <a:cs typeface="Helvetica Neue"/>
              </a:rPr>
              <a:t>Working belief: readmissions are rising because high-risk patients are not consistently matched to the right post-discharge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960">
                <a:solidFill>
                  <a:srgbClr val="253B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60">
                <a:solidFill>
                  <a:srgbClr val="253B44"/>
                </a:solidFill>
                <a:latin typeface="Helvetica Neue"/>
                <a:ea typeface="Helvetica Neue"/>
                <a:cs typeface="Helvetica Neue"/>
              </a:rPr>
              <a:t>Test focus: follow-up completion, chronic disease burden, and care coordination targeting.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384824-A424-40D6-9D23-D6B6C38D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667A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>
                <a:solidFill>
                  <a:srgbClr val="667A82"/>
                </a:solidFill>
                <a:latin typeface="Helvetica Neue"/>
                <a:ea typeface="Helvetica Neue"/>
                <a:cs typeface="Helvetica Neue"/>
              </a:rPr>
              <a:t>Source: Option 1 Healthcare Consulting Packet and project summary</a:t>
            </a:r>
          </a:p>
        </p:txBody>
      </p:sp>
    </p:spTree>
    <p:extLst>
      <p:ext uri="{BB962C8B-B14F-4D97-AF65-F5344CB8AC3E}">
        <p14:creationId xmlns:p14="http://schemas.microsoft.com/office/powerpoint/2010/main" val="4157016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4F4E0A-EB9A-4783-A1E0-179DCB76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FA0C2-39D3-4CFD-8F0A-D5B08C80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6F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6F73"/>
                </a:solidFill>
                <a:latin typeface="Helvetica Neue"/>
                <a:ea typeface="Helvetica Neue"/>
                <a:cs typeface="Helvetica Neue"/>
              </a:rPr>
              <a:t>Meds Counsulting LLC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110D7-EFFA-461D-B3FA-FF7BB73D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rPr>
              <a:t>Data analysis snapshot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814E7-7877-43BD-BBD1-83BD65F0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5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>
                <a:solidFill>
                  <a:srgbClr val="50636B"/>
                </a:solidFill>
                <a:latin typeface="Helvetica Neue"/>
                <a:ea typeface="Helvetica Neue"/>
                <a:cs typeface="Helvetica Neue"/>
              </a:rPr>
              <a:t>Missing data, outliers, trends, and correlations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E72E0-1828-40F2-8BF8-52D3C0D1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1028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93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1" name=""/>
          <p:cNvGraphicFramePr/>
          <p:nvPr/>
        </p:nvGraphicFramePr>
        <p:xfrm>
          <a:off xmlns:a="http://schemas.openxmlformats.org/drawingml/2006/main" x="514350" y="1695450"/>
          <a:ext xmlns:a="http://schemas.openxmlformats.org/drawingml/2006/main" cx="5543550" cy="819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85888"/>
                <a:gridCol w="1385888"/>
                <a:gridCol w="1385888"/>
                <a:gridCol w="1385888"/>
              </a:tblGrid>
              <a:tr h="409575"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0F4C5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12,000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0F4C5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12,000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0F4C5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43.2%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0F4C5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30.2%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</a:tr>
              <a:tr h="409575"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713" b="0">
                          <a:solidFill>
                            <a:srgbClr val="50636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Rows analyzed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713" b="0">
                          <a:solidFill>
                            <a:srgbClr val="50636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Unique patients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713" b="0">
                          <a:solidFill>
                            <a:srgbClr val="50636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Readmitted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713" b="0">
                          <a:solidFill>
                            <a:srgbClr val="50636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Rows with quality flags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AC48B2-DC41-4AEB-B0BF-074BD0D3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95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rPr>
              <a:t>Data foundation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57E370-B215-432D-B292-2A06B0DB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28825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139700" indent="-63500">
              <a:spcAft>
                <a:spcPts val="300"/>
              </a:spcAft>
              <a:buChar char="•"/>
              <a:defRPr sz="855">
                <a:solidFill>
                  <a:srgbClr val="253B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55">
                <a:solidFill>
                  <a:srgbClr val="253B44"/>
                </a:solidFill>
                <a:latin typeface="Helvetica Neue"/>
                <a:ea typeface="Helvetica Neue"/>
                <a:cs typeface="Helvetica Neue"/>
              </a:rPr>
              <a:t>Patient, financial, and care coordination datasets link through PatientID</a:t>
            </a:r>
          </a:p>
          <a:p xmlns:a="http://schemas.openxmlformats.org/drawingml/2006/main">
            <a:pPr marL="139700" indent="-63500">
              <a:spcAft>
                <a:spcPts val="300"/>
              </a:spcAft>
              <a:buChar char="•"/>
              <a:defRPr sz="855">
                <a:solidFill>
                  <a:srgbClr val="253B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55">
                <a:solidFill>
                  <a:srgbClr val="253B44"/>
                </a:solidFill>
                <a:latin typeface="Helvetica Neue"/>
                <a:ea typeface="Helvetica Neue"/>
                <a:cs typeface="Helvetica Neue"/>
              </a:rPr>
              <a:t>Each source contains 12,000 records and 12,000 unique patient IDs</a:t>
            </a:r>
          </a:p>
          <a:p xmlns:a="http://schemas.openxmlformats.org/drawingml/2006/main">
            <a:pPr marL="139700" indent="-63500">
              <a:spcAft>
                <a:spcPts val="300"/>
              </a:spcAft>
              <a:buChar char="•"/>
              <a:defRPr sz="855">
                <a:solidFill>
                  <a:srgbClr val="253B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55">
                <a:solidFill>
                  <a:srgbClr val="253B44"/>
                </a:solidFill>
                <a:latin typeface="Helvetica Neue"/>
                <a:ea typeface="Helvetica Neue"/>
                <a:cs typeface="Helvetica Neue"/>
              </a:rPr>
              <a:t>Analysis uses the cleaned patient-level file to keep metrics consistent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F1B62D-8BA2-404F-B00D-009A1BF6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71775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400581-9578-4099-AC53-83D7D1F9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03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rPr>
              <a:t>Missing data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514350" y="3352800"/>
          <a:ext xmlns:a="http://schemas.openxmlformats.org/drawingml/2006/main" cx="33147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742950"/>
                <a:gridCol w="762000"/>
              </a:tblGrid>
              <a:tr h="238125"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Field</a:t>
                      </a:r>
                    </a:p>
                  </a:txBody>
                  <a:tcPr marL="91440" marR="91440" marT="45720" marB="45720" anchor="ctr">
                    <a:solidFill>
                      <a:srgbClr val="0F4C5C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Rows</a:t>
                      </a:r>
                    </a:p>
                  </a:txBody>
                  <a:tcPr marL="91440" marR="91440" marT="45720" marB="45720" anchor="ctr">
                    <a:solidFill>
                      <a:srgbClr val="0F4C5C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Rate</a:t>
                      </a:r>
                    </a:p>
                  </a:txBody>
                  <a:tcPr marL="91440" marR="91440" marT="45720" marB="45720" anchor="ctr">
                    <a:solidFill>
                      <a:srgbClr val="0F4C5C"/>
                    </a:solidFill>
                  </a:tcPr>
                </a:tc>
              </a:tr>
              <a:tr h="238125"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l"/>
                      <a:r>
                        <a:rPr sz="653" b="1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follow-up status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653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2,587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653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21.6%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</a:tr>
              <a:tr h="238125"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l"/>
                      <a:r>
                        <a:rPr sz="653" b="1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insurance type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653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240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653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2.0%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  <a:tr h="238125"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l"/>
                      <a:r>
                        <a:rPr sz="653" b="1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length of stay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653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240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653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2.0%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</a:tr>
              <a:tr h="238125"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l"/>
                      <a:r>
                        <a:rPr sz="653" b="1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penalty cost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653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240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653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2.0%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  <a:tr h="238125"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l"/>
                      <a:r>
                        <a:rPr sz="653" b="1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follow-up program cost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653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240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653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2.0%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7EF027-8CF7-42F3-9EAF-BC732584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863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788">
                <a:solidFill>
                  <a:srgbClr val="5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>
                <a:solidFill>
                  <a:srgbClr val="50636B"/>
                </a:solidFill>
                <a:latin typeface="Helvetica Neue"/>
                <a:ea typeface="Helvetica Neue"/>
                <a:cs typeface="Helvetica Neue"/>
              </a:rPr>
              <a:t>Example: follow-up status is missing for 2,587 patients, creating a gap in care-transition analysis.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428359-8F72-4BEC-B3E7-C3AD583B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003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rPr>
              <a:t>Outliers and quality flags</a:t>
            </a:r>
          </a:p>
        </p:txBody>
      </p:sp>
      <p:graphicFrame>
        <p:nvGraphicFramePr>
          <p:cNvPr id="39" name=""/>
          <p:cNvGraphicFramePr/>
          <p:nvPr/>
        </p:nvGraphicFramePr>
        <p:xfrm>
          <a:off xmlns:a="http://schemas.openxmlformats.org/drawingml/2006/main" x="4095750" y="3352800"/>
          <a:ext xmlns:a="http://schemas.openxmlformats.org/drawingml/2006/main" cx="3143250" cy="1257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47800"/>
                <a:gridCol w="742950"/>
                <a:gridCol w="952500"/>
              </a:tblGrid>
              <a:tr h="251460"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</a:t>
                      </a:r>
                    </a:p>
                  </a:txBody>
                  <a:tcPr marL="91440" marR="91440" marT="45720" marB="45720" anchor="ctr">
                    <a:solidFill>
                      <a:srgbClr val="0F4C5C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Outliers</a:t>
                      </a:r>
                    </a:p>
                  </a:txBody>
                  <a:tcPr marL="91440" marR="91440" marT="45720" marB="45720" anchor="ctr">
                    <a:solidFill>
                      <a:srgbClr val="0F4C5C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Boundary</a:t>
                      </a:r>
                    </a:p>
                  </a:txBody>
                  <a:tcPr marL="91440" marR="91440" marT="45720" marB="45720" anchor="ctr">
                    <a:solidFill>
                      <a:srgbClr val="0F4C5C"/>
                    </a:solidFill>
                  </a:tcPr>
                </a:tc>
              </a:tr>
              <a:tr h="251460"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l"/>
                      <a:r>
                        <a:rPr sz="645" b="1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Length of stay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645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191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645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&gt;11.5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</a:tr>
              <a:tr h="251460"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l"/>
                      <a:r>
                        <a:rPr sz="645" b="1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Total care cost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645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72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645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&gt;$41,217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  <a:tr h="251460"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l"/>
                      <a:r>
                        <a:rPr sz="645" b="1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Net reimbursement gap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645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64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645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&gt;$30,691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</a:tr>
              <a:tr h="251460"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l"/>
                      <a:r>
                        <a:rPr sz="645" b="1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Negative penalty cost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645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49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lIns="57150" tIns="19050" rIns="47625" bIns="19050">
                      <a:noAutofit/>
                    </a:bodyPr>
                    <a:lstStyle/>
                    <a:p>
                      <a:pPr algn="ctr"/>
                      <a:r>
                        <a:rPr sz="645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0.4%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</a:tbl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EE8B8B-DCF7-4590-BBA3-20E6ECAD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244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788">
                <a:solidFill>
                  <a:srgbClr val="5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>
                <a:solidFill>
                  <a:srgbClr val="50636B"/>
                </a:solidFill>
                <a:latin typeface="Helvetica Neue"/>
                <a:ea typeface="Helvetica Neue"/>
                <a:cs typeface="Helvetica Neue"/>
              </a:rPr>
              <a:t>Example: length of stay above 11.5 days is flagged as an outlier under the IQR rule.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A95A2C-8583-453E-8310-4E06A84C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003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rPr>
              <a:t>Trend pattern</a:t>
            </a:r>
          </a:p>
        </p:txBody>
      </p:sp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7505700" y="3352800"/>
          <a:ext xmlns:a="http://schemas.openxmlformats.org/drawingml/2006/main" cx="3295650" cy="1295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3b533c5ef404a3f"/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AD36C5-B05F-4E5A-ADFF-D6F1C602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724400"/>
            <a:ext cx="3219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788">
                <a:solidFill>
                  <a:srgbClr val="5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>
                <a:solidFill>
                  <a:srgbClr val="50636B"/>
                </a:solidFill>
                <a:latin typeface="Helvetica Neue"/>
                <a:ea typeface="Helvetica Neue"/>
                <a:cs typeface="Helvetica Neue"/>
              </a:rPr>
              <a:t>Example: readmission rises from 42.0% for ages 50-64 to 54.3% for ages 85+.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F3AA81-E720-43D3-A4DA-CA4D8E84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81625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D9601F-68AC-423F-9CA7-CF602CE7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02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rPr>
              <a:t>Correlation signals</a:t>
            </a:r>
          </a:p>
        </p:txBody>
      </p:sp>
      <p:graphicFrame>
        <p:nvGraphicFramePr>
          <p:cNvPr id="46" name="Chart"/>
          <p:cNvGraphicFramePr/>
          <p:nvPr/>
        </p:nvGraphicFramePr>
        <p:xfrm>
          <a:off xmlns:a="http://schemas.openxmlformats.org/drawingml/2006/main" x="2647950" y="5581650"/>
          <a:ext xmlns:a="http://schemas.openxmlformats.org/drawingml/2006/main" cx="3390900" cy="876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0a64537d92949ec"/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2AB643-C5F1-4F07-BD1A-627C0111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4075"/>
            <a:ext cx="1952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788">
                <a:solidFill>
                  <a:srgbClr val="50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>
                <a:solidFill>
                  <a:srgbClr val="50636B"/>
                </a:solidFill>
                <a:latin typeface="Helvetica Neue"/>
                <a:ea typeface="Helvetica Neue"/>
                <a:cs typeface="Helvetica Neue"/>
              </a:rPr>
              <a:t>Example: prior admissions and chronic conditions show the strongest positive relationship with readmission.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394676-3011-4374-858F-04C99949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6102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rPr>
              <a:t>Analytical implication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FACEE7-CEC2-4F0A-B30B-B147F953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9436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923">
                <a:solidFill>
                  <a:srgbClr val="253B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23">
                <a:solidFill>
                  <a:srgbClr val="253B44"/>
                </a:solidFill>
                <a:latin typeface="Helvetica Neue"/>
                <a:ea typeface="Helvetica Neue"/>
                <a:cs typeface="Helvetica Neue"/>
              </a:rPr>
              <a:t>The next analysis should focus on high-risk patient profiles and care-transition gaps, especially where missing follow-up information limits visibility.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2CC8B6-46B4-44BB-9447-AAAEE81F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667A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>
                <a:solidFill>
                  <a:srgbClr val="667A82"/>
                </a:solidFill>
                <a:latin typeface="Helvetica Neue"/>
                <a:ea typeface="Helvetica Neue"/>
                <a:cs typeface="Helvetica Neue"/>
              </a:rPr>
              <a:t>Source: cleaned NHN patient, financial, and care coordination datasets</a:t>
            </a:r>
          </a:p>
        </p:txBody>
      </p:sp>
    </p:spTree>
    <p:extLst>
      <p:ext uri="{BB962C8B-B14F-4D97-AF65-F5344CB8AC3E}">
        <p14:creationId xmlns:p14="http://schemas.microsoft.com/office/powerpoint/2010/main" val="14577677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2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2026-09-18T20:11:29.7110000Z</dcterms:created>
  <dcterms:modified xsi:type="dcterms:W3CDTF">2026-09-18T20:11:29.7110000Z</dcterms:modified>
</coreProperties>
</file>