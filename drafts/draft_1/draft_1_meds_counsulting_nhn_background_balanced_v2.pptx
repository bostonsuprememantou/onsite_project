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629d54e42a4acc" /><Relationship Type="http://schemas.openxmlformats.org/officeDocument/2006/relationships/extended-properties" Target="/docProps/app.xml" Id="Re041e5d3435f484b" /><Relationship Type="http://schemas.openxmlformats.org/officeDocument/2006/relationships/officeDocument" Target="/ppt/presentation.xml" Id="R82720f1af4ee4f8a" /></Relationships>
</file>

<file path=ppt/presentation.xml><?xml version="1.0" encoding="utf-8"?>
<p:presentation xmlns:p="http://schemas.openxmlformats.org/presentationml/2006/main">
  <p:sldMasterIdLst>
    <p:sldMasterId xmlns:r="http://schemas.openxmlformats.org/officeDocument/2006/relationships" id="2147483648" r:id="R6b2494f0d1c84354"/>
  </p:sldMasterIdLst>
  <p:notesMasterIdLst>
    <p:notesMasterId xmlns:r="http://schemas.openxmlformats.org/officeDocument/2006/relationships" r:id="R93d930d0dfbe4b2b"/>
  </p:notesMasterIdLst>
  <p:sldIdLst>
    <p:sldId xmlns:r="http://schemas.openxmlformats.org/officeDocument/2006/relationships" id="256" r:id="R5ed5ad03bf2f43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394b2eab204cbb" /><Relationship Type="http://schemas.openxmlformats.org/officeDocument/2006/relationships/slideMaster" Target="/ppt/slideMasters/slideMaster1.xml" Id="R6b2494f0d1c84354" /><Relationship Type="http://schemas.openxmlformats.org/officeDocument/2006/relationships/notesMaster" Target="/ppt/notesMasters/notesMaster1.xml" Id="R93d930d0dfbe4b2b" /><Relationship Type="http://schemas.openxmlformats.org/officeDocument/2006/relationships/presProps" Target="/ppt/presProps.xml" Id="R05b919e0922449bb" /><Relationship Type="http://schemas.openxmlformats.org/officeDocument/2006/relationships/tableStyles" Target="/ppt/tableStyles.xml" Id="R0b110f954e194220" /><Relationship Type="http://schemas.openxmlformats.org/officeDocument/2006/relationships/slide" Target="/ppt/slides/slide1.xml" Id="R5ed5ad03bf2f43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5468bbb88144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d9946809cc4331" /><Relationship Type="http://schemas.openxmlformats.org/officeDocument/2006/relationships/notesMaster" Target="/ppt/notesMasters/notesMaster1.xml" Id="R92ed7b2355d142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 for Draft 1</a:t>
            </a:r>
          </a:p>
          <a:p xmlns:a="http://schemas.openxmlformats.org/drawingml/2006/main">
            <a:r>
              <a:t>Open by introducing Meds Counsulting LLC as the consulting team supporting National Hospital Network. The purpose of this first deliverable is to establish the client context, define the business problem, and explain why the next phase should use data analysis rather than isolated operational fixes.</a:t>
            </a:r>
          </a:p>
          <a:p xmlns:a="http://schemas.openxmlformats.org/drawingml/2006/main">
            <a:r>
              <a:t>Start with the client background. National Hospital Network is a large integrated healthcare system. Its scale matters because a readmission problem affects more than one hospital or one department. The network includes 42 hospitals, more than 300 outpatient facilities, operations across 11 states, 2.3 million patients annually, and 48,000 employees.</a:t>
            </a:r>
          </a:p>
          <a:p xmlns:a="http://schemas.openxmlformats.org/drawingml/2006/main">
            <a:r>
              <a:t>Explain that this footprint creates both complexity and opportunity. NHN has enough clinical, financial, and care coordination data to understand readmission patterns, but leadership needs an integrated view that connects patient risk, cost exposure, and intervention performance.</a:t>
            </a:r>
          </a:p>
          <a:p xmlns:a="http://schemas.openxmlformats.org/drawingml/2006/main">
            <a:r>
              <a:t>Move to the business problem on the right side of the slide. NHN's 30-day readmission rate increased from 14.2% in 2022 to 18.4% in 2025. That increase is important because the organization has already invested in quality improvement, discharge planning, care coordination, and patient follow-up services.</a:t>
            </a:r>
          </a:p>
          <a:p xmlns:a="http://schemas.openxmlformats.org/drawingml/2006/main">
            <a:r>
              <a:t>Frame the issue across three dimensions. Clinically, avoidable readmissions can indicate gaps in discharge readiness, medication management, chronic disease support, or post-discharge follow-up. Operationally, readmissions put pressure on inpatient capacity, staff workload, patient flow, and care coordination teams. Financially, leadership estimates more than $42 million in annual readmission-related cost exposure.</a:t>
            </a:r>
          </a:p>
          <a:p xmlns:a="http://schemas.openxmlformats.org/drawingml/2006/main">
            <a:r>
              <a:t>Close by setting up the rest of the project. The consulting work should identify which patients are most likely to be readmitted, what factors contribute most to that risk, which care coordination interventions appear most effective, and how NHN can reduce avoidable readmissions through a practical 12-month action plan.</a:t>
            </a:r>
          </a:p>
          <a:p xmlns:a="http://schemas.openxmlformats.org/drawingml/2006/main">
            <a:r>
              <a:t>Source notes: company name supplied by the user. Client facts and readmission figures come from PROJECT_SUMMARY.md, which summarizes Option 1 Healthcare Consulting Packet.pdf. This revision removes the generated healthcare photo, removes the subtitle line requested by the user, and uses an editable trend chart with a balanced two-column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cec68c633b43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87deba618a4956" /><Relationship Type="http://schemas.openxmlformats.org/officeDocument/2006/relationships/slideLayout" Target="/ppt/slideLayouts/slideLayout1.xml" Id="R55d046c7031449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d046c7031449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0654b50dbf4dbf" /><Relationship Type="http://schemas.openxmlformats.org/officeDocument/2006/relationships/chart" Target="/ppt/slides/charts/chart1.xml" Id="Rfb264852d3f04f9d" /><Relationship Type="http://schemas.openxmlformats.org/officeDocument/2006/relationships/notesSlide" Target="/ppt/notesSlides/notesSlide1.xml" Id="R42feacab84874f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Readmission rate</c:v>
          </c:tx>
          <c:spPr>
            <a:ln xmlns:a="http://schemas.openxmlformats.org/drawingml/2006/main" w="38100">
              <a:solidFill>
                <a:srgbClr val="0F6F73"/>
              </a:solidFill>
              <a:prstDash val="solid"/>
            </a:ln>
          </c:spPr>
          <c:marker>
            <c:symbol val="circle"/>
            <c:size val="8"/>
            <c:spPr>
              <a:solidFill xmlns:a="http://schemas.openxmlformats.org/drawingml/2006/main">
                <a:srgbClr val="0F6F73"/>
              </a:solidFill>
            </c:spPr>
          </c:marker>
          <c:dPt>
            <c:idx val="0"/>
            <c:spPr>
              <a:solidFill xmlns:a="http://schemas.openxmlformats.org/drawingml/2006/main">
                <a:srgbClr val="0F6F73"/>
              </a:solidFill>
              <a:ln xmlns:a="http://schemas.openxmlformats.org/drawingml/2006/main" w="9525">
                <a:solidFill>
                  <a:srgbClr val="0F6F73"/>
                </a:solidFill>
                <a:prstDash val="solid"/>
              </a:ln>
            </c:spPr>
          </c:dPt>
          <c:dPt>
            <c:idx val="1"/>
            <c:spPr>
              <a:solidFill xmlns:a="http://schemas.openxmlformats.org/drawingml/2006/main">
                <a:srgbClr val="E9A93A"/>
              </a:solidFill>
              <a:ln xmlns:a="http://schemas.openxmlformats.org/drawingml/2006/main" w="9525">
                <a:solidFill>
                  <a:srgbClr val="B7791F"/>
                </a:solidFill>
                <a:prstDash val="solid"/>
              </a:ln>
            </c:spPr>
          </c:dPt>
          <c:cat>
            <c:numRef>
              <c:f>'Chart Data'!$A$2:$A$3</c:f>
              <c:numCache>
                <c:formatCode>General</c:formatCode>
                <c:ptCount val="2"/>
                <c:pt idx="0">
                  <c:v>2022</c:v>
                </c:pt>
                <c:pt idx="1">
                  <c:v>2025</c:v>
                </c:pt>
              </c:numCache>
            </c:numRef>
          </c:cat>
          <c:val>
            <c:numRef>
              <c:f>'Chart Data'!$B$2:$B$3</c:f>
              <c:numCache>
                <c:formatCode>0.0%</c:formatCode>
                <c:ptCount val="2"/>
                <c:pt idx="0">
                  <c:v>0.142</c:v>
                </c:pt>
                <c:pt idx="1">
                  <c:v>0.184</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02A34"/>
                  </a:solidFill>
                  <a:latin typeface="Helvetica Neue"/>
                  <a:ea typeface="Helvetica Neue"/>
                  <a:cs typeface="Helvetica Neue"/>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900">
                <a:solidFill>
                  <a:srgbClr val="344B54"/>
                </a:solidFill>
                <a:latin typeface="Helvetica Neue"/>
                <a:ea typeface="Helvetica Neue"/>
                <a:cs typeface="Helvetica Neue"/>
              </a:defRPr>
            </a:pPr>
          </a:p>
        </c:txPr>
        <c:crossAx val="48672768"/>
      </c:catAx>
      <c:valAx>
        <c:axId val="48672768"/>
        <c:scaling>
          <c:orientation val="minMax"/>
          <c:max val="0.2"/>
          <c:min val="0.12"/>
        </c:scaling>
        <c:delete val="0"/>
        <c:axPos val="l"/>
        <c:majorGridlines>
          <c:spPr>
            <a:ln xmlns:a="http://schemas.openxmlformats.org/drawingml/2006/main" w="9525">
              <a:solidFill>
                <a:srgbClr val="D8E6EA"/>
              </a:solidFill>
              <a:prstDash val="solid"/>
            </a:ln>
          </c:spPr>
        </c:majorGridlines>
        <c:numFmt formatCode="0%"/>
        <c:majorTickMark val="none"/>
        <c:minorTickMark val="none"/>
        <c:spPr>
          <a:ln xmlns:a="http://schemas.openxmlformats.org/drawingml/2006/main" w="9525">
            <a:solidFill>
              <a:srgbClr val="B8CDD3"/>
            </a:solidFill>
            <a:prstDash val="solid"/>
          </a:ln>
        </c:spPr>
        <c:txPr>
          <a:bodyPr xmlns:a="http://schemas.openxmlformats.org/drawingml/2006/main" anchorCtr="1"/>
          <a:lstStyle xmlns:a="http://schemas.openxmlformats.org/drawingml/2006/main"/>
          <a:p xmlns:a="http://schemas.openxmlformats.org/drawingml/2006/main">
            <a:pPr>
              <a:defRPr sz="750">
                <a:solidFill>
                  <a:srgbClr val="6B7D84"/>
                </a:solidFill>
                <a:latin typeface="Helvetica Neue"/>
                <a:ea typeface="Helvetica Neue"/>
                <a:cs typeface="Helvetica Neue"/>
              </a:defRPr>
            </a:pPr>
          </a:p>
        </c:txPr>
        <c:crossAx val="48650112"/>
        <c:crossBetween val="between"/>
        <c:majorUnit val="0.02"/>
      </c:valAx>
      <c:spPr>
        <a:solidFill xmlns:a="http://schemas.openxmlformats.org/drawingml/2006/main">
          <a:srgbClr val="F8FBFC"/>
        </a:solidFill>
        <a:ln xmlns:a="http://schemas.openxmlformats.org/drawingml/2006/main" w="0">
          <a:noFill/>
          <a:prstDash val="solid"/>
        </a:ln>
      </c:spPr>
    </c:plotArea>
    <c:plotVisOnly val="1"/>
  </c:chart>
  <c:spPr>
    <a:solidFill xmlns:a="http://schemas.openxmlformats.org/drawingml/2006/main">
      <a:srgbClr val="F8FBFC"/>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B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6516474-34C0-4E5E-A86A-988A4FF56FD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C0E7F8-F5B6-4492-ADD3-255323F41CBB}"/>
              </a:ext>
            </a:extLst>
          </p:cNvPr>
          <p:cNvSpPr>
            <a:spLocks xmlns:a="http://schemas.openxmlformats.org/drawingml/2006/main" noGrp="1"/>
          </p:cNvSpPr>
          <p:nvPr/>
        </p:nvSpPr>
        <p:spPr>
          <a:xfrm xmlns:a="http://schemas.openxmlformats.org/drawingml/2006/main">
            <a:off x="609600" y="438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F6F73"/>
                </a:solidFill>
                <a:latin typeface="Helvetica Neue"/>
                <a:ea typeface="Helvetica Neue"/>
                <a:cs typeface="Helvetica Neue"/>
              </a:defRPr>
            </a:pPr>
            <a:r>
              <a:rPr sz="1350" b="1">
                <a:solidFill>
                  <a:srgbClr val="0F6F73"/>
                </a:solidFill>
                <a:latin typeface="Helvetica Neue"/>
                <a:ea typeface="Helvetica Neue"/>
                <a:cs typeface="Helvetica Neue"/>
              </a:rPr>
              <a:t>Meds Counsulting LLC</a:t>
            </a:r>
          </a:p>
        </p:txBody>
      </p:sp>
      <p:sp>
        <p:nvSpPr>
          <p:cNvPr id="3" name="">
            <a:extLst xmlns:a="http://schemas.openxmlformats.org/drawingml/2006/main">
              <a:ext uri="{FF2B5EF4-FFF2-40B4-BE49-F238E27FC236}">
                <a16:creationId xmlns:a16="http://schemas.microsoft.com/office/drawing/2014/main" id="{4E7AFF2A-9E60-40CD-9287-6389AE1D2D36}"/>
              </a:ext>
            </a:extLst>
          </p:cNvPr>
          <p:cNvSpPr>
            <a:spLocks xmlns:a="http://schemas.openxmlformats.org/drawingml/2006/main" noGrp="1"/>
          </p:cNvSpPr>
          <p:nvPr/>
        </p:nvSpPr>
        <p:spPr>
          <a:xfrm xmlns:a="http://schemas.openxmlformats.org/drawingml/2006/main">
            <a:off x="609600" y="838200"/>
            <a:ext cx="876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95000"/>
              </a:lnSpc>
              <a:buNone/>
              <a:defRPr sz="3150" b="1">
                <a:solidFill>
                  <a:srgbClr val="102A34"/>
                </a:solidFill>
                <a:latin typeface="Helvetica Neue"/>
                <a:ea typeface="Helvetica Neue"/>
                <a:cs typeface="Helvetica Neue"/>
              </a:defRPr>
            </a:pPr>
            <a:r>
              <a:rPr sz="3150" b="1">
                <a:solidFill>
                  <a:srgbClr val="102A34"/>
                </a:solidFill>
                <a:latin typeface="Helvetica Neue"/>
                <a:ea typeface="Helvetica Neue"/>
                <a:cs typeface="Helvetica Neue"/>
              </a:rPr>
              <a:t>National Hospital Network readmission challenge</a:t>
            </a:r>
          </a:p>
        </p:txBody>
      </p:sp>
      <p:sp>
        <p:nvSpPr>
          <p:cNvPr id="4" name="">
            <a:extLst xmlns:a="http://schemas.openxmlformats.org/drawingml/2006/main">
              <a:ext uri="{FF2B5EF4-FFF2-40B4-BE49-F238E27FC236}">
                <a16:creationId xmlns:a16="http://schemas.microsoft.com/office/drawing/2014/main" id="{7496889F-CACD-4A94-9796-C3BA4255F15C}"/>
              </a:ext>
            </a:extLst>
          </p:cNvPr>
          <p:cNvSpPr>
            <a:spLocks xmlns:a="http://schemas.openxmlformats.org/drawingml/2006/main" noGrp="1"/>
          </p:cNvSpPr>
          <p:nvPr/>
        </p:nvSpPr>
        <p:spPr>
          <a:xfrm xmlns:a="http://schemas.openxmlformats.org/drawingml/2006/main">
            <a:off x="609600" y="1866900"/>
            <a:ext cx="9810750" cy="19050"/>
          </a:xfrm>
          <a:prstGeom xmlns:a="http://schemas.openxmlformats.org/drawingml/2006/main" prst="rect">
            <a:avLst/>
          </a:prstGeom>
          <a:solidFill xmlns:a="http://schemas.openxmlformats.org/drawingml/2006/main">
            <a:srgbClr val="E9A93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60E8832-5BE2-42C2-8BFB-8F7B27351D0B}"/>
              </a:ext>
            </a:extLst>
          </p:cNvPr>
          <p:cNvSpPr>
            <a:spLocks xmlns:a="http://schemas.openxmlformats.org/drawingml/2006/main" noGrp="1"/>
          </p:cNvSpPr>
          <p:nvPr/>
        </p:nvSpPr>
        <p:spPr>
          <a:xfrm xmlns:a="http://schemas.openxmlformats.org/drawingml/2006/main">
            <a:off x="6057900" y="2209800"/>
            <a:ext cx="9525" cy="3619500"/>
          </a:xfrm>
          <a:prstGeom xmlns:a="http://schemas.openxmlformats.org/drawingml/2006/main" prst="rect">
            <a:avLst/>
          </a:prstGeom>
          <a:solidFill xmlns:a="http://schemas.openxmlformats.org/drawingml/2006/main">
            <a:srgbClr val="D5E3E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F5FEC8-BB9F-426C-A625-9C676DD4A2CD}"/>
              </a:ext>
            </a:extLst>
          </p:cNvPr>
          <p:cNvSpPr>
            <a:spLocks xmlns:a="http://schemas.openxmlformats.org/drawingml/2006/main" noGrp="1"/>
          </p:cNvSpPr>
          <p:nvPr/>
        </p:nvSpPr>
        <p:spPr>
          <a:xfrm xmlns:a="http://schemas.openxmlformats.org/drawingml/2006/main">
            <a:off x="609600" y="22479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02A34"/>
                </a:solidFill>
                <a:latin typeface="Helvetica Neue"/>
                <a:ea typeface="Helvetica Neue"/>
                <a:cs typeface="Helvetica Neue"/>
              </a:defRPr>
            </a:pPr>
            <a:r>
              <a:rPr sz="1875" b="1">
                <a:solidFill>
                  <a:srgbClr val="102A34"/>
                </a:solidFill>
                <a:latin typeface="Helvetica Neue"/>
                <a:ea typeface="Helvetica Neue"/>
                <a:cs typeface="Helvetica Neue"/>
              </a:rPr>
              <a:t>Summary and background</a:t>
            </a:r>
          </a:p>
        </p:txBody>
      </p:sp>
      <p:sp>
        <p:nvSpPr>
          <p:cNvPr id="7" name="">
            <a:extLst xmlns:a="http://schemas.openxmlformats.org/drawingml/2006/main">
              <a:ext uri="{FF2B5EF4-FFF2-40B4-BE49-F238E27FC236}">
                <a16:creationId xmlns:a16="http://schemas.microsoft.com/office/drawing/2014/main" id="{625E4F52-115F-4B95-879D-84A5DC84DFF2}"/>
              </a:ext>
            </a:extLst>
          </p:cNvPr>
          <p:cNvSpPr>
            <a:spLocks xmlns:a="http://schemas.openxmlformats.org/drawingml/2006/main" noGrp="1"/>
          </p:cNvSpPr>
          <p:nvPr/>
        </p:nvSpPr>
        <p:spPr>
          <a:xfrm xmlns:a="http://schemas.openxmlformats.org/drawingml/2006/main">
            <a:off x="609600" y="27241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6000"/>
              </a:lnSpc>
              <a:buNone/>
              <a:defRPr sz="1425">
                <a:solidFill>
                  <a:srgbClr val="253B44"/>
                </a:solidFill>
                <a:latin typeface="Helvetica Neue"/>
                <a:ea typeface="Helvetica Neue"/>
                <a:cs typeface="Helvetica Neue"/>
              </a:defRPr>
            </a:pPr>
            <a:r>
              <a:rPr sz="1425">
                <a:solidFill>
                  <a:srgbClr val="253B44"/>
                </a:solidFill>
                <a:latin typeface="Helvetica Neue"/>
                <a:ea typeface="Helvetica Neue"/>
                <a:cs typeface="Helvetica Neue"/>
              </a:rPr>
              <a:t>National Hospital Network is a large integrated healthcare system serving patients across a broad hospital and outpatient footprint.</a:t>
            </a:r>
          </a:p>
        </p:txBody>
      </p:sp>
      <p:sp>
        <p:nvSpPr>
          <p:cNvPr id="8" name="">
            <a:extLst xmlns:a="http://schemas.openxmlformats.org/drawingml/2006/main">
              <a:ext uri="{FF2B5EF4-FFF2-40B4-BE49-F238E27FC236}">
                <a16:creationId xmlns:a16="http://schemas.microsoft.com/office/drawing/2014/main" id="{6BB8248F-87E6-48A0-AD97-885893399D8A}"/>
              </a:ext>
            </a:extLst>
          </p:cNvPr>
          <p:cNvSpPr>
            <a:spLocks xmlns:a="http://schemas.openxmlformats.org/drawingml/2006/main" noGrp="1"/>
          </p:cNvSpPr>
          <p:nvPr/>
        </p:nvSpPr>
        <p:spPr>
          <a:xfrm xmlns:a="http://schemas.openxmlformats.org/drawingml/2006/main">
            <a:off x="609600" y="3733800"/>
            <a:ext cx="4476750" cy="19050"/>
          </a:xfrm>
          <a:prstGeom xmlns:a="http://schemas.openxmlformats.org/drawingml/2006/main" prst="rect">
            <a:avLst/>
          </a:prstGeom>
          <a:solidFill xmlns:a="http://schemas.openxmlformats.org/drawingml/2006/main">
            <a:srgbClr val="C8DD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5F536F1-5545-47C6-8AAB-DA0C89BF0249}"/>
              </a:ext>
            </a:extLst>
          </p:cNvPr>
          <p:cNvSpPr>
            <a:spLocks xmlns:a="http://schemas.openxmlformats.org/drawingml/2006/main" noGrp="1"/>
          </p:cNvSpPr>
          <p:nvPr/>
        </p:nvSpPr>
        <p:spPr>
          <a:xfrm xmlns:a="http://schemas.openxmlformats.org/drawingml/2006/main">
            <a:off x="609600" y="39814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0F4C5C"/>
                </a:solidFill>
                <a:latin typeface="Helvetica Neue"/>
                <a:ea typeface="Helvetica Neue"/>
                <a:cs typeface="Helvetica Neue"/>
              </a:defRPr>
            </a:pPr>
            <a:r>
              <a:rPr sz="2550" b="1">
                <a:solidFill>
                  <a:srgbClr val="0F4C5C"/>
                </a:solidFill>
                <a:latin typeface="Helvetica Neue"/>
                <a:ea typeface="Helvetica Neue"/>
                <a:cs typeface="Helvetica Neue"/>
              </a:rPr>
              <a:t>42</a:t>
            </a:r>
          </a:p>
        </p:txBody>
      </p:sp>
      <p:sp>
        <p:nvSpPr>
          <p:cNvPr id="10" name="">
            <a:extLst xmlns:a="http://schemas.openxmlformats.org/drawingml/2006/main">
              <a:ext uri="{FF2B5EF4-FFF2-40B4-BE49-F238E27FC236}">
                <a16:creationId xmlns:a16="http://schemas.microsoft.com/office/drawing/2014/main" id="{C6C8C248-A7D4-4EC7-B221-066FAD1A84AC}"/>
              </a:ext>
            </a:extLst>
          </p:cNvPr>
          <p:cNvSpPr>
            <a:spLocks xmlns:a="http://schemas.openxmlformats.org/drawingml/2006/main" noGrp="1"/>
          </p:cNvSpPr>
          <p:nvPr/>
        </p:nvSpPr>
        <p:spPr>
          <a:xfrm xmlns:a="http://schemas.openxmlformats.org/drawingml/2006/main">
            <a:off x="609600" y="44005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2000"/>
              </a:lnSpc>
              <a:buNone/>
              <a:defRPr sz="1050">
                <a:solidFill>
                  <a:srgbClr val="50636B"/>
                </a:solidFill>
                <a:latin typeface="Helvetica Neue"/>
                <a:ea typeface="Helvetica Neue"/>
                <a:cs typeface="Helvetica Neue"/>
              </a:defRPr>
            </a:pPr>
            <a:r>
              <a:rPr sz="1050">
                <a:solidFill>
                  <a:srgbClr val="50636B"/>
                </a:solidFill>
                <a:latin typeface="Helvetica Neue"/>
                <a:ea typeface="Helvetica Neue"/>
                <a:cs typeface="Helvetica Neue"/>
              </a:rPr>
              <a:t>hospitals</a:t>
            </a:r>
          </a:p>
        </p:txBody>
      </p:sp>
      <p:sp>
        <p:nvSpPr>
          <p:cNvPr id="11" name="">
            <a:extLst xmlns:a="http://schemas.openxmlformats.org/drawingml/2006/main">
              <a:ext uri="{FF2B5EF4-FFF2-40B4-BE49-F238E27FC236}">
                <a16:creationId xmlns:a16="http://schemas.microsoft.com/office/drawing/2014/main" id="{DD5DDFEF-483A-4423-9998-FFC89BAD1F9A}"/>
              </a:ext>
            </a:extLst>
          </p:cNvPr>
          <p:cNvSpPr>
            <a:spLocks xmlns:a="http://schemas.openxmlformats.org/drawingml/2006/main" noGrp="1"/>
          </p:cNvSpPr>
          <p:nvPr/>
        </p:nvSpPr>
        <p:spPr>
          <a:xfrm xmlns:a="http://schemas.openxmlformats.org/drawingml/2006/main">
            <a:off x="2552700" y="3981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0F4C5C"/>
                </a:solidFill>
                <a:latin typeface="Helvetica Neue"/>
                <a:ea typeface="Helvetica Neue"/>
                <a:cs typeface="Helvetica Neue"/>
              </a:defRPr>
            </a:pPr>
            <a:r>
              <a:rPr sz="2550" b="1">
                <a:solidFill>
                  <a:srgbClr val="0F4C5C"/>
                </a:solidFill>
                <a:latin typeface="Helvetica Neue"/>
                <a:ea typeface="Helvetica Neue"/>
                <a:cs typeface="Helvetica Neue"/>
              </a:rPr>
              <a:t>300+</a:t>
            </a:r>
          </a:p>
        </p:txBody>
      </p:sp>
      <p:sp>
        <p:nvSpPr>
          <p:cNvPr id="12" name="">
            <a:extLst xmlns:a="http://schemas.openxmlformats.org/drawingml/2006/main">
              <a:ext uri="{FF2B5EF4-FFF2-40B4-BE49-F238E27FC236}">
                <a16:creationId xmlns:a16="http://schemas.microsoft.com/office/drawing/2014/main" id="{6DE0B418-6C23-4048-B7E2-C9AD108305A8}"/>
              </a:ext>
            </a:extLst>
          </p:cNvPr>
          <p:cNvSpPr>
            <a:spLocks xmlns:a="http://schemas.openxmlformats.org/drawingml/2006/main" noGrp="1"/>
          </p:cNvSpPr>
          <p:nvPr/>
        </p:nvSpPr>
        <p:spPr>
          <a:xfrm xmlns:a="http://schemas.openxmlformats.org/drawingml/2006/main">
            <a:off x="2552700" y="44005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2000"/>
              </a:lnSpc>
              <a:buNone/>
              <a:defRPr sz="1050">
                <a:solidFill>
                  <a:srgbClr val="50636B"/>
                </a:solidFill>
                <a:latin typeface="Helvetica Neue"/>
                <a:ea typeface="Helvetica Neue"/>
                <a:cs typeface="Helvetica Neue"/>
              </a:defRPr>
            </a:pPr>
            <a:r>
              <a:rPr sz="1050">
                <a:solidFill>
                  <a:srgbClr val="50636B"/>
                </a:solidFill>
                <a:latin typeface="Helvetica Neue"/>
                <a:ea typeface="Helvetica Neue"/>
                <a:cs typeface="Helvetica Neue"/>
              </a:rPr>
              <a:t>outpatient facilities</a:t>
            </a:r>
          </a:p>
        </p:txBody>
      </p:sp>
      <p:sp>
        <p:nvSpPr>
          <p:cNvPr id="13" name="">
            <a:extLst xmlns:a="http://schemas.openxmlformats.org/drawingml/2006/main">
              <a:ext uri="{FF2B5EF4-FFF2-40B4-BE49-F238E27FC236}">
                <a16:creationId xmlns:a16="http://schemas.microsoft.com/office/drawing/2014/main" id="{3C4E1D1D-9A7F-49A4-8461-2D06269B3543}"/>
              </a:ext>
            </a:extLst>
          </p:cNvPr>
          <p:cNvSpPr>
            <a:spLocks xmlns:a="http://schemas.openxmlformats.org/drawingml/2006/main" noGrp="1"/>
          </p:cNvSpPr>
          <p:nvPr/>
        </p:nvSpPr>
        <p:spPr>
          <a:xfrm xmlns:a="http://schemas.openxmlformats.org/drawingml/2006/main">
            <a:off x="609600" y="50101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0F4C5C"/>
                </a:solidFill>
                <a:latin typeface="Helvetica Neue"/>
                <a:ea typeface="Helvetica Neue"/>
                <a:cs typeface="Helvetica Neue"/>
              </a:defRPr>
            </a:pPr>
            <a:r>
              <a:rPr sz="2550" b="1">
                <a:solidFill>
                  <a:srgbClr val="0F4C5C"/>
                </a:solidFill>
                <a:latin typeface="Helvetica Neue"/>
                <a:ea typeface="Helvetica Neue"/>
                <a:cs typeface="Helvetica Neue"/>
              </a:rPr>
              <a:t>11</a:t>
            </a:r>
          </a:p>
        </p:txBody>
      </p:sp>
      <p:sp>
        <p:nvSpPr>
          <p:cNvPr id="14" name="">
            <a:extLst xmlns:a="http://schemas.openxmlformats.org/drawingml/2006/main">
              <a:ext uri="{FF2B5EF4-FFF2-40B4-BE49-F238E27FC236}">
                <a16:creationId xmlns:a16="http://schemas.microsoft.com/office/drawing/2014/main" id="{0852535B-7DCD-4649-B8B1-ADE7948EC110}"/>
              </a:ext>
            </a:extLst>
          </p:cNvPr>
          <p:cNvSpPr>
            <a:spLocks xmlns:a="http://schemas.openxmlformats.org/drawingml/2006/main" noGrp="1"/>
          </p:cNvSpPr>
          <p:nvPr/>
        </p:nvSpPr>
        <p:spPr>
          <a:xfrm xmlns:a="http://schemas.openxmlformats.org/drawingml/2006/main">
            <a:off x="609600" y="54292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2000"/>
              </a:lnSpc>
              <a:buNone/>
              <a:defRPr sz="1050">
                <a:solidFill>
                  <a:srgbClr val="50636B"/>
                </a:solidFill>
                <a:latin typeface="Helvetica Neue"/>
                <a:ea typeface="Helvetica Neue"/>
                <a:cs typeface="Helvetica Neue"/>
              </a:defRPr>
            </a:pPr>
            <a:r>
              <a:rPr sz="1050">
                <a:solidFill>
                  <a:srgbClr val="50636B"/>
                </a:solidFill>
                <a:latin typeface="Helvetica Neue"/>
                <a:ea typeface="Helvetica Neue"/>
                <a:cs typeface="Helvetica Neue"/>
              </a:rPr>
              <a:t>states</a:t>
            </a:r>
          </a:p>
        </p:txBody>
      </p:sp>
      <p:sp>
        <p:nvSpPr>
          <p:cNvPr id="15" name="">
            <a:extLst xmlns:a="http://schemas.openxmlformats.org/drawingml/2006/main">
              <a:ext uri="{FF2B5EF4-FFF2-40B4-BE49-F238E27FC236}">
                <a16:creationId xmlns:a16="http://schemas.microsoft.com/office/drawing/2014/main" id="{1CF13395-7CC2-4810-B71F-C3B5DB3D7939}"/>
              </a:ext>
            </a:extLst>
          </p:cNvPr>
          <p:cNvSpPr>
            <a:spLocks xmlns:a="http://schemas.openxmlformats.org/drawingml/2006/main" noGrp="1"/>
          </p:cNvSpPr>
          <p:nvPr/>
        </p:nvSpPr>
        <p:spPr>
          <a:xfrm xmlns:a="http://schemas.openxmlformats.org/drawingml/2006/main">
            <a:off x="2552700" y="50101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0F4C5C"/>
                </a:solidFill>
                <a:latin typeface="Helvetica Neue"/>
                <a:ea typeface="Helvetica Neue"/>
                <a:cs typeface="Helvetica Neue"/>
              </a:defRPr>
            </a:pPr>
            <a:r>
              <a:rPr sz="2550" b="1">
                <a:solidFill>
                  <a:srgbClr val="0F4C5C"/>
                </a:solidFill>
                <a:latin typeface="Helvetica Neue"/>
                <a:ea typeface="Helvetica Neue"/>
                <a:cs typeface="Helvetica Neue"/>
              </a:rPr>
              <a:t>2.3M</a:t>
            </a:r>
          </a:p>
        </p:txBody>
      </p:sp>
      <p:sp>
        <p:nvSpPr>
          <p:cNvPr id="16" name="">
            <a:extLst xmlns:a="http://schemas.openxmlformats.org/drawingml/2006/main">
              <a:ext uri="{FF2B5EF4-FFF2-40B4-BE49-F238E27FC236}">
                <a16:creationId xmlns:a16="http://schemas.microsoft.com/office/drawing/2014/main" id="{C6261448-0378-4A71-84C8-0ADF36D0D099}"/>
              </a:ext>
            </a:extLst>
          </p:cNvPr>
          <p:cNvSpPr>
            <a:spLocks xmlns:a="http://schemas.openxmlformats.org/drawingml/2006/main" noGrp="1"/>
          </p:cNvSpPr>
          <p:nvPr/>
        </p:nvSpPr>
        <p:spPr>
          <a:xfrm xmlns:a="http://schemas.openxmlformats.org/drawingml/2006/main">
            <a:off x="2552700" y="54292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2000"/>
              </a:lnSpc>
              <a:buNone/>
              <a:defRPr sz="1050">
                <a:solidFill>
                  <a:srgbClr val="50636B"/>
                </a:solidFill>
                <a:latin typeface="Helvetica Neue"/>
                <a:ea typeface="Helvetica Neue"/>
                <a:cs typeface="Helvetica Neue"/>
              </a:defRPr>
            </a:pPr>
            <a:r>
              <a:rPr sz="1050">
                <a:solidFill>
                  <a:srgbClr val="50636B"/>
                </a:solidFill>
                <a:latin typeface="Helvetica Neue"/>
                <a:ea typeface="Helvetica Neue"/>
                <a:cs typeface="Helvetica Neue"/>
              </a:rPr>
              <a:t>patients annually</a:t>
            </a:r>
          </a:p>
        </p:txBody>
      </p:sp>
      <p:sp>
        <p:nvSpPr>
          <p:cNvPr id="17" name="">
            <a:extLst xmlns:a="http://schemas.openxmlformats.org/drawingml/2006/main">
              <a:ext uri="{FF2B5EF4-FFF2-40B4-BE49-F238E27FC236}">
                <a16:creationId xmlns:a16="http://schemas.microsoft.com/office/drawing/2014/main" id="{A56EC3DF-1798-40E2-9F9B-11DF728226D7}"/>
              </a:ext>
            </a:extLst>
          </p:cNvPr>
          <p:cNvSpPr>
            <a:spLocks xmlns:a="http://schemas.openxmlformats.org/drawingml/2006/main" noGrp="1"/>
          </p:cNvSpPr>
          <p:nvPr/>
        </p:nvSpPr>
        <p:spPr>
          <a:xfrm xmlns:a="http://schemas.openxmlformats.org/drawingml/2006/main">
            <a:off x="6515100" y="22479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02A34"/>
                </a:solidFill>
                <a:latin typeface="Helvetica Neue"/>
                <a:ea typeface="Helvetica Neue"/>
                <a:cs typeface="Helvetica Neue"/>
              </a:defRPr>
            </a:pPr>
            <a:r>
              <a:rPr sz="1875" b="1">
                <a:solidFill>
                  <a:srgbClr val="102A34"/>
                </a:solidFill>
                <a:latin typeface="Helvetica Neue"/>
                <a:ea typeface="Helvetica Neue"/>
                <a:cs typeface="Helvetica Neue"/>
              </a:rPr>
              <a:t>Business problem</a:t>
            </a:r>
          </a:p>
        </p:txBody>
      </p:sp>
      <p:sp>
        <p:nvSpPr>
          <p:cNvPr id="18" name="">
            <a:extLst xmlns:a="http://schemas.openxmlformats.org/drawingml/2006/main">
              <a:ext uri="{FF2B5EF4-FFF2-40B4-BE49-F238E27FC236}">
                <a16:creationId xmlns:a16="http://schemas.microsoft.com/office/drawing/2014/main" id="{7A72ABA0-3432-478D-85EA-7A8F80EB0604}"/>
              </a:ext>
            </a:extLst>
          </p:cNvPr>
          <p:cNvSpPr>
            <a:spLocks xmlns:a="http://schemas.openxmlformats.org/drawingml/2006/main" noGrp="1"/>
          </p:cNvSpPr>
          <p:nvPr/>
        </p:nvSpPr>
        <p:spPr>
          <a:xfrm xmlns:a="http://schemas.openxmlformats.org/drawingml/2006/main">
            <a:off x="6515100" y="2724150"/>
            <a:ext cx="4667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4000"/>
              </a:lnSpc>
              <a:buNone/>
              <a:defRPr sz="1350">
                <a:solidFill>
                  <a:srgbClr val="253B44"/>
                </a:solidFill>
                <a:latin typeface="Helvetica Neue"/>
                <a:ea typeface="Helvetica Neue"/>
                <a:cs typeface="Helvetica Neue"/>
              </a:defRPr>
            </a:pPr>
            <a:r>
              <a:rPr sz="1350">
                <a:solidFill>
                  <a:srgbClr val="253B44"/>
                </a:solidFill>
                <a:latin typeface="Helvetica Neue"/>
                <a:ea typeface="Helvetica Neue"/>
                <a:cs typeface="Helvetica Neue"/>
              </a:rPr>
              <a:t>NHN's 30-day readmission rate increased from 14.2% in 2022 to 18.4% in 2025 despite investments in discharge planning, care coordination, and patient follow-up.</a:t>
            </a:r>
          </a:p>
        </p:txBody>
      </p:sp>
      <p:graphicFrame>
        <p:nvGraphicFramePr>
          <p:cNvPr id="42" name="Chart"/>
          <p:cNvGraphicFramePr/>
          <p:nvPr/>
        </p:nvGraphicFramePr>
        <p:xfrm>
          <a:off xmlns:a="http://schemas.openxmlformats.org/drawingml/2006/main" x="6515100" y="3733800"/>
          <a:ext xmlns:a="http://schemas.openxmlformats.org/drawingml/2006/main" cx="4362450" cy="1676400"/>
        </p:xfrm>
        <a:graphic xmlns:a="http://schemas.openxmlformats.org/drawingml/2006/main">
          <a:graphicData uri="http://schemas.openxmlformats.org/drawingml/2006/chart">
            <c:chart xmlns:r="http://schemas.openxmlformats.org/officeDocument/2006/relationships" xmlns:c="http://schemas.openxmlformats.org/drawingml/2006/chart" r:id="Rfb264852d3f04f9d"/>
          </a:graphicData>
        </a:graphic>
      </p:graphicFrame>
      <p:sp>
        <p:nvSpPr>
          <p:cNvPr id="20" name="">
            <a:extLst xmlns:a="http://schemas.openxmlformats.org/drawingml/2006/main">
              <a:ext uri="{FF2B5EF4-FFF2-40B4-BE49-F238E27FC236}">
                <a16:creationId xmlns:a16="http://schemas.microsoft.com/office/drawing/2014/main" id="{938E8F7D-42E9-4743-ADDC-A579FEC9BFE7}"/>
              </a:ext>
            </a:extLst>
          </p:cNvPr>
          <p:cNvSpPr>
            <a:spLocks xmlns:a="http://schemas.openxmlformats.org/drawingml/2006/main" noGrp="1"/>
          </p:cNvSpPr>
          <p:nvPr/>
        </p:nvSpPr>
        <p:spPr>
          <a:xfrm xmlns:a="http://schemas.openxmlformats.org/drawingml/2006/main">
            <a:off x="6515100" y="5676900"/>
            <a:ext cx="4362450" cy="19050"/>
          </a:xfrm>
          <a:prstGeom xmlns:a="http://schemas.openxmlformats.org/drawingml/2006/main" prst="rect">
            <a:avLst/>
          </a:prstGeom>
          <a:solidFill xmlns:a="http://schemas.openxmlformats.org/drawingml/2006/main">
            <a:srgbClr val="C8DDE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42F8B85-030D-429F-9EAD-56942096F0EA}"/>
              </a:ext>
            </a:extLst>
          </p:cNvPr>
          <p:cNvSpPr>
            <a:spLocks xmlns:a="http://schemas.openxmlformats.org/drawingml/2006/main" noGrp="1"/>
          </p:cNvSpPr>
          <p:nvPr/>
        </p:nvSpPr>
        <p:spPr>
          <a:xfrm xmlns:a="http://schemas.openxmlformats.org/drawingml/2006/main">
            <a:off x="6515100" y="59245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0F4C5C"/>
                </a:solidFill>
                <a:latin typeface="Helvetica Neue"/>
                <a:ea typeface="Helvetica Neue"/>
                <a:cs typeface="Helvetica Neue"/>
              </a:defRPr>
            </a:pPr>
            <a:r>
              <a:rPr sz="2025" b="1">
                <a:solidFill>
                  <a:srgbClr val="0F4C5C"/>
                </a:solidFill>
                <a:latin typeface="Helvetica Neue"/>
                <a:ea typeface="Helvetica Neue"/>
                <a:cs typeface="Helvetica Neue"/>
              </a:rPr>
              <a:t>More than $42M</a:t>
            </a:r>
          </a:p>
        </p:txBody>
      </p:sp>
      <p:sp>
        <p:nvSpPr>
          <p:cNvPr id="22" name="">
            <a:extLst xmlns:a="http://schemas.openxmlformats.org/drawingml/2006/main">
              <a:ext uri="{FF2B5EF4-FFF2-40B4-BE49-F238E27FC236}">
                <a16:creationId xmlns:a16="http://schemas.microsoft.com/office/drawing/2014/main" id="{2553BB12-B50D-4989-9766-DFE7047373A7}"/>
              </a:ext>
            </a:extLst>
          </p:cNvPr>
          <p:cNvSpPr>
            <a:spLocks xmlns:a="http://schemas.openxmlformats.org/drawingml/2006/main" noGrp="1"/>
          </p:cNvSpPr>
          <p:nvPr/>
        </p:nvSpPr>
        <p:spPr>
          <a:xfrm xmlns:a="http://schemas.openxmlformats.org/drawingml/2006/main">
            <a:off x="8610600" y="599122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1050">
                <a:solidFill>
                  <a:srgbClr val="50636B"/>
                </a:solidFill>
                <a:latin typeface="Helvetica Neue"/>
                <a:ea typeface="Helvetica Neue"/>
                <a:cs typeface="Helvetica Neue"/>
              </a:defRPr>
            </a:pPr>
            <a:r>
              <a:rPr sz="1050">
                <a:solidFill>
                  <a:srgbClr val="50636B"/>
                </a:solidFill>
                <a:latin typeface="Helvetica Neue"/>
                <a:ea typeface="Helvetica Neue"/>
                <a:cs typeface="Helvetica Neue"/>
              </a:rPr>
              <a:t>estimated annual readmission-related cost exposure</a:t>
            </a:r>
          </a:p>
        </p:txBody>
      </p:sp>
      <p:sp>
        <p:nvSpPr>
          <p:cNvPr id="23" name="">
            <a:extLst xmlns:a="http://schemas.openxmlformats.org/drawingml/2006/main">
              <a:ext uri="{FF2B5EF4-FFF2-40B4-BE49-F238E27FC236}">
                <a16:creationId xmlns:a16="http://schemas.microsoft.com/office/drawing/2014/main" id="{47EE28D3-F598-4F8C-9DAA-E15A9BB40AAD}"/>
              </a:ext>
            </a:extLst>
          </p:cNvPr>
          <p:cNvSpPr>
            <a:spLocks xmlns:a="http://schemas.openxmlformats.org/drawingml/2006/main" noGrp="1"/>
          </p:cNvSpPr>
          <p:nvPr/>
        </p:nvSpPr>
        <p:spPr>
          <a:xfrm xmlns:a="http://schemas.openxmlformats.org/drawingml/2006/main">
            <a:off x="609600" y="63817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defRPr sz="825">
                <a:solidFill>
                  <a:srgbClr val="667A82"/>
                </a:solidFill>
                <a:latin typeface="Helvetica Neue"/>
                <a:ea typeface="Helvetica Neue"/>
                <a:cs typeface="Helvetica Neue"/>
              </a:defRPr>
            </a:pPr>
            <a:r>
              <a:rPr sz="825">
                <a:solidFill>
                  <a:srgbClr val="667A82"/>
                </a:solidFill>
                <a:latin typeface="Helvetica Neue"/>
                <a:ea typeface="Helvetica Neue"/>
                <a:cs typeface="Helvetica Neue"/>
              </a:rPr>
              <a:t>Source: Option 1 Healthcare Consulting Packet and project summary</a:t>
            </a:r>
          </a:p>
        </p:txBody>
      </p:sp>
    </p:spTree>
    <p:extLst>
      <p:ext uri="{BB962C8B-B14F-4D97-AF65-F5344CB8AC3E}">
        <p14:creationId xmlns:p14="http://schemas.microsoft.com/office/powerpoint/2010/main" val="408471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2026-09-18T18:25:42.9020000Z</dcterms:created>
  <dcterms:modified xsi:type="dcterms:W3CDTF">2026-09-18T18:25:42.9020000Z</dcterms:modified>
</coreProperties>
</file>