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52e46edf14d09" /><Relationship Type="http://schemas.openxmlformats.org/officeDocument/2006/relationships/extended-properties" Target="/docProps/app.xml" Id="R982f23eed55b4848" /><Relationship Type="http://schemas.openxmlformats.org/officeDocument/2006/relationships/officeDocument" Target="/ppt/presentation.xml" Id="R1667fcebc993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fb958fe4d487f"/>
  </p:sldMasterIdLst>
  <p:sldIdLst>
    <p:sldId xmlns:r="http://schemas.openxmlformats.org/officeDocument/2006/relationships" id="256" r:id="Rea515b467857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ccc9e99a347b8" /><Relationship Type="http://schemas.openxmlformats.org/officeDocument/2006/relationships/slideMaster" Target="/ppt/slideMasters/slideMaster1.xml" Id="R6b9fb958fe4d487f" /><Relationship Type="http://schemas.openxmlformats.org/officeDocument/2006/relationships/presProps" Target="/ppt/presProps.xml" Id="R1060972bf95441aa" /><Relationship Type="http://schemas.openxmlformats.org/officeDocument/2006/relationships/tableStyles" Target="/ppt/tableStyles.xml" Id="R4776bbeb06d848be" /><Relationship Type="http://schemas.openxmlformats.org/officeDocument/2006/relationships/slide" Target="/ppt/slides/slide1.xml" Id="Rea515b4678574d0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a0aef732d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5d8a9dfbf49ca" /><Relationship Type="http://schemas.openxmlformats.org/officeDocument/2006/relationships/slideLayout" Target="/ppt/slideLayouts/slideLayout1.xml" Id="Rf1f9d02e2b58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9d02e2b58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73cc0d464325" /><Relationship Type="http://schemas.openxmlformats.org/officeDocument/2006/relationships/chart" Target="/ppt/slides/charts/chart1.xml" Id="R7556978d0ed442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30-day readmission rate</c:v>
          </c:tx>
          <c:spPr>
            <a:ln xmlns:a="http://schemas.openxmlformats.org/drawingml/2006/main" w="38100">
              <a:solidFill>
                <a:srgbClr val="0F6F73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F6F73"/>
              </a:solidFill>
            </c:spPr>
          </c:marker>
          <c:dPt>
            <c:idx val="0"/>
            <c:spPr>
              <a:solidFill xmlns:a="http://schemas.openxmlformats.org/drawingml/2006/main">
                <a:srgbClr val="0F6F73"/>
              </a:solidFill>
              <a:ln xmlns:a="http://schemas.openxmlformats.org/drawingml/2006/main" w="9525">
                <a:solidFill>
                  <a:srgbClr val="0F6F73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9A93A"/>
              </a:solidFill>
              <a:ln xmlns:a="http://schemas.openxmlformats.org/drawingml/2006/main" w="9525">
                <a:solidFill>
                  <a:srgbClr val="B7791F"/>
                </a:solidFill>
                <a:prstDash val="solid"/>
              </a:ln>
            </c:spPr>
          </c:dPt>
          <c:cat>
            <c:numRef>
              <c:f>'Chart Data'!$A$2:$A$3</c:f>
              <c:numCache>
                <c:formatCode>General</c:formatCode>
                <c:ptCount val="2"/>
                <c:pt idx="0">
                  <c:v>2022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0.142</c:v>
                </c:pt>
                <c:pt idx="1">
                  <c:v>0.184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02A3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44B5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.1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6EA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B7D8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8FB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8FBFC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38A26-48F4-4942-95D7-B690797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15285-95D5-42DC-8CD9-F090F4A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6F73"/>
                </a:solidFill>
                <a:latin typeface="Helvetica Neue"/>
                <a:ea typeface="Helvetica Neue"/>
                <a:cs typeface="Helvetica Neue"/>
              </a:rPr>
              <a:t>Meds Counsulting LLC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2C435-88DA-4473-BCEC-DA3AA9D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National Hospital Network project charter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DC56E-0180-4494-BCF9-6A88840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9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92F6B-E2C0-43DC-AA13-1DE9DE3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Overview of the business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13E3-4149-43DF-BFDF-3F7A7C2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NHN is a large integrated healthcare system serving patients across a broad hospital and outpatient network.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14350" y="2609850"/>
          <a:ext xmlns:a="http://schemas.openxmlformats.org/drawingml/2006/main" cx="5543550" cy="114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5888"/>
                <a:gridCol w="1385888"/>
                <a:gridCol w="1385888"/>
                <a:gridCol w="1385888"/>
              </a:tblGrid>
              <a:tr h="571500"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300+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F4C5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2.3M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571500"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Hospitals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Outpatient sites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38100" tIns="19050" rIns="38100" bIns="19050">
                      <a:no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50636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 per year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FF1E3-4EE1-4CCB-ADC1-76C4421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11102-73BE-46DD-B26A-8AB83A6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Readmissions are rising despite investment in discharge planning, care coordination, and follow-up services.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457950" y="2609850"/>
          <a:ext xmlns:a="http://schemas.openxmlformats.org/drawingml/2006/main" cx="4343400" cy="114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56978d0ed4427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AF6D7-46BF-478C-8AC9-F25034F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15" b="1">
                <a:solidFill>
                  <a:srgbClr val="0F4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15" b="1">
                <a:solidFill>
                  <a:srgbClr val="0F4C5C"/>
                </a:solidFill>
                <a:latin typeface="Helvetica Neue"/>
                <a:ea typeface="Helvetica Neue"/>
                <a:cs typeface="Helvetica Neue"/>
              </a:rPr>
              <a:t>Annual cost exposure: more than $42M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7E763-3761-4A38-8DCF-54DBF8CF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0FB9C-B666-4C1A-AB81-89D90F3F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Team roles by workstream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14350" y="4686300"/>
          <a:ext xmlns:a="http://schemas.openxmlformats.org/drawingml/2006/main" cx="5543550" cy="1447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3429000"/>
              </a:tblGrid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0F4C5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Project lead and story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He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preparation and EDA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Belal Glab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risk analysis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Jingyi Cao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Predictive modeling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Santosh Kumar Chantati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impact and ROI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Jeevan-Kumar Mittapalli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coordination operations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Adarsh Pravinbhai Patel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180975"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1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Dashboard and recommendations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  <a:tc>
                  <a:txBody>
                    <a:bodyPr lIns="57150" tIns="19050" rIns="38100" bIns="19050">
                      <a:noAutofit/>
                    </a:bodyPr>
                    <a:lstStyle/>
                    <a:p>
                      <a:pPr algn="l"/>
                      <a:r>
                        <a:rPr sz="698" b="0">
                          <a:solidFill>
                            <a:srgbClr val="253B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Sam-Aquila Siddani</a:t>
                      </a:r>
                    </a:p>
                  </a:txBody>
                  <a:tcPr marL="91440" marR="91440" marT="45720" marB="45720" anchor="ctr">
                    <a:solidFill>
                      <a:srgbClr val="EEF6F7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E955E-F12B-47D0-B965-4E5697E5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Stakeholders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CF1E0-D23C-46F6-914E-9E10B14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Executive leadership and finance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Clinical and operations teams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Care coordinators and discharge planners</a:t>
            </a:r>
          </a:p>
          <a:p xmlns:a="http://schemas.openxmlformats.org/drawingml/2006/main">
            <a:pPr marL="165100" indent="-76200">
              <a:spcAft>
                <a:spcPts val="300"/>
              </a:spcAft>
              <a:buChar char="•"/>
              <a:def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Patients, caregivers, and community 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FDAB8-613F-46AE-9001-1E6A3FA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34"/>
                </a:solidFill>
                <a:latin typeface="Helvetica Neue"/>
                <a:ea typeface="Helvetica Neue"/>
                <a:cs typeface="Helvetica Neue"/>
              </a:rPr>
              <a:t>Business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FB3A7-7C11-4F4B-B3CD-319CF842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Working belief: readmissions are rising because high-risk patients are not consistently matched to the right post-discharge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>
                <a:solidFill>
                  <a:srgbClr val="253B44"/>
                </a:solidFill>
                <a:latin typeface="Helvetica Neue"/>
                <a:ea typeface="Helvetica Neue"/>
                <a:cs typeface="Helvetica Neue"/>
              </a:rPr>
              <a:t>Test focus: follow-up completion, chronic disease burden, and care coordination targeting.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84824-A424-40D6-9D23-D6B6C38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>
                <a:solidFill>
                  <a:srgbClr val="667A82"/>
                </a:solidFill>
                <a:latin typeface="Helvetica Neue"/>
                <a:ea typeface="Helvetica Neue"/>
                <a:cs typeface="Helvetica Neue"/>
              </a:rPr>
              <a:t>Source: Option 1 Healthcare Consulting Packet and 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415701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2026-09-18T20:11:29.7110000Z</dcterms:created>
  <dcterms:modified xsi:type="dcterms:W3CDTF">2026-09-18T20:11:29.7110000Z</dcterms:modified>
</coreProperties>
</file>