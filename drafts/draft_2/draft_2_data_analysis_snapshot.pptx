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76f048de04494" /><Relationship Type="http://schemas.openxmlformats.org/officeDocument/2006/relationships/extended-properties" Target="/docProps/app.xml" Id="R58ee240e592c40a7" /><Relationship Type="http://schemas.openxmlformats.org/officeDocument/2006/relationships/officeDocument" Target="/ppt/presentation.xml" Id="R702815e5398d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546f650c0648c0"/>
  </p:sldMasterIdLst>
  <p:notesMasterIdLst>
    <p:notesMasterId xmlns:r="http://schemas.openxmlformats.org/officeDocument/2006/relationships" r:id="Rca88e7eaab184084"/>
  </p:notesMasterIdLst>
  <p:sldIdLst>
    <p:sldId xmlns:r="http://schemas.openxmlformats.org/officeDocument/2006/relationships" id="256" r:id="R384de1d7896e46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2eab6a65a44cc" /><Relationship Type="http://schemas.openxmlformats.org/officeDocument/2006/relationships/slideMaster" Target="/ppt/slideMasters/slideMaster1.xml" Id="Rbf546f650c0648c0" /><Relationship Type="http://schemas.openxmlformats.org/officeDocument/2006/relationships/notesMaster" Target="/ppt/notesMasters/notesMaster1.xml" Id="Rca88e7eaab184084" /><Relationship Type="http://schemas.openxmlformats.org/officeDocument/2006/relationships/presProps" Target="/ppt/presProps.xml" Id="R71343806f39f4d14" /><Relationship Type="http://schemas.openxmlformats.org/officeDocument/2006/relationships/tableStyles" Target="/ppt/tableStyles.xml" Id="R132549d1c555481e" /><Relationship Type="http://schemas.openxmlformats.org/officeDocument/2006/relationships/slide" Target="/ppt/slides/slide1.xml" Id="R384de1d7896e46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cd2caec41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3847490fa4741" /><Relationship Type="http://schemas.openxmlformats.org/officeDocument/2006/relationships/notesMaster" Target="/ppt/notesMasters/notesMaster1.xml" Id="R6bcbbea5cfa3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0cd620c7940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3e24dc6054036" /><Relationship Type="http://schemas.openxmlformats.org/officeDocument/2006/relationships/slideLayout" Target="/ppt/slideLayouts/slideLayout1.xml" Id="R8c727e153049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27e153049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d27640124cc8" /><Relationship Type="http://schemas.openxmlformats.org/officeDocument/2006/relationships/chart" Target="/ppt/slides/charts/chart1.xml" Id="Rb3b533c5ef404a3f" /><Relationship Type="http://schemas.openxmlformats.org/officeDocument/2006/relationships/chart" Target="/ppt/slides/charts/chart2.xml" Id="Re0a64537d92949ec" /><Relationship Type="http://schemas.openxmlformats.org/officeDocument/2006/relationships/notesSlide" Target="/ppt/notesSlides/notesSlide1.xml" Id="R0a8ad322e8014dd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Readmission rate</c:v>
          </c:tx>
          <c:spPr>
            <a:ln xmlns:a="http://schemas.openxmlformats.org/drawingml/2006/main" w="38100">
              <a:solidFill>
                <a:srgbClr val="0F6F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F6F73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50-64</c:v>
                </c:pt>
                <c:pt idx="1">
                  <c:v>65-74</c:v>
                </c:pt>
                <c:pt idx="2">
                  <c:v>75-84</c:v>
                </c:pt>
                <c:pt idx="3">
                  <c:v>85+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0.4202</c:v>
                </c:pt>
                <c:pt idx="1">
                  <c:v>0.4797</c:v>
                </c:pt>
                <c:pt idx="2">
                  <c:v>0.5111</c:v>
                </c:pt>
                <c:pt idx="3">
                  <c:v>0.5427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4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Correlation with readmission</c:v>
          </c:tx>
          <c:spPr>
            <a:solidFill xmlns:a="http://schemas.openxmlformats.org/drawingml/2006/main">
              <a:srgbClr val="0F6F73"/>
            </a:solidFill>
          </c:spPr>
          <c:cat>
            <c:strRef>
              <c:f>'Chart Data'!$A$2:$A$5</c:f>
              <c:strCache>
                <c:ptCount val="4"/>
                <c:pt idx="0">
                  <c:v>Prior admissions</c:v>
                </c:pt>
                <c:pt idx="1">
                  <c:v>Chronic conditions</c:v>
                </c:pt>
                <c:pt idx="2">
                  <c:v>Length of stay</c:v>
                </c:pt>
                <c:pt idx="3">
                  <c:v>Age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0.22</c:v>
                </c:pt>
                <c:pt idx="1">
                  <c:v>0.213</c:v>
                </c:pt>
                <c:pt idx="2">
                  <c:v>0.151</c:v>
                </c:pt>
                <c:pt idx="3">
                  <c:v>0.142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1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70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F4E0A-EB9A-4783-A1E0-179DCB7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FA0C2-39D3-4CFD-8F0A-D5B08C8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rPr>
              <a:t>Meds Counsulting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10D7-EFFA-461D-B3FA-FF7BB73D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Data analysis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14E7-7877-43BD-BBD1-83BD65F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Missing data, outliers, trends, and correlations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72E0-1828-40F2-8BF8-52D3C0D1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3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5543550" cy="81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5888"/>
                <a:gridCol w="1385888"/>
                <a:gridCol w="1385888"/>
                <a:gridCol w="1385888"/>
              </a:tblGrid>
              <a:tr h="40957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43.2%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30.2%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40957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analyzed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Unique patients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Readmitted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with quality flags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C48B2-DC41-4AEB-B0BF-074BD0D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Data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7E370-B215-432D-B292-2A06B0D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288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Patient, financial, and care coordination datasets link through PatientID</a:t>
            </a:r>
          </a:p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Each source contains 12,000 records and 12,000 unique patient IDs</a:t>
            </a:r>
          </a:p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Analysis uses the cleaned patient-level file to keep metrics consistent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1B62D-8BA2-404F-B00D-009A1BF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7177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00581-9578-4099-AC53-83D7D1F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Missing data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14350" y="3352800"/>
          <a:ext xmlns:a="http://schemas.openxmlformats.org/drawingml/2006/main" cx="33147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742950"/>
                <a:gridCol w="762000"/>
              </a:tblGrid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follow-up status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2,587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21.6%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insurance type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of stay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penalty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follow-up program cost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EF027-8CF7-42F3-9EAF-BC73258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follow-up status is missing for 2,587 patients, creating a gap in care-transition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8359-8F72-4BEC-B3E7-C3AD583B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Outliers and quality flags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095750" y="3352800"/>
          <a:ext xmlns:a="http://schemas.openxmlformats.org/drawingml/2006/main" cx="31432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7800"/>
                <a:gridCol w="742950"/>
                <a:gridCol w="952500"/>
              </a:tblGrid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Outliers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of stay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&gt;11.5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care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&gt;$41,217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reimbursement gap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&gt;$30,691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Negative penalty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E8B8B-DCF7-4590-BBA3-20E6ECA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length of stay above 11.5 days is flagged as an outlier under the IQR rule.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95A2C-8583-453E-8310-4E06A84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0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Trend pattern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7505700" y="3352800"/>
          <a:ext xmlns:a="http://schemas.openxmlformats.org/drawingml/2006/main" cx="3295650" cy="1295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b533c5ef404a3f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D36C5-B05F-4E5A-ADFF-D6F1C60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2440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readmission rises from 42.0% for ages 50-64 to 54.3% for ages 85+.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3AA81-E720-43D3-A4DA-CA4D8E8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9601F-68AC-423F-9CA7-CF602CE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0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Correlation signals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2647950" y="5581650"/>
          <a:ext xmlns:a="http://schemas.openxmlformats.org/drawingml/2006/main" cx="3390900" cy="87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a64537d92949ec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AB643-C5F1-4F07-BD1A-627C011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40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prior admissions and chronic conditions show the strongest positive relationship with readmission.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94676-3011-4374-858F-04C9994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102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Analytical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ACEE7-CEC2-4F0A-B30B-B147F953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43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923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23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The next analysis should focus on high-risk patient profiles and care-transition gaps, especially where missing follow-up information limits visibility.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CC8B6-46B4-44BB-9447-AAAEE81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rPr>
              <a:t>Source: cleaned NHN patient, financial, and care coordination datasets</a:t>
            </a:r>
          </a:p>
        </p:txBody>
      </p:sp>
    </p:spTree>
    <p:extLst>
      <p:ext uri="{BB962C8B-B14F-4D97-AF65-F5344CB8AC3E}">
        <p14:creationId xmlns:p14="http://schemas.microsoft.com/office/powerpoint/2010/main" val="1457767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2026-09-18T20:45:00.3890000Z</dcterms:created>
  <dcterms:modified xsi:type="dcterms:W3CDTF">2026-09-18T20:45:00.3890000Z</dcterms:modified>
</coreProperties>
</file>