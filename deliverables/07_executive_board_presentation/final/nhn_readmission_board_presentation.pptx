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7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72925f4bb04ac8" /><Relationship Type="http://schemas.openxmlformats.org/officeDocument/2006/relationships/extended-properties" Target="/docProps/app.xml" Id="R4a8e81dfb1834f6a" /><Relationship Type="http://schemas.openxmlformats.org/officeDocument/2006/relationships/officeDocument" Target="/ppt/presentation.xml" Id="R667f9062af2b46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5559a9d94a4ecf"/>
  </p:sldMasterIdLst>
  <p:notesMasterIdLst>
    <p:notesMasterId xmlns:r="http://schemas.openxmlformats.org/officeDocument/2006/relationships" r:id="R057a2977ca1e4022"/>
  </p:notesMasterIdLst>
  <p:sldIdLst>
    <p:sldId xmlns:r="http://schemas.openxmlformats.org/officeDocument/2006/relationships" id="256" r:id="Ra61ed94e34e242e0"/>
    <p:sldId xmlns:r="http://schemas.openxmlformats.org/officeDocument/2006/relationships" id="257" r:id="R5dbe16e9772841ad"/>
    <p:sldId xmlns:r="http://schemas.openxmlformats.org/officeDocument/2006/relationships" id="258" r:id="R4c5f3517d7a64264"/>
    <p:sldId xmlns:r="http://schemas.openxmlformats.org/officeDocument/2006/relationships" id="259" r:id="Rd297c05516b341b9"/>
    <p:sldId xmlns:r="http://schemas.openxmlformats.org/officeDocument/2006/relationships" id="260" r:id="R0905fcf879c746af"/>
    <p:sldId xmlns:r="http://schemas.openxmlformats.org/officeDocument/2006/relationships" id="261" r:id="Rb909471a9c70491a"/>
    <p:sldId xmlns:r="http://schemas.openxmlformats.org/officeDocument/2006/relationships" id="262" r:id="R99a4c7a82a6f4fb7"/>
    <p:sldId xmlns:r="http://schemas.openxmlformats.org/officeDocument/2006/relationships" id="263" r:id="Rfaf96555d6fa45f2"/>
    <p:sldId xmlns:r="http://schemas.openxmlformats.org/officeDocument/2006/relationships" id="264" r:id="R13ff89529fee4a01"/>
    <p:sldId xmlns:r="http://schemas.openxmlformats.org/officeDocument/2006/relationships" id="265" r:id="Rd1f40b2a29304f85"/>
    <p:sldId xmlns:r="http://schemas.openxmlformats.org/officeDocument/2006/relationships" id="266" r:id="Rfb32b08ee18e4827"/>
    <p:sldId xmlns:r="http://schemas.openxmlformats.org/officeDocument/2006/relationships" id="267" r:id="R121439044b464fb9"/>
    <p:sldId xmlns:r="http://schemas.openxmlformats.org/officeDocument/2006/relationships" id="268" r:id="R1c679e8c9bbf4b31"/>
    <p:sldId xmlns:r="http://schemas.openxmlformats.org/officeDocument/2006/relationships" id="269" r:id="R61c501048dff4df6"/>
    <p:sldId xmlns:r="http://schemas.openxmlformats.org/officeDocument/2006/relationships" id="270" r:id="R45c2f793b6f547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e8bb3212d9451a" /><Relationship Type="http://schemas.openxmlformats.org/officeDocument/2006/relationships/slideMaster" Target="/ppt/slideMasters/slideMaster1.xml" Id="Re65559a9d94a4ecf" /><Relationship Type="http://schemas.openxmlformats.org/officeDocument/2006/relationships/notesMaster" Target="/ppt/notesMasters/notesMaster1.xml" Id="R057a2977ca1e4022" /><Relationship Type="http://schemas.openxmlformats.org/officeDocument/2006/relationships/presProps" Target="/ppt/presProps.xml" Id="R94c58103cbf741c1" /><Relationship Type="http://schemas.openxmlformats.org/officeDocument/2006/relationships/tableStyles" Target="/ppt/tableStyles.xml" Id="R366ed4f7e63d4d3a" /><Relationship Type="http://schemas.openxmlformats.org/officeDocument/2006/relationships/slide" Target="/ppt/slides/slide1.xml" Id="Ra61ed94e34e242e0" /><Relationship Type="http://schemas.openxmlformats.org/officeDocument/2006/relationships/slide" Target="/ppt/slides/slide2.xml" Id="R5dbe16e9772841ad" /><Relationship Type="http://schemas.openxmlformats.org/officeDocument/2006/relationships/slide" Target="/ppt/slides/slide3.xml" Id="R4c5f3517d7a64264" /><Relationship Type="http://schemas.openxmlformats.org/officeDocument/2006/relationships/slide" Target="/ppt/slides/slide4.xml" Id="Rd297c05516b341b9" /><Relationship Type="http://schemas.openxmlformats.org/officeDocument/2006/relationships/slide" Target="/ppt/slides/slide5.xml" Id="R0905fcf879c746af" /><Relationship Type="http://schemas.openxmlformats.org/officeDocument/2006/relationships/slide" Target="/ppt/slides/slide6.xml" Id="Rb909471a9c70491a" /><Relationship Type="http://schemas.openxmlformats.org/officeDocument/2006/relationships/slide" Target="/ppt/slides/slide7.xml" Id="R99a4c7a82a6f4fb7" /><Relationship Type="http://schemas.openxmlformats.org/officeDocument/2006/relationships/slide" Target="/ppt/slides/slide8.xml" Id="Rfaf96555d6fa45f2" /><Relationship Type="http://schemas.openxmlformats.org/officeDocument/2006/relationships/slide" Target="/ppt/slides/slide9.xml" Id="R13ff89529fee4a01" /><Relationship Type="http://schemas.openxmlformats.org/officeDocument/2006/relationships/slide" Target="/ppt/slides/slide10.xml" Id="Rd1f40b2a29304f85" /><Relationship Type="http://schemas.openxmlformats.org/officeDocument/2006/relationships/slide" Target="/ppt/slides/slide11.xml" Id="Rfb32b08ee18e4827" /><Relationship Type="http://schemas.openxmlformats.org/officeDocument/2006/relationships/slide" Target="/ppt/slides/slide12.xml" Id="R121439044b464fb9" /><Relationship Type="http://schemas.openxmlformats.org/officeDocument/2006/relationships/slide" Target="/ppt/slides/slide13.xml" Id="R1c679e8c9bbf4b31" /><Relationship Type="http://schemas.openxmlformats.org/officeDocument/2006/relationships/slide" Target="/ppt/slides/slide14.xml" Id="R61c501048dff4df6" /><Relationship Type="http://schemas.openxmlformats.org/officeDocument/2006/relationships/slide" Target="/ppt/slides/slide15.xml" Id="R45c2f793b6f547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041a523cff43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e6d024822845a1" /><Relationship Type="http://schemas.openxmlformats.org/officeDocument/2006/relationships/notesMaster" Target="/ppt/notesMasters/notesMaster1.xml" Id="Rc121d6fa39e742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66d413f4c14f8f" /><Relationship Type="http://schemas.openxmlformats.org/officeDocument/2006/relationships/notesMaster" Target="/ppt/notesMasters/notesMaster1.xml" Id="Rccc55b89360f43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76d4f3f1d641e3" /><Relationship Type="http://schemas.openxmlformats.org/officeDocument/2006/relationships/notesMaster" Target="/ppt/notesMasters/notesMaster1.xml" Id="R3868ed83039b46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43713140b94ff0" /><Relationship Type="http://schemas.openxmlformats.org/officeDocument/2006/relationships/notesMaster" Target="/ppt/notesMasters/notesMaster1.xml" Id="R27fd3b30dc5041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102dc16c0f41cd" /><Relationship Type="http://schemas.openxmlformats.org/officeDocument/2006/relationships/notesMaster" Target="/ppt/notesMasters/notesMaster1.xml" Id="Rb6b3fe3a5fca4f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9be0b7eb1c43b6" /><Relationship Type="http://schemas.openxmlformats.org/officeDocument/2006/relationships/notesMaster" Target="/ppt/notesMasters/notesMaster1.xml" Id="R7cf7894bf0234d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23e9003beb4b5c" /><Relationship Type="http://schemas.openxmlformats.org/officeDocument/2006/relationships/notesMaster" Target="/ppt/notesMasters/notesMaster1.xml" Id="R8de0162ad14046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c0ad0312884b5f" /><Relationship Type="http://schemas.openxmlformats.org/officeDocument/2006/relationships/notesMaster" Target="/ppt/notesMasters/notesMaster1.xml" Id="R7b8f1224ce9a4a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79e398c97345bc" /><Relationship Type="http://schemas.openxmlformats.org/officeDocument/2006/relationships/notesMaster" Target="/ppt/notesMasters/notesMaster1.xml" Id="Re62bfb3847f74a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04b297b2e84ba5" /><Relationship Type="http://schemas.openxmlformats.org/officeDocument/2006/relationships/notesMaster" Target="/ppt/notesMasters/notesMaster1.xml" Id="R2a925ff1e34e4b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9fbc0814264182" /><Relationship Type="http://schemas.openxmlformats.org/officeDocument/2006/relationships/notesMaster" Target="/ppt/notesMasters/notesMaster1.xml" Id="R055a2b372cd242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a15ca5361643f0" /><Relationship Type="http://schemas.openxmlformats.org/officeDocument/2006/relationships/notesMaster" Target="/ppt/notesMasters/notesMaster1.xml" Id="Rf4b40ea1fd5648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dc309380d946f4" /><Relationship Type="http://schemas.openxmlformats.org/officeDocument/2006/relationships/notesMaster" Target="/ppt/notesMasters/notesMaster1.xml" Id="R9cdddbc910a3415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2bbfe83af747b6" /><Relationship Type="http://schemas.openxmlformats.org/officeDocument/2006/relationships/notesMaster" Target="/ppt/notesMasters/notesMaster1.xml" Id="R888db6c9113c4c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857c0e5f5f41c1" /><Relationship Type="http://schemas.openxmlformats.org/officeDocument/2006/relationships/notesMaster" Target="/ppt/notesMasters/notesMaster1.xml" Id="R3442c1db967b44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core ask: reduce avoidable readmissions while protecting quality, capacity, and financial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summary combines clinical, financial, and operating findings into the Board-level decision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frame why the work matters before moving into the integrated data and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that the data joins cleanly, while follow-up documentation and financial field quality remain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the high-risk segments back to operational decisions such as discharge review and care coordination assignment.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is not positioned as a single decision engine. Use staged risk scoring, clinical rules, and operational review to balance recall and precision.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 deciles turn the model into an operational queue, but coverage should be broad and supported by clinical rules rather than a narrow decile-10-only pilot.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causal caveat visible, then make the stronger operational point: NHN should redesign targeting, timing, and intervention completion for high-risk patients.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analysis gives a strong directional financial case while preserving data quality caveats.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handoff from analytics to a native Tableau or Power BI dashboard build.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table is structured for Board discussion. It keeps recommendations traceable to evidence and timing.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ROI slide should be presented as a planning scenario, not a guaranteed budget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roadmap as a staged implementation, starting with governance, pilot design, and data quality.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how the organization will know whether the program is working after launch.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for concrete approvals tied to a controlled pilot and transparent measurement cadence.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e150dc8a564c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c4d408cec141fc" /><Relationship Type="http://schemas.openxmlformats.org/officeDocument/2006/relationships/slideLayout" Target="/ppt/slideLayouts/slideLayout1.xml" Id="R8bb6ccf7cdab46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b6ccf7cdab46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5dd0ba0804878" /><Relationship Type="http://schemas.openxmlformats.org/officeDocument/2006/relationships/notesSlide" Target="/ppt/notesSlides/notesSlide1.xml" Id="R0bd3c253c61341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c4d8302914e4f" /><Relationship Type="http://schemas.openxmlformats.org/officeDocument/2006/relationships/notesSlide" Target="/ppt/notesSlides/notesSlide2.xml" Id="R00e7dba068134c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7b8fa7315402c" /><Relationship Type="http://schemas.openxmlformats.org/officeDocument/2006/relationships/chart" Target="/ppt/slides/charts/chart1.xml" Id="Rc6f35de54efd4421" /><Relationship Type="http://schemas.openxmlformats.org/officeDocument/2006/relationships/notesSlide" Target="/ppt/notesSlides/notesSlide3.xml" Id="R5f64d8e3faa84f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d41e4b5df4980" /><Relationship Type="http://schemas.openxmlformats.org/officeDocument/2006/relationships/notesSlide" Target="/ppt/notesSlides/notesSlide4.xml" Id="Rbe773f44b5414b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083196fe0436c" /><Relationship Type="http://schemas.openxmlformats.org/officeDocument/2006/relationships/chart" Target="/ppt/slides/charts/chart2.xml" Id="R9721f9cf7a4c466b" /><Relationship Type="http://schemas.openxmlformats.org/officeDocument/2006/relationships/notesSlide" Target="/ppt/notesSlides/notesSlide5.xml" Id="Re325f6f4fa7b4f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338ca3b9a405a" /><Relationship Type="http://schemas.openxmlformats.org/officeDocument/2006/relationships/chart" Target="/ppt/slides/charts/chart3.xml" Id="Rb8315d8531af466d" /><Relationship Type="http://schemas.openxmlformats.org/officeDocument/2006/relationships/notesSlide" Target="/ppt/notesSlides/notesSlide6.xml" Id="Rf470c7ab1e9344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ca6a0385b4e92" /><Relationship Type="http://schemas.openxmlformats.org/officeDocument/2006/relationships/chart" Target="/ppt/slides/charts/chart4.xml" Id="Rb587a4e4d1664521" /><Relationship Type="http://schemas.openxmlformats.org/officeDocument/2006/relationships/notesSlide" Target="/ppt/notesSlides/notesSlide7.xml" Id="Rcc51003c926d4c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e0caa9240497f" /><Relationship Type="http://schemas.openxmlformats.org/officeDocument/2006/relationships/chart" Target="/ppt/slides/charts/chart5.xml" Id="R9e8de37064ee42e4" /><Relationship Type="http://schemas.openxmlformats.org/officeDocument/2006/relationships/notesSlide" Target="/ppt/notesSlides/notesSlide8.xml" Id="R7e22c598c5544f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32c453e924652" /><Relationship Type="http://schemas.openxmlformats.org/officeDocument/2006/relationships/chart" Target="/ppt/slides/charts/chart6.xml" Id="R89c126d5e70e412f" /><Relationship Type="http://schemas.openxmlformats.org/officeDocument/2006/relationships/notesSlide" Target="/ppt/notesSlides/notesSlide9.xml" Id="R252f478d40bb47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1ba9fea1d4681" /><Relationship Type="http://schemas.openxmlformats.org/officeDocument/2006/relationships/notesSlide" Target="/ppt/notesSlides/notesSlide10.xml" Id="Rbc85633f6c2547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6f5b277cc4407" /><Relationship Type="http://schemas.openxmlformats.org/officeDocument/2006/relationships/notesSlide" Target="/ppt/notesSlides/notesSlide11.xml" Id="R77d56ccfcdf343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06611c6064806" /><Relationship Type="http://schemas.openxmlformats.org/officeDocument/2006/relationships/chart" Target="/ppt/slides/charts/chart7.xml" Id="Ra1ef5e475428458e" /><Relationship Type="http://schemas.openxmlformats.org/officeDocument/2006/relationships/notesSlide" Target="/ppt/notesSlides/notesSlide12.xml" Id="R5008b07d7c4543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82cba71ec4a63" /><Relationship Type="http://schemas.openxmlformats.org/officeDocument/2006/relationships/notesSlide" Target="/ppt/notesSlides/notesSlide13.xml" Id="R39951a588adb40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3bfbb49b74b6e" /><Relationship Type="http://schemas.openxmlformats.org/officeDocument/2006/relationships/notesSlide" Target="/ppt/notesSlides/notesSlide14.xml" Id="R325828dc897f40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7141d6b0544f5" /><Relationship Type="http://schemas.openxmlformats.org/officeDocument/2006/relationships/notesSlide" Target="/ppt/notesSlides/notesSlide15.xml" Id="R4039cc431a6748b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Historical NHN readmission trend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0B2A3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Rate</c:v>
          </c:tx>
          <c:spPr>
            <a:ln xmlns:a="http://schemas.openxmlformats.org/drawingml/2006/main" w="28575">
              <a:solidFill>
                <a:srgbClr val="DC2626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C2626"/>
              </a:solidFill>
            </c:spPr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0.142</c:v>
                </c:pt>
                <c:pt idx="1">
                  <c:v>0.158</c:v>
                </c:pt>
                <c:pt idx="2">
                  <c:v>0.169</c:v>
                </c:pt>
                <c:pt idx="3">
                  <c:v>0.184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>
                  <a:solidFill>
                    <a:srgbClr val="0B2A33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0.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Readmission rate by selected high-risk segment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0B2A3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Rate</c:v>
          </c:tx>
          <c:spPr>
            <a:solidFill xmlns:a="http://schemas.openxmlformats.org/drawingml/2006/main">
              <a:srgbClr val="0B6F75"/>
            </a:solidFill>
          </c:spPr>
          <c:cat>
            <c:strRef>
              <c:f>'Chart Data'!$A$2:$A$7</c:f>
              <c:strCache>
                <c:ptCount val="6"/>
                <c:pt idx="0">
                  <c:v>5+</c:v>
                </c:pt>
                <c:pt idx="1">
                  <c:v>3+</c:v>
                </c:pt>
                <c:pt idx="2">
                  <c:v>Skilled Nursing</c:v>
                </c:pt>
                <c:pt idx="3">
                  <c:v>Emergency</c:v>
                </c:pt>
                <c:pt idx="4">
                  <c:v>3-4</c:v>
                </c:pt>
                <c:pt idx="5">
                  <c:v>2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0.6234</c:v>
                </c:pt>
                <c:pt idx="1">
                  <c:v>0.5702</c:v>
                </c:pt>
                <c:pt idx="2">
                  <c:v>0.5435</c:v>
                </c:pt>
                <c:pt idx="3">
                  <c:v>0.5088</c:v>
                </c:pt>
                <c:pt idx="4">
                  <c:v>0.4956</c:v>
                </c:pt>
                <c:pt idx="5">
                  <c:v>0.4619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>
                  <a:solidFill>
                    <a:srgbClr val="0B2A33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Model performance comparison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0B2A3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94A3B8"/>
            </a:solidFill>
          </c:spPr>
          <c:cat>
            <c:strRef>
              <c:f>'Chart Data'!$A$2:$A$6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0.6572</c:v>
                </c:pt>
                <c:pt idx="1">
                  <c:v>0.6333</c:v>
                </c:pt>
                <c:pt idx="2">
                  <c:v>0.5013</c:v>
                </c:pt>
                <c:pt idx="3">
                  <c:v>0.5596</c:v>
                </c:pt>
                <c:pt idx="4">
                  <c:v>0.7071</c:v>
                </c:pt>
              </c:numCache>
            </c:numRef>
          </c:val>
        </c:ser>
        <c:ser>
          <c:idx val="1"/>
          <c:order val="1"/>
          <c:tx>
            <c:v>Expanded</c:v>
          </c:tx>
          <c:spPr>
            <a:solidFill xmlns:a="http://schemas.openxmlformats.org/drawingml/2006/main">
              <a:srgbClr val="0F6B78"/>
            </a:solidFill>
          </c:spPr>
          <c:cat>
            <c:strRef>
              <c:f>'Chart Data'!$C$2:$C$6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'Chart Data'!$D$2:$D$6</c:f>
              <c:numCache>
                <c:formatCode>0%</c:formatCode>
                <c:ptCount val="5"/>
                <c:pt idx="0">
                  <c:v>0.6831</c:v>
                </c:pt>
                <c:pt idx="1">
                  <c:v>0.6618</c:v>
                </c:pt>
                <c:pt idx="2">
                  <c:v>0.5531</c:v>
                </c:pt>
                <c:pt idx="3">
                  <c:v>0.6026</c:v>
                </c:pt>
                <c:pt idx="4">
                  <c:v>0.7396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>
                  <a:solidFill>
                    <a:srgbClr val="0B2A33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516773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Observed readmission rate by model risk decile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0B2A3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Rate</c:v>
          </c:tx>
          <c:spPr>
            <a:solidFill xmlns:a="http://schemas.openxmlformats.org/drawingml/2006/main">
              <a:srgbClr val="0F6B78"/>
            </a:solidFill>
          </c:spPr>
          <c:cat>
            <c:strRef>
              <c:f>'Chart Data'!$A$2:$A$11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'Chart Data'!$B$2:$B$11</c:f>
              <c:numCache>
                <c:formatCode>0%</c:formatCode>
                <c:ptCount val="10"/>
                <c:pt idx="0">
                  <c:v>0.1183</c:v>
                </c:pt>
                <c:pt idx="1">
                  <c:v>0.2083</c:v>
                </c:pt>
                <c:pt idx="2">
                  <c:v>0.2575</c:v>
                </c:pt>
                <c:pt idx="3">
                  <c:v>0.3033</c:v>
                </c:pt>
                <c:pt idx="4">
                  <c:v>0.365</c:v>
                </c:pt>
                <c:pt idx="5">
                  <c:v>0.4675</c:v>
                </c:pt>
                <c:pt idx="6">
                  <c:v>0.5183</c:v>
                </c:pt>
                <c:pt idx="7">
                  <c:v>0.5767</c:v>
                </c:pt>
                <c:pt idx="8">
                  <c:v>0.6817</c:v>
                </c:pt>
                <c:pt idx="9">
                  <c:v>0.8233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>
                  <a:solidFill>
                    <a:srgbClr val="0B2A33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Observed readmission difference with intervention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0B2A3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Rate</c:v>
          </c:tx>
          <c:spPr>
            <a:solidFill xmlns:a="http://schemas.openxmlformats.org/drawingml/2006/main">
              <a:srgbClr val="E4B73D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Medication review</c:v>
                </c:pt>
                <c:pt idx="1">
                  <c:v>Post-discharge call</c:v>
                </c:pt>
                <c:pt idx="2">
                  <c:v>Coordinator</c:v>
                </c:pt>
                <c:pt idx="3">
                  <c:v>Follow-up</c:v>
                </c:pt>
                <c:pt idx="4">
                  <c:v>Transport</c:v>
                </c:pt>
                <c:pt idx="5">
                  <c:v>Home health</c:v>
                </c:pt>
              </c:strCache>
            </c:strRef>
          </c:cat>
          <c:val>
            <c:numRef>
              <c:f>'Chart Data'!$B$2:$B$7</c:f>
              <c:numCache>
                <c:formatCode>0.0%</c:formatCode>
                <c:ptCount val="6"/>
                <c:pt idx="0">
                  <c:v>0.0321</c:v>
                </c:pt>
                <c:pt idx="1">
                  <c:v>0.0266</c:v>
                </c:pt>
                <c:pt idx="2">
                  <c:v>0.0133</c:v>
                </c:pt>
                <c:pt idx="3">
                  <c:v>0.0012</c:v>
                </c:pt>
                <c:pt idx="4">
                  <c:v>-0.0017</c:v>
                </c:pt>
                <c:pt idx="5">
                  <c:v>-0.0029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>
                  <a:solidFill>
                    <a:srgbClr val="0B2A33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04"/>
          <c:min val="-0.0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Cost components in cleaned dataset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0B2A3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Rate</c:v>
          </c:tx>
          <c:spPr>
            <a:solidFill xmlns:a="http://schemas.openxmlformats.org/drawingml/2006/main">
              <a:srgbClr val="DC2626"/>
            </a:solidFill>
          </c:spPr>
          <c:cat>
            <c:strRef>
              <c:f>'Chart Data'!$A$2:$A$5</c:f>
              <c:strCache>
                <c:ptCount val="4"/>
                <c:pt idx="0">
                  <c:v>Follow-up program</c:v>
                </c:pt>
                <c:pt idx="1">
                  <c:v>CMS penalty</c:v>
                </c:pt>
                <c:pt idx="2">
                  <c:v>Length-of-stay</c:v>
                </c:pt>
                <c:pt idx="3">
                  <c:v>Readmission</c:v>
                </c:pt>
              </c:strCache>
            </c:strRef>
          </c:cat>
          <c:val>
            <c:numRef>
              <c:f>'Chart Data'!$B$2:$B$5</c:f>
              <c:numCache>
                <c:formatCode>$0M</c:formatCode>
                <c:ptCount val="4"/>
                <c:pt idx="0">
                  <c:v>5.3024</c:v>
                </c:pt>
                <c:pt idx="1">
                  <c:v>21.2479</c:v>
                </c:pt>
                <c:pt idx="2">
                  <c:v>74.603</c:v>
                </c:pt>
                <c:pt idx="3">
                  <c:v>223.1229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>
                  <a:solidFill>
                    <a:srgbClr val="0B2A33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$0M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Estimated net savings by scenario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0B2A3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Rate</c:v>
          </c:tx>
          <c:spPr>
            <a:solidFill xmlns:a="http://schemas.openxmlformats.org/drawingml/2006/main">
              <a:srgbClr val="16A34A"/>
            </a:solidFill>
          </c:spPr>
          <c:cat>
            <c:strRef>
              <c:f>'Chart Data'!$A$2:$A$4</c:f>
              <c:strCache>
                <c:ptCount val="3"/>
                <c:pt idx="0">
                  <c:v>Conservative</c:v>
                </c:pt>
                <c:pt idx="1">
                  <c:v>Expected</c:v>
                </c:pt>
                <c:pt idx="2">
                  <c:v>Optimistic</c:v>
                </c:pt>
              </c:strCache>
            </c:strRef>
          </c:cat>
          <c:val>
            <c:numRef>
              <c:f>'Chart Data'!$B$2:$B$4</c:f>
              <c:numCache>
                <c:formatCode>$0.0M</c:formatCode>
                <c:ptCount val="3"/>
                <c:pt idx="0">
                  <c:v>4.2797</c:v>
                </c:pt>
                <c:pt idx="1">
                  <c:v>8.8094</c:v>
                </c:pt>
                <c:pt idx="2">
                  <c:v>13.3595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>
                  <a:solidFill>
                    <a:srgbClr val="0B2A33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$0.0M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9E7B07-C4D5-4AB5-8F2B-591AEB1B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360"/>
          </a:solidFill>
          <a:ln xmlns:a="http://schemas.openxmlformats.org/drawingml/2006/main" w="0">
            <a:solidFill>
              <a:srgbClr val="0E536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2924F-A67F-4905-A8DE-5D0E5214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Meds Consulting LLC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88275-66DB-4F99-8FE6-556F85DA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0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651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National Hospital Network readmission challenge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8579A-5E49-4734-AC1A-5264FB2D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B7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91A6B-C849-4CBB-A244-B76E3415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Executive Board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B67B6-6D1D-4DAA-9A5B-4F2C7414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944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9444F"/>
                </a:solidFill>
                <a:latin typeface="Helvetica Neue"/>
                <a:ea typeface="Helvetica Neue"/>
                <a:cs typeface="Helvetica Neue"/>
              </a:rPr>
              <a:t>Clinical analytics, financial impact, care coordination, and 12-month implementation plan.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FB2EC-D7D7-422F-B109-DFE33A0D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09800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D6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48C08-87DF-4277-AF11-E0056336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860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Current decision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B9014-3E35-476F-8E90-8E9CA5DF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0035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9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944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9444F"/>
                </a:solidFill>
                <a:latin typeface="Helvetica Neue"/>
                <a:ea typeface="Helvetica Neue"/>
                <a:cs typeface="Helvetica Neue"/>
              </a:rPr>
              <a:t>NHN has rising 30-day readmissions, elevated analytical-sample risk, and a material financial opportunity if intervention targeting improves.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5E351-6491-4156-96E7-0592123B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D6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EC62F-69B7-428C-B598-997E9F6D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ANALYTICAL PATIENTS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2A115-8A80-437E-AD14-1C59237C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B14CB-461D-44D7-B997-80238A82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Matched across 3 datasets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7AB11-C979-42A0-B23A-7F299905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767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READMISSION 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76F35-EA2F-4321-81DD-99F11ACA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434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4B7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4B73D"/>
                </a:solidFill>
                <a:latin typeface="Helvetica Neue"/>
                <a:ea typeface="Helvetica Neue"/>
                <a:cs typeface="Helvetica Neue"/>
              </a:rPr>
              <a:t>43.2%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713E7-EE73-40B2-89E1-6B465416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62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Current analytical sample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528B4-008A-4B70-A1D4-4610B6CC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767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EXPECTED NET SAVINGS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93DC2-709A-4428-B0C9-E789B5B1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434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$8.8M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BF302E-FADB-4075-B45F-CC76358F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62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Before cost 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E95FC4-EAA4-4425-A2D2-D6DF735F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767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MODEL ROC-AUC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492752-B1C7-4D6D-A445-9A39F125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434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6B78"/>
                </a:solidFill>
                <a:latin typeface="Helvetica Neue"/>
                <a:ea typeface="Helvetica Neue"/>
                <a:cs typeface="Helvetica Neue"/>
              </a:rPr>
              <a:t>0.74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FB986-8AED-4FDB-9620-64519E84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Expanded clinical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8407F9-FCE4-4C15-9FCE-96674E8D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AF69AE-5124-449A-98BB-C8511828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rPr>
              <a:t>Source: Option 1 Healthcare Consulting Packet and project analysis</a:t>
            </a:r>
          </a:p>
        </p:txBody>
      </p:sp>
    </p:spTree>
    <p:extLst>
      <p:ext uri="{BB962C8B-B14F-4D97-AF65-F5344CB8AC3E}">
        <p14:creationId xmlns:p14="http://schemas.microsoft.com/office/powerpoint/2010/main" val="16989338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43622B-F5AE-48E7-86BB-F961BE05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360"/>
          </a:solidFill>
          <a:ln xmlns:a="http://schemas.openxmlformats.org/drawingml/2006/main" w="0">
            <a:solidFill>
              <a:srgbClr val="0E536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11823-63C8-4D41-87F4-7C063CF4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Meds Consulting LLC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26CCF-F5A3-4A80-AD38-11C73927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DECISION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DAB80-26A9-47CD-9117-7E4F4944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Executive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9480E-8F60-4484-8BA7-199CDD55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B7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B3C9C-404E-4D5B-BEEA-BD664B37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C5EB1-BD86-4EEB-AEFF-0AF0DA0D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rPr>
              <a:t>Source: Option 1 Healthcare Consulting Packet and project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A757C-B466-4D66-AF6B-AA48D4BC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READMISSION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59234-37AF-4824-B882-82B5BD1F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4B7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4B73D"/>
                </a:solidFill>
                <a:latin typeface="Helvetica Neue"/>
                <a:ea typeface="Helvetica Neue"/>
                <a:cs typeface="Helvetica Neue"/>
              </a:rPr>
              <a:t>43.2%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9065D-2098-471F-B80F-6A6994B0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5,184 readmitted patients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EBBB6-BF01-4AA3-ACB4-50F85923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90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MODEL ROC-AUC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0ABAD-186D-4A35-AA96-1612ADC9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574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6B78"/>
                </a:solidFill>
                <a:latin typeface="Helvetica Neue"/>
                <a:ea typeface="Helvetica Neue"/>
                <a:cs typeface="Helvetica Neue"/>
              </a:rPr>
              <a:t>74.0%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71C6D-CAF5-40A3-8B5D-173A7C30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Expanded clinical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290D1-B025-4EA1-9B14-8FFB8FA4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90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PENALTY EXPOSURE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79C02-BA9B-42E3-A108-86517E8C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574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rPr>
              <a:t>$21.2M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CBAAD-C2FF-4952-821A-8510A82D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76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Nonnegative exposure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B98EA-7D7A-46FA-89EE-E02DF08E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90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EXPECTED ROI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C89C9-3D9D-41D0-970A-E145ACC7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574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5.03x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D12C6-B7E5-49E9-A593-3934A95F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$8.8M net savings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E5351B-E9E7-4278-8ACA-E6A7C0E9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DD7038-9E73-4C3F-B06F-1E8B43C3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15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Use separate clinical quality, financial, capacity, care coordination, and data quality lenses for the readmission problem.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3A5F48-FEE0-4BCB-B20B-D9429447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3E8FD0-17DD-4D46-9A2D-E1ECC56D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15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Cover deciles 8-10 and other high-risk clinical groups rather than narrowing the pilot to one minimum segment.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CDC9FE-BEF5-4890-811C-EAE28D58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5C446A-5B57-4A93-8749-ECE28B6F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1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Build the executive dashboard in Tableau first using the prepared extract, KPI definitions, and validation checks.</a:t>
            </a:r>
          </a:p>
        </p:txBody>
      </p:sp>
    </p:spTree>
    <p:extLst>
      <p:ext uri="{BB962C8B-B14F-4D97-AF65-F5344CB8AC3E}">
        <p14:creationId xmlns:p14="http://schemas.microsoft.com/office/powerpoint/2010/main" val="4197281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9FEA4-DCC0-4766-A00F-99101135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360"/>
          </a:solidFill>
          <a:ln xmlns:a="http://schemas.openxmlformats.org/drawingml/2006/main" w="0">
            <a:solidFill>
              <a:srgbClr val="0E536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7F728-F5FA-4A24-B814-F262D6D0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Meds Consulting LLC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4EEFE-E8A6-4F6E-9CF5-A5F6EE5C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BUSINESS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28402-CE9F-4C50-BA1D-38A3B92D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Readmissions Are Moving In The Wrong 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91669-52A2-4B3C-A3F7-274147DE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B7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D77C3-D502-4D7B-BDF3-1689C91A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72346-3E81-4928-825E-633843B7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rPr>
              <a:t>Source: Option 1 Healthcare Consulting Packet and project analysis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5334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f35de54efd4421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F6F06-4CD4-48E4-A1BD-6D111393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573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5632A-F3C1-44A3-9EA1-2647FC67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669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34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Readmissions increased from 14.2% in 2022 to 18.4% in 2025.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82036-A3F3-4D69-BED9-F1C396AC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765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821AA-FBA3-4C16-BE2B-EEBF83B8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860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Leadership estimates more than $42M in annual readmission-related cost.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7DCF5-AE62-4E9D-B735-ED65638A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956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3B4EF-A7E7-41B8-940C-B734A95E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052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The challenge affects patient outcomes, inpatient capacity, staff workload, and CMS penalty exposure.</a:t>
            </a:r>
          </a:p>
        </p:txBody>
      </p:sp>
    </p:spTree>
    <p:extLst>
      <p:ext uri="{BB962C8B-B14F-4D97-AF65-F5344CB8AC3E}">
        <p14:creationId xmlns:p14="http://schemas.microsoft.com/office/powerpoint/2010/main" val="8876504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ED113-4676-4724-8709-58172C9B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360"/>
          </a:solidFill>
          <a:ln xmlns:a="http://schemas.openxmlformats.org/drawingml/2006/main" w="0">
            <a:solidFill>
              <a:srgbClr val="0E536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CDF15-795E-4DBF-95F2-0A6DA7AE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Meds Consulting LLC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48A33-EAFC-4A7D-97CD-E512892E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DATA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5E3DE-B6BF-4C4D-AB8E-2D52F87C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Integrated Data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A4318-A2EE-47FA-9A05-D3CDB172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B7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DE7E7-6FB9-46B7-9300-8AF14854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D5A27-F8C7-40AF-AC2B-789801FE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rPr>
              <a:t>Source: Option 1 Healthcare Consulting Packet and project analysis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53340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97182"/>
                <a:gridCol w="969818"/>
                <a:gridCol w="2667000"/>
              </a:tblGrid>
              <a:tr h="619125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Records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Patient readmissions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Clinical profile and target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Financial impact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Cost, penalty, and reimbursement fields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Care coordination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Intervention and follow-up activity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6457950" y="1600200"/>
          <a:ext xmlns:a="http://schemas.openxmlformats.org/drawingml/2006/main" cx="4953000" cy="3048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57375"/>
                <a:gridCol w="866775"/>
                <a:gridCol w="2228850"/>
              </a:tblGrid>
              <a:tr h="508000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quality issue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Records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Rate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follow-up status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2,587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21.6%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insurance type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2.0%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length of stay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2.0%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penalty cost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2.0%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follow-up program cost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2.0%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73BB0-4A33-4788-AC87-9DE1B0D3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Join key: patient_id. All source files match cleanly across the 12,000-patient analytical sample.</a:t>
            </a:r>
          </a:p>
        </p:txBody>
      </p:sp>
    </p:spTree>
    <p:extLst>
      <p:ext uri="{BB962C8B-B14F-4D97-AF65-F5344CB8AC3E}">
        <p14:creationId xmlns:p14="http://schemas.microsoft.com/office/powerpoint/2010/main" val="9793139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7F2B7-491B-4B48-9152-A1C26F13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360"/>
          </a:solidFill>
          <a:ln xmlns:a="http://schemas.openxmlformats.org/drawingml/2006/main" w="0">
            <a:solidFill>
              <a:srgbClr val="0E536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ED8BB-B718-4D08-B4D2-981BB449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Meds Consulting LLC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204FF-4569-443B-9909-1261E610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CLINICAL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89F4C-FEE4-4F94-8D00-83EC2E57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High-Risk Segments Are Clinically Intuitive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ACB0B-BFDA-4878-B8A3-4AD439B4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B7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D8BCB-A4D5-42D5-AE0B-34EA786D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D4190-7B2E-4FE6-ABFA-94CC1C5B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rPr>
              <a:t>Source: Option 1 Healthcare Consulting Packet and project analysis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6191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21f9cf7a4c466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ADE8D-BF55-485D-9A92-5601B891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192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10240-4665-4A48-A6C1-8D6409AA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288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Emergency admissions have a 50.9% observed readmission rate.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A378F-FA15-4F7B-A27E-4F67C58E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765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64400-5CC0-4B15-B775-3370D4C7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860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Skilled nursing discharge and higher chronic-condition burden signal elevated risk.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984C5-B76D-4231-AA07-0BD1C3FD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337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D2B1A-F2FB-4A46-9B5C-7B3B3257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433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Prior admissions remain one of the strongest clinical predictors.</a:t>
            </a:r>
          </a:p>
        </p:txBody>
      </p:sp>
    </p:spTree>
    <p:extLst>
      <p:ext uri="{BB962C8B-B14F-4D97-AF65-F5344CB8AC3E}">
        <p14:creationId xmlns:p14="http://schemas.microsoft.com/office/powerpoint/2010/main" val="1416163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6DAF1-8B8D-4DDC-8695-F91B56F8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360"/>
          </a:solidFill>
          <a:ln xmlns:a="http://schemas.openxmlformats.org/drawingml/2006/main" w="0">
            <a:solidFill>
              <a:srgbClr val="0E536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E090D-59AE-47CE-8D33-AF71D0F6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Meds Consulting LLC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5F6E0-C69A-4929-A339-CE0DEEEB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PREDICTIVE MODELING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30FD0-4C44-4C19-AEB3-9FECD296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Use A Staged Modeling Approach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91705-8B35-4603-A19E-3A61EA80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B7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93AB6-7744-4359-AE2E-EEC31D76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5B1EB-56BD-4B9E-AB84-AC934438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rPr>
              <a:t>Source: Option 1 Healthcare Consulting Packet and project analysis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1581150"/>
          <a:ext xmlns:a="http://schemas.openxmlformats.org/drawingml/2006/main" cx="5715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315d8531af466d"/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6934200" y="1581150"/>
          <a:ext xmlns:a="http://schemas.openxmlformats.org/drawingml/2006/main" cx="409575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30500"/>
                <a:gridCol w="1365250"/>
              </a:tblGrid>
              <a:tr h="476250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 model driver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Coefficient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Prior Admissions 12m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0.54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Chronic Conditions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0.53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Emergency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0.46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Length Of Stay Days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0.38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0.35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Skilled Nursing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2DFFE-D974-490F-AC86-E9C2CDE3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197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Use model output as one layer in a broader risk workflow, not as the only decision rule.</a:t>
            </a:r>
          </a:p>
        </p:txBody>
      </p:sp>
    </p:spTree>
    <p:extLst>
      <p:ext uri="{BB962C8B-B14F-4D97-AF65-F5344CB8AC3E}">
        <p14:creationId xmlns:p14="http://schemas.microsoft.com/office/powerpoint/2010/main" val="15705599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5A2AD-E8B9-49C6-B3C5-7C8BDFB4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360"/>
          </a:solidFill>
          <a:ln xmlns:a="http://schemas.openxmlformats.org/drawingml/2006/main" w="0">
            <a:solidFill>
              <a:srgbClr val="0E536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0E54C-EE41-41FD-B834-776B67B6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Meds Consulting LLC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BFD0E-D23E-4DA3-8644-FD9F0D6D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OPERATIONAL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5C2FC-DEC4-4982-AD2F-199E1582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Risk Deciles Separate Readmission Rates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0D2AD-CAA7-426C-ADBA-D0A47ECF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B7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E2D98-622C-45D7-9D1A-8B60B759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10387-D5EE-4F48-8231-407ABA44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rPr>
              <a:t>Source: Option 1 Healthcare Consulting Packet and project analysis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87a4e4d1664521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422AD-2352-4EC6-A825-0BABCFA6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6289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7E831-3E28-4AB9-B3E2-B69135B5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38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58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53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5360"/>
                </a:solidFill>
                <a:latin typeface="Helvetica Neue"/>
                <a:ea typeface="Helvetica Neue"/>
                <a:cs typeface="Helvetica Neue"/>
              </a:rPr>
              <a:t>Recommended operating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4014D-3D33-4530-850B-11FF00A9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95550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86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Start with deciles 8-10 plus clinical rules for repeat admissions, chronic burden, emergency admission, and skilled nursing discharge.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12535-9153-4DF5-B687-31013935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43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6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6B78"/>
                </a:solidFill>
                <a:latin typeface="Helvetica Neue"/>
                <a:ea typeface="Helvetica Neue"/>
                <a:cs typeface="Helvetica Neue"/>
              </a:rPr>
              <a:t>Top decile rate: 82.3%</a:t>
            </a:r>
          </a:p>
        </p:txBody>
      </p:sp>
    </p:spTree>
    <p:extLst>
      <p:ext uri="{BB962C8B-B14F-4D97-AF65-F5344CB8AC3E}">
        <p14:creationId xmlns:p14="http://schemas.microsoft.com/office/powerpoint/2010/main" val="11898713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6E78B-4A7C-422D-9F61-143308BB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360"/>
          </a:solidFill>
          <a:ln xmlns:a="http://schemas.openxmlformats.org/drawingml/2006/main" w="0">
            <a:solidFill>
              <a:srgbClr val="0E536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4EA10-E126-4DEC-8A95-0C089803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Meds Consulting LLC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77B2A-B9FA-4DFD-BA6C-2FFE7AF7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CARE COORDINATION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BED8C-0689-4004-A084-5850EA24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Redesign Targeting And Timing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B576F-4D16-403C-AABB-4CC5C8C6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B7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39B33-72D9-4FBE-A94D-07020B1B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B6B7D-F5EE-41E1-A6D5-65D7ECA4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rPr>
              <a:t>Source: Option 1 Healthcare Consulting Packet and project analysis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8de37064ee42e4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1EA5F-4829-45F1-8206-D17127E7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049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4B7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4B73D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95EFC-5566-4DE2-B08E-B7398828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14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05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Observed differences are associations, not causal estimates.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F8325-2951-4854-8CCD-6CA143C5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03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4B7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4B73D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5AEC0-404C-4895-8F1C-586F93AE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098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05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Selection bias strengthens the case for better targeting and earlier intervention timing.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D467AD-E45E-41C8-B22E-70DF7018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956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4B7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4B73D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C45E9-665B-43EC-8E2A-FF2525E2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052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05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Priority should be broad high-risk coverage, completion tracking, and redesign of intervention assignment rules.</a:t>
            </a:r>
          </a:p>
        </p:txBody>
      </p:sp>
    </p:spTree>
    <p:extLst>
      <p:ext uri="{BB962C8B-B14F-4D97-AF65-F5344CB8AC3E}">
        <p14:creationId xmlns:p14="http://schemas.microsoft.com/office/powerpoint/2010/main" val="1451116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314C6-2469-448A-9F3D-04BBB4CE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360"/>
          </a:solidFill>
          <a:ln xmlns:a="http://schemas.openxmlformats.org/drawingml/2006/main" w="0">
            <a:solidFill>
              <a:srgbClr val="0E536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F3B88-C182-4F3D-A5A2-E374FD0B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Meds Consulting LLC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A9FE8-184C-43D8-9CD1-789FE22A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FINANCIAL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8654B-9E78-4263-8E63-A5D2F239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Financial Exposure Is Material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58281-A65B-4619-A8B9-455E6E0B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B7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16A33-3C87-4DF5-81C7-203D460D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34F27-DD74-4A03-BF9F-823FD113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rPr>
              <a:t>Source: Option 1 Healthcare Consulting Packet and project analysis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5905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c126d5e70e412f"/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7124700" y="1809750"/>
          <a:ext xmlns:a="http://schemas.openxmlformats.org/drawingml/2006/main" cx="4000500" cy="1809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38250"/>
                <a:gridCol w="857250"/>
                <a:gridCol w="952500"/>
                <a:gridCol w="952500"/>
              </a:tblGrid>
              <a:tr h="603250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Group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Patients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 cost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Penalty cost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readmitted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6,816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$172.1M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$12.1M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Readmitted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5,184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$131.0M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$9.1M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0C294-BC8A-438C-B86A-183B2FC5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57650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05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Financial estimates should use nonnegative fields and scenario sensitivity because the raw file contains missing and negative financial values.</a:t>
            </a:r>
          </a:p>
        </p:txBody>
      </p:sp>
    </p:spTree>
    <p:extLst>
      <p:ext uri="{BB962C8B-B14F-4D97-AF65-F5344CB8AC3E}">
        <p14:creationId xmlns:p14="http://schemas.microsoft.com/office/powerpoint/2010/main" val="4978045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21B71-7827-4533-B0A5-847F58CA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360"/>
          </a:solidFill>
          <a:ln xmlns:a="http://schemas.openxmlformats.org/drawingml/2006/main" w="0">
            <a:solidFill>
              <a:srgbClr val="0E536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BA3E4-68A7-4F28-B7A0-1C30CC85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Meds Consulting LLC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3B1E8-CFBA-4322-AFDA-CA3E4286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EXECUTIVE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D9A77-A298-43A7-94F6-FA7C56B0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Dashboard Build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D3071-323C-48D3-A534-383A1E09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B7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7F3C1-FC7C-40FC-A317-44EF2F06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B8834-28AC-49BF-B672-9F4DC4AD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rPr>
              <a:t>Source: Option 1 Healthcare Consulting Packet and project analysis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7620000" cy="32575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45532"/>
                <a:gridCol w="2269787"/>
                <a:gridCol w="3404681"/>
              </a:tblGrid>
              <a:tr h="542925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Page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visuals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Executive KPI Summary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Presentation-level status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KPI cards, risk decile chart, recommendation table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Clinical Analytics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Risk drivers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Age, diagnosis, chronic burden, prior admissions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Financial Analytics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Cost exposure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Cost components, penalty exposure, ROI scenarios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Care Coordination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Operational execution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Intervention completion and follow-up timing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Recommendation Center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Management actions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Priority matrix, roadmap, success metrics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AA28D-FB2C-428E-A732-31C72000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28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REQUIRED TOOL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151E9-1D8C-4EDF-94A2-76D6A185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6B78"/>
                </a:solidFill>
                <a:latin typeface="Helvetica Neue"/>
                <a:ea typeface="Helvetica Neue"/>
                <a:cs typeface="Helvetica Neue"/>
              </a:rPr>
              <a:t>Tableau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D2F64-69D7-4836-9AF0-21A8AE34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146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Power BI backup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C6B73-EB66-4105-95D2-625C9984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956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DASHBOARD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42F8E-7AE9-4C16-9D5F-A4FCB8E7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623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8F00A-E308-4B74-9256-837CD04D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81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One row per patient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19303-775F-48E8-98AE-27018AAD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96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Use dashboard_ready_extract.csv plus the Tableau build package and validation checks in deliverable 06.</a:t>
            </a:r>
          </a:p>
        </p:txBody>
      </p:sp>
    </p:spTree>
    <p:extLst>
      <p:ext uri="{BB962C8B-B14F-4D97-AF65-F5344CB8AC3E}">
        <p14:creationId xmlns:p14="http://schemas.microsoft.com/office/powerpoint/2010/main" val="2065345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7F7CD-390D-4E52-BBED-4E569F0B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360"/>
          </a:solidFill>
          <a:ln xmlns:a="http://schemas.openxmlformats.org/drawingml/2006/main" w="0">
            <a:solidFill>
              <a:srgbClr val="0E536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3E70E-C8E0-4FC1-A0EF-6B1C75B9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Meds Consulting LLC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48A09-BEB3-4B49-8BF4-07FF5265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683AD-6892-4891-81AB-A87076D8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Recommendations Link Directly To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E7552-1375-4CCF-814B-3FA26E0D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B7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E0B6F-8928-45B4-9312-529F9DA4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A9B4E-4DF9-455E-8901-4C343549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rPr>
              <a:t>Source: Option 1 Healthcare Consulting Packet and project analysis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9715500" cy="35052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67128"/>
                <a:gridCol w="5994670"/>
                <a:gridCol w="1653702"/>
              </a:tblGrid>
              <a:tr h="584200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Recommendation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Risk score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Expanded clinical model ROC-AUC is 0.74 and risk deciles separate observed readmission rates.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0-3 months</a:t>
                      </a:r>
                    </a:p>
                  </a:txBody>
                  <a:tcPr marL="91440" marR="91440" marT="45720" marB="45720"/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Discharge 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Emergency admissions and skilled nursing discharges show elevated readmission rates.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0-3 months</a:t>
                      </a:r>
                    </a:p>
                  </a:txBody>
                  <a:tcPr marL="91440" marR="91440" marT="45720" marB="45720"/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Follow-up gaps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Unknown follow-up status has the highest observed readmission rate and 2,587 records lack follow-up status.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0-3 months</a:t>
                      </a:r>
                    </a:p>
                  </a:txBody>
                  <a:tcPr marL="91440" marR="91440" marT="45720" marB="45720"/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Targeted care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Patients with 5+ chronic conditions and 3+ prior admissions show materially higher readmission rates.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3-6 months</a:t>
                      </a:r>
                    </a:p>
                  </a:txBody>
                  <a:tcPr marL="91440" marR="91440" marT="45720" marB="45720"/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Dashboard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project requires integrated clinical, financial, and operational reporting for executive decisions.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3-6 months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F5E2C-A00B-4FF2-8F19-94BBF462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11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Highest priority: risk score, discharge review, follow-up documentation, targeted care, and executive reporting.</a:t>
            </a:r>
          </a:p>
        </p:txBody>
      </p:sp>
    </p:spTree>
    <p:extLst>
      <p:ext uri="{BB962C8B-B14F-4D97-AF65-F5344CB8AC3E}">
        <p14:creationId xmlns:p14="http://schemas.microsoft.com/office/powerpoint/2010/main" val="14094767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F50F2-61A7-4505-8F99-E3DEE011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360"/>
          </a:solidFill>
          <a:ln xmlns:a="http://schemas.openxmlformats.org/drawingml/2006/main" w="0">
            <a:solidFill>
              <a:srgbClr val="0E536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88D4A-CA7D-4DCB-AE33-40447324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Meds Consulting LLC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A1BD0-712C-4F06-A513-263D4ACE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ROI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FCF62-6FF9-4C97-AEBD-38AAEC49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Expected Scenario Produces $8.8M Net Savings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DC92D-D0B4-4C60-8CF2-2D363829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B7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045E0-9DDD-49E1-BBB7-DA22F5EF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6C92F-9EC0-4ADB-85F9-3B244BE5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rPr>
              <a:t>Source: Option 1 Healthcare Consulting Packet and project analysis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5334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ef5e475428458e"/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6591300" y="1790700"/>
          <a:ext xmlns:a="http://schemas.openxmlformats.org/drawingml/2006/main" cx="4762500" cy="2266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992188"/>
                <a:gridCol w="892969"/>
                <a:gridCol w="1190625"/>
                <a:gridCol w="992188"/>
                <a:gridCol w="694531"/>
              </a:tblGrid>
              <a:tr h="566738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Scenario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Reduction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Avoided readmissions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Net savings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ROI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Conservative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5.0%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$4.3M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4.28x</a:t>
                      </a:r>
                    </a:p>
                  </a:txBody>
                  <a:tcPr marL="91440" marR="91440" marT="45720" marB="45720"/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Expected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10.0%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$8.8M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5.03x</a:t>
                      </a:r>
                    </a:p>
                  </a:txBody>
                  <a:tcPr marL="91440" marR="91440" marT="45720" marB="45720"/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Optimistic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15.0%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778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$13.4M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5.34x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3E0CE-E455-42C9-B382-D26A57B7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3390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Assumptions need final validation with Finance before they are treated as budget commitments.</a:t>
            </a:r>
          </a:p>
        </p:txBody>
      </p:sp>
    </p:spTree>
    <p:extLst>
      <p:ext uri="{BB962C8B-B14F-4D97-AF65-F5344CB8AC3E}">
        <p14:creationId xmlns:p14="http://schemas.microsoft.com/office/powerpoint/2010/main" val="7036605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C87C2-75E6-44E0-9B96-2206FC71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360"/>
          </a:solidFill>
          <a:ln xmlns:a="http://schemas.openxmlformats.org/drawingml/2006/main" w="0">
            <a:solidFill>
              <a:srgbClr val="0E536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76396-AB08-4760-A704-4A645811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Meds Consulting LLC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E03AD-8264-42B7-9598-E1194A89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DC849-3B89-43EB-9A90-513F1469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12-Month Implementation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5E8D5-8F62-4AAE-AFD2-849FA76A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B7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B6525-CFE6-44E8-A339-CFC9C2AF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0D1F2-2D6B-455D-A6C9-35670CB7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rPr>
              <a:t>Source: Option 1 Healthcare Consulting Packet and project analysis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9906000" cy="3905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86840"/>
                <a:gridCol w="5349240"/>
                <a:gridCol w="3169920"/>
              </a:tblGrid>
              <a:tr h="488156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Phase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Initiative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0-3 months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Approve dashboard KPIs, risk model governance, and readmission reduction targets.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Executive sponsor and analytics lead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0-3 months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Pilot pre-discharge risk scoring for emergency admissions and skilled nursing discharges.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Clinical operations and analytics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0-3 months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Fix follow-up status documentation workflow and missing-value monitoring.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Care coordination leadership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3-6 months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Expand targeted care coordination for high-risk chronic disease and prior-admission groups.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Care coordination leadership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3-6 months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Build Tableau or Power BI dashboard using the prepared dashboard extract.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 team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6-12 months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Track ROI, readmission reduction, CMS penalty exposure, and intervention performance monthly.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Finance and quality leadership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6-12 months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Refresh and validate the risk model with new outcomes and operational feedback.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Analytics and clinical governance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36387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EE97D-7ABA-4E5A-9FFD-D2E524A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360"/>
          </a:solidFill>
          <a:ln xmlns:a="http://schemas.openxmlformats.org/drawingml/2006/main" w="0">
            <a:solidFill>
              <a:srgbClr val="0E536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1200B-B214-4E53-9643-1658486B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Meds Consulting LLC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0C26A-A4C8-4A9F-9519-C28E1EAA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MEASUREMENT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E2D77-B51A-4FDD-9FF6-9A4FBC38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Success Measures And Governance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846AA-66E4-4E92-B378-C02A9387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B7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F1495-E2CF-479E-876C-C35FB4C0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53F55-4D6F-4F3D-8809-5002D783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rPr>
              <a:t>Source: Option 1 Healthcare Consulting Packet and project analysis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70485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94622"/>
                <a:gridCol w="2445398"/>
                <a:gridCol w="1582316"/>
                <a:gridCol w="1726163"/>
              </a:tblGrid>
              <a:tr h="462643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Dimension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Target direction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</a:t>
                      </a:r>
                    </a:p>
                  </a:txBody>
                  <a:tcPr marL="91440" marR="91440" marT="45720" marB="45720">
                    <a:solidFill>
                      <a:srgbClr val="0E5360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Clinical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Readmission rate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Decrease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Dashboard extract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Clinical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High-risk patient intervention completion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Increase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Care coordination data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Financial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CMS penalty exposure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Decrease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Financial impact data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Financial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Net savings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Increase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ROI scenario model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Operational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Unknown follow-up status rate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Decrease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Patient readmission data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Analytics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 ROC-AUC and recall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Maintain or improve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B2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 evaluation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0537E-5EFC-46C7-9013-B5877F29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240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6B78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DDA90-A0A9-4572-A972-81F42BD0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13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Monthly executive review of readmission rate, penalties, net savings, and intervention completion.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EEB44-E82B-4C6B-B1A7-42B50750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384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6B78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0DB62-65A2-46C4-8B66-C1B21A21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47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Quarterly model refresh review with clinical governance.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D5FAC-EE7C-41B1-8A79-01D921A0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528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6B78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31ACC7-89F9-48AC-B3B2-AD86AB6B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62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Dashboard data quality checks before every executive reporting cycle.</a:t>
            </a:r>
          </a:p>
        </p:txBody>
      </p:sp>
    </p:spTree>
    <p:extLst>
      <p:ext uri="{BB962C8B-B14F-4D97-AF65-F5344CB8AC3E}">
        <p14:creationId xmlns:p14="http://schemas.microsoft.com/office/powerpoint/2010/main" val="7105274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7010C8-495A-458C-8ED3-C9F7AC6B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360"/>
          </a:solidFill>
          <a:ln xmlns:a="http://schemas.openxmlformats.org/drawingml/2006/main" w="0">
            <a:solidFill>
              <a:srgbClr val="0E536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A34C1-DF2D-418B-8E19-FE24F515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6F75"/>
                </a:solidFill>
                <a:latin typeface="Helvetica Neue"/>
                <a:ea typeface="Helvetica Neue"/>
                <a:cs typeface="Helvetica Neue"/>
              </a:rPr>
              <a:t>Meds Consulting LLC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33319-8CA4-43A2-8C06-C6B2E05E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773"/>
                </a:solidFill>
                <a:latin typeface="Helvetica Neue"/>
                <a:ea typeface="Helvetica Neue"/>
                <a:cs typeface="Helvetica Neue"/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E26A6-68C6-4D61-864F-9C756D37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Board Decision Points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E23C8-BCE4-4F82-9860-3BF2C195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B7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9A4D5-16CC-4A36-AD6C-35D9CE72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A94D6-191D-4EB0-A647-13132F77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808A"/>
                </a:solidFill>
                <a:latin typeface="Helvetica Neue"/>
                <a:ea typeface="Helvetica Neue"/>
                <a:cs typeface="Helvetica Neue"/>
              </a:rPr>
              <a:t>Source: Option 1 Healthcare Consulting Packet and project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3BB0D-EA73-427C-A73F-1AC0EB7E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478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42922-E4C4-4892-8E03-F8EB25D7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573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72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Approve a broad high-risk readmission reduction pilot covering deciles 8-10 and clinical-rule segments.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5782D-0C28-42BA-8110-1A07E23D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14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7B7F7-912E-405A-9CD1-F3072206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18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Approve staged model governance so no single model carries the full healthcare decision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EF215-DB35-4D03-A845-9AB5E680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813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2CAAB-9CE9-4A3A-B558-4C5DFB6E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908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Approve Tableau dashboard development for presentation and executive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FF9E6E-3D49-4E0F-847D-F4DC6C58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480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98C5F-E4F7-4EDC-AB7D-9EAB1D04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576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Approve follow-up documentation workflow improvements.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64671-68D7-473A-96FC-DCCE7CF6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148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9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1C20E-D189-47AE-B440-18FF4123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243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2A33"/>
                </a:solidFill>
                <a:latin typeface="Helvetica Neue"/>
                <a:ea typeface="Helvetica Neue"/>
                <a:cs typeface="Helvetica Neue"/>
              </a:rPr>
              <a:t>Validate implementation cost assumptions for ROI tracking.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230EA-439E-4314-98E3-7519A80F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149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E882B-FED5-4012-B263-91E5A4EE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673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2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65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6534"/>
                </a:solidFill>
                <a:latin typeface="Helvetica Neue"/>
                <a:ea typeface="Helvetica Neue"/>
                <a:cs typeface="Helvetica Neue"/>
              </a:rPr>
              <a:t>Recommended decision: fund the 0-3 month pilot and dashboard build, then review ROI monthly.</a:t>
            </a:r>
          </a:p>
        </p:txBody>
      </p:sp>
    </p:spTree>
    <p:extLst>
      <p:ext uri="{BB962C8B-B14F-4D97-AF65-F5344CB8AC3E}">
        <p14:creationId xmlns:p14="http://schemas.microsoft.com/office/powerpoint/2010/main" val="2840790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2026-09-18T19:00:56.3090000Z</dcterms:created>
  <dcterms:modified xsi:type="dcterms:W3CDTF">2026-09-18T19:00:56.3090000Z</dcterms:modified>
</coreProperties>
</file>