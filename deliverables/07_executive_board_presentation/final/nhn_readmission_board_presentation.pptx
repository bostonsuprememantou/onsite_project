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5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6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7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c9b511a9d59475e" /><Relationship Type="http://schemas.openxmlformats.org/officeDocument/2006/relationships/extended-properties" Target="/docProps/app.xml" Id="Ra76b52f5186a4190" /><Relationship Type="http://schemas.openxmlformats.org/officeDocument/2006/relationships/officeDocument" Target="/ppt/presentation.xml" Id="R730b44e042234be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e9ea4476c8546a8"/>
  </p:sldMasterIdLst>
  <p:notesMasterIdLst>
    <p:notesMasterId xmlns:r="http://schemas.openxmlformats.org/officeDocument/2006/relationships" r:id="Rfedebbef001d4c92"/>
  </p:notesMasterIdLst>
  <p:sldIdLst>
    <p:sldId xmlns:r="http://schemas.openxmlformats.org/officeDocument/2006/relationships" id="256" r:id="R2188a27f28344fc6"/>
    <p:sldId xmlns:r="http://schemas.openxmlformats.org/officeDocument/2006/relationships" id="257" r:id="R1695d25f8c204cc3"/>
    <p:sldId xmlns:r="http://schemas.openxmlformats.org/officeDocument/2006/relationships" id="258" r:id="R516dc63966584f06"/>
    <p:sldId xmlns:r="http://schemas.openxmlformats.org/officeDocument/2006/relationships" id="259" r:id="R91a5446eb785435f"/>
    <p:sldId xmlns:r="http://schemas.openxmlformats.org/officeDocument/2006/relationships" id="260" r:id="R8a86d17f8d944054"/>
    <p:sldId xmlns:r="http://schemas.openxmlformats.org/officeDocument/2006/relationships" id="261" r:id="Rb8ddb1e6821c4c47"/>
    <p:sldId xmlns:r="http://schemas.openxmlformats.org/officeDocument/2006/relationships" id="262" r:id="R4bcdb0ddefda4e9b"/>
    <p:sldId xmlns:r="http://schemas.openxmlformats.org/officeDocument/2006/relationships" id="263" r:id="R9b4e58cd67704889"/>
    <p:sldId xmlns:r="http://schemas.openxmlformats.org/officeDocument/2006/relationships" id="264" r:id="R3039b46d4d934edf"/>
    <p:sldId xmlns:r="http://schemas.openxmlformats.org/officeDocument/2006/relationships" id="265" r:id="R9b16dc90d7234878"/>
    <p:sldId xmlns:r="http://schemas.openxmlformats.org/officeDocument/2006/relationships" id="266" r:id="R4e3777c57f1d4e45"/>
    <p:sldId xmlns:r="http://schemas.openxmlformats.org/officeDocument/2006/relationships" id="267" r:id="Ra14edddea21b4f5b"/>
    <p:sldId xmlns:r="http://schemas.openxmlformats.org/officeDocument/2006/relationships" id="268" r:id="Rc2ef4ecfa87e441d"/>
    <p:sldId xmlns:r="http://schemas.openxmlformats.org/officeDocument/2006/relationships" id="269" r:id="Rf20e343fb41a4ce5"/>
    <p:sldId xmlns:r="http://schemas.openxmlformats.org/officeDocument/2006/relationships" id="270" r:id="Re91eba28bcde455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5d0da4a36c4da9" /><Relationship Type="http://schemas.openxmlformats.org/officeDocument/2006/relationships/slideMaster" Target="/ppt/slideMasters/slideMaster1.xml" Id="Rce9ea4476c8546a8" /><Relationship Type="http://schemas.openxmlformats.org/officeDocument/2006/relationships/notesMaster" Target="/ppt/notesMasters/notesMaster1.xml" Id="Rfedebbef001d4c92" /><Relationship Type="http://schemas.openxmlformats.org/officeDocument/2006/relationships/presProps" Target="/ppt/presProps.xml" Id="Rddcc4e2c87124e03" /><Relationship Type="http://schemas.openxmlformats.org/officeDocument/2006/relationships/tableStyles" Target="/ppt/tableStyles.xml" Id="R36a5e44521d24092" /><Relationship Type="http://schemas.openxmlformats.org/officeDocument/2006/relationships/slide" Target="/ppt/slides/slide1.xml" Id="R2188a27f28344fc6" /><Relationship Type="http://schemas.openxmlformats.org/officeDocument/2006/relationships/slide" Target="/ppt/slides/slide2.xml" Id="R1695d25f8c204cc3" /><Relationship Type="http://schemas.openxmlformats.org/officeDocument/2006/relationships/slide" Target="/ppt/slides/slide3.xml" Id="R516dc63966584f06" /><Relationship Type="http://schemas.openxmlformats.org/officeDocument/2006/relationships/slide" Target="/ppt/slides/slide4.xml" Id="R91a5446eb785435f" /><Relationship Type="http://schemas.openxmlformats.org/officeDocument/2006/relationships/slide" Target="/ppt/slides/slide5.xml" Id="R8a86d17f8d944054" /><Relationship Type="http://schemas.openxmlformats.org/officeDocument/2006/relationships/slide" Target="/ppt/slides/slide6.xml" Id="Rb8ddb1e6821c4c47" /><Relationship Type="http://schemas.openxmlformats.org/officeDocument/2006/relationships/slide" Target="/ppt/slides/slide7.xml" Id="R4bcdb0ddefda4e9b" /><Relationship Type="http://schemas.openxmlformats.org/officeDocument/2006/relationships/slide" Target="/ppt/slides/slide8.xml" Id="R9b4e58cd67704889" /><Relationship Type="http://schemas.openxmlformats.org/officeDocument/2006/relationships/slide" Target="/ppt/slides/slide9.xml" Id="R3039b46d4d934edf" /><Relationship Type="http://schemas.openxmlformats.org/officeDocument/2006/relationships/slide" Target="/ppt/slides/slide10.xml" Id="R9b16dc90d7234878" /><Relationship Type="http://schemas.openxmlformats.org/officeDocument/2006/relationships/slide" Target="/ppt/slides/slide11.xml" Id="R4e3777c57f1d4e45" /><Relationship Type="http://schemas.openxmlformats.org/officeDocument/2006/relationships/slide" Target="/ppt/slides/slide12.xml" Id="Ra14edddea21b4f5b" /><Relationship Type="http://schemas.openxmlformats.org/officeDocument/2006/relationships/slide" Target="/ppt/slides/slide13.xml" Id="Rc2ef4ecfa87e441d" /><Relationship Type="http://schemas.openxmlformats.org/officeDocument/2006/relationships/slide" Target="/ppt/slides/slide14.xml" Id="Rf20e343fb41a4ce5" /><Relationship Type="http://schemas.openxmlformats.org/officeDocument/2006/relationships/slide" Target="/ppt/slides/slide15.xml" Id="Re91eba28bcde455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a8397ce22f44fb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6e431dc7e3d4cef" /><Relationship Type="http://schemas.openxmlformats.org/officeDocument/2006/relationships/notesMaster" Target="/ppt/notesMasters/notesMaster1.xml" Id="R09845c1d773d416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cf9385aec0c46a7" /><Relationship Type="http://schemas.openxmlformats.org/officeDocument/2006/relationships/notesMaster" Target="/ppt/notesMasters/notesMaster1.xml" Id="R0ec399fdf79045c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01c19b4dfe34c97" /><Relationship Type="http://schemas.openxmlformats.org/officeDocument/2006/relationships/notesMaster" Target="/ppt/notesMasters/notesMaster1.xml" Id="Re6bbe07f5f2f443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5c6063d7fb74a01" /><Relationship Type="http://schemas.openxmlformats.org/officeDocument/2006/relationships/notesMaster" Target="/ppt/notesMasters/notesMaster1.xml" Id="Rdab1e6b4a920462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ae4ffc1b9c643f9" /><Relationship Type="http://schemas.openxmlformats.org/officeDocument/2006/relationships/notesMaster" Target="/ppt/notesMasters/notesMaster1.xml" Id="R7b8cdd97ab514db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1d2f3661ccc44bd" /><Relationship Type="http://schemas.openxmlformats.org/officeDocument/2006/relationships/notesMaster" Target="/ppt/notesMasters/notesMaster1.xml" Id="R832ef2996f67429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3cb826230c74638" /><Relationship Type="http://schemas.openxmlformats.org/officeDocument/2006/relationships/notesMaster" Target="/ppt/notesMasters/notesMaster1.xml" Id="Rbc51d6823320495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fb7aeaed94f4dd0" /><Relationship Type="http://schemas.openxmlformats.org/officeDocument/2006/relationships/notesMaster" Target="/ppt/notesMasters/notesMaster1.xml" Id="R2d069a1d40c04df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70ce096059c46f1" /><Relationship Type="http://schemas.openxmlformats.org/officeDocument/2006/relationships/notesMaster" Target="/ppt/notesMasters/notesMaster1.xml" Id="R94a59d4dcfaf4a7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625f15d68a5443e" /><Relationship Type="http://schemas.openxmlformats.org/officeDocument/2006/relationships/notesMaster" Target="/ppt/notesMasters/notesMaster1.xml" Id="R11a9836884c3454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1ee06d2578a43fc" /><Relationship Type="http://schemas.openxmlformats.org/officeDocument/2006/relationships/notesMaster" Target="/ppt/notesMasters/notesMaster1.xml" Id="R1db65f549b7e444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0d7848d65574003" /><Relationship Type="http://schemas.openxmlformats.org/officeDocument/2006/relationships/notesMaster" Target="/ppt/notesMasters/notesMaster1.xml" Id="R44572bf21db44e0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39dee8cef17454e" /><Relationship Type="http://schemas.openxmlformats.org/officeDocument/2006/relationships/notesMaster" Target="/ppt/notesMasters/notesMaster1.xml" Id="Ra959daa62a4d481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f7d62e97ee44585" /><Relationship Type="http://schemas.openxmlformats.org/officeDocument/2006/relationships/notesMaster" Target="/ppt/notesMasters/notesMaster1.xml" Id="R52c863ae1cbd441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833e095b60449c7" /><Relationship Type="http://schemas.openxmlformats.org/officeDocument/2006/relationships/notesMaster" Target="/ppt/notesMasters/notesMaster1.xml" Id="Ra092ba074f6f47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core ask: reduce avoidable readmissions while protecting quality, capacity, and financial performance.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summary combines clinical, financial, and operating findings into the Board-level decision path.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frame why the work matters before moving into the integrated data and analysis.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Call out that the data joins cleanly, while follow-up documentation and financial field quality remain limitations.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Tie the high-risk segments back to operational decisions such as discharge review and care coordination assignment.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model is not positioned as a black box. It is explainable and aligns with clinical expectations.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Risk deciles turn the model into an operational queue for discharge planning and care coordination.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overclaim intervention effectiveness. Recommend better targeting and evaluation instead.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analysis gives a strong directional financial case while preserving data quality caveats.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handoff from analytics to a native Tableau or Power BI dashboard build.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table is structured for Board discussion. It keeps recommendations traceable to evidence and timing.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ROI slide should be presented as a planning scenario, not a guaranteed budget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through the roadmap as a staged implementation, starting with governance, pilot design, and data quality.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how the organization will know whether the program is working after launch.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asking for concrete approvals tied to a controlled pilot and transparent measurement cadence.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d3161f15274f7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455b6f9ebd04223" /><Relationship Type="http://schemas.openxmlformats.org/officeDocument/2006/relationships/slideLayout" Target="/ppt/slideLayouts/slideLayout1.xml" Id="R0794e6a3e1b843a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94e6a3e1b843a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bbb0588a5f4fe9" /><Relationship Type="http://schemas.openxmlformats.org/officeDocument/2006/relationships/notesSlide" Target="/ppt/notesSlides/notesSlide1.xml" Id="R86bec851b7554eb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78c5bcb4d04911" /><Relationship Type="http://schemas.openxmlformats.org/officeDocument/2006/relationships/notesSlide" Target="/ppt/notesSlides/notesSlide2.xml" Id="R45727959cdaf4d4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38f31d22ff49fc" /><Relationship Type="http://schemas.openxmlformats.org/officeDocument/2006/relationships/chart" Target="/ppt/slides/charts/chart1.xml" Id="Rd08d729e3edd4a8c" /><Relationship Type="http://schemas.openxmlformats.org/officeDocument/2006/relationships/notesSlide" Target="/ppt/notesSlides/notesSlide3.xml" Id="R42d2a4bc4f6d4b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d84f99793e493c" /><Relationship Type="http://schemas.openxmlformats.org/officeDocument/2006/relationships/notesSlide" Target="/ppt/notesSlides/notesSlide4.xml" Id="R73d83d8f1b8f476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e2b554a5914d3e" /><Relationship Type="http://schemas.openxmlformats.org/officeDocument/2006/relationships/chart" Target="/ppt/slides/charts/chart2.xml" Id="Rb787c60b10d34c27" /><Relationship Type="http://schemas.openxmlformats.org/officeDocument/2006/relationships/notesSlide" Target="/ppt/notesSlides/notesSlide5.xml" Id="Rc0144ddbd704421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5c02952ac74077" /><Relationship Type="http://schemas.openxmlformats.org/officeDocument/2006/relationships/chart" Target="/ppt/slides/charts/chart3.xml" Id="R54b286d63c6e4923" /><Relationship Type="http://schemas.openxmlformats.org/officeDocument/2006/relationships/notesSlide" Target="/ppt/notesSlides/notesSlide6.xml" Id="R24d2ab4504e040a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8745745faf4d72" /><Relationship Type="http://schemas.openxmlformats.org/officeDocument/2006/relationships/chart" Target="/ppt/slides/charts/chart4.xml" Id="R5e4afa9698eb448a" /><Relationship Type="http://schemas.openxmlformats.org/officeDocument/2006/relationships/notesSlide" Target="/ppt/notesSlides/notesSlide7.xml" Id="R93f040d1faa34e1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702d66bc714936" /><Relationship Type="http://schemas.openxmlformats.org/officeDocument/2006/relationships/chart" Target="/ppt/slides/charts/chart5.xml" Id="Rb44fde82380842ff" /><Relationship Type="http://schemas.openxmlformats.org/officeDocument/2006/relationships/notesSlide" Target="/ppt/notesSlides/notesSlide8.xml" Id="R45eabf623abe4b5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99b8e3612343da" /><Relationship Type="http://schemas.openxmlformats.org/officeDocument/2006/relationships/chart" Target="/ppt/slides/charts/chart6.xml" Id="R253b0d3fc98a41de" /><Relationship Type="http://schemas.openxmlformats.org/officeDocument/2006/relationships/notesSlide" Target="/ppt/notesSlides/notesSlide9.xml" Id="R86cd41088e0d48a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31ac38227148de" /><Relationship Type="http://schemas.openxmlformats.org/officeDocument/2006/relationships/notesSlide" Target="/ppt/notesSlides/notesSlide10.xml" Id="R2036dbbf2bda4d2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baa8a3432749bb" /><Relationship Type="http://schemas.openxmlformats.org/officeDocument/2006/relationships/notesSlide" Target="/ppt/notesSlides/notesSlide11.xml" Id="Ref20bad43f8245b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dd22c1af654a95" /><Relationship Type="http://schemas.openxmlformats.org/officeDocument/2006/relationships/chart" Target="/ppt/slides/charts/chart7.xml" Id="R9e212f1ca535414b" /><Relationship Type="http://schemas.openxmlformats.org/officeDocument/2006/relationships/notesSlide" Target="/ppt/notesSlides/notesSlide12.xml" Id="Rca311dc916d34bf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c5f2a5b56c4424" /><Relationship Type="http://schemas.openxmlformats.org/officeDocument/2006/relationships/notesSlide" Target="/ppt/notesSlides/notesSlide13.xml" Id="Rd4dc40d4cf3b4cd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dfba756411493b" /><Relationship Type="http://schemas.openxmlformats.org/officeDocument/2006/relationships/notesSlide" Target="/ppt/notesSlides/notesSlide14.xml" Id="Rf05aa705c865473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2e476fc3fa47a8" /><Relationship Type="http://schemas.openxmlformats.org/officeDocument/2006/relationships/notesSlide" Target="/ppt/notesSlides/notesSlide15.xml" Id="R2d90ec6c60e34d1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chart-data-snapshot-007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25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Historical NHN readmission trend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 b="1">
              <a:solidFill>
                <a:srgbClr val="0B2A33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Rate</c:v>
          </c:tx>
          <c:spPr>
            <a:ln xmlns:a="http://schemas.openxmlformats.org/drawingml/2006/main" w="28575">
              <a:solidFill>
                <a:srgbClr val="DC2626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DC2626"/>
              </a:solidFill>
            </c:spPr>
          </c:marker>
          <c:cat>
            <c:numRef>
              <c:f>'Chart Data'!$A$2:$A$5</c:f>
              <c:numCache>
                <c:formatCode>General</c:formatCod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numCache>
            </c:numRef>
          </c:cat>
          <c:val>
            <c:numRef>
              <c:f>'Chart Data'!$B$2:$B$5</c:f>
              <c:numCache>
                <c:formatCode>0%</c:formatCode>
                <c:ptCount val="4"/>
                <c:pt idx="0">
                  <c:v>0.142</c:v>
                </c:pt>
                <c:pt idx="1">
                  <c:v>0.158</c:v>
                </c:pt>
                <c:pt idx="2">
                  <c:v>0.169</c:v>
                </c:pt>
                <c:pt idx="3">
                  <c:v>0.184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>
                  <a:solidFill>
                    <a:srgbClr val="0B2A33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0.2"/>
          <c:min val="0.1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8F0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25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Readmission rate by selected high-risk segment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 b="1">
              <a:solidFill>
                <a:srgbClr val="0B2A33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Rate</c:v>
          </c:tx>
          <c:spPr>
            <a:solidFill xmlns:a="http://schemas.openxmlformats.org/drawingml/2006/main">
              <a:srgbClr val="0B6F75"/>
            </a:solidFill>
          </c:spPr>
          <c:cat>
            <c:strRef>
              <c:f>'Chart Data'!$A$2:$A$7</c:f>
              <c:strCache>
                <c:ptCount val="6"/>
                <c:pt idx="0">
                  <c:v>5+</c:v>
                </c:pt>
                <c:pt idx="1">
                  <c:v>3+</c:v>
                </c:pt>
                <c:pt idx="2">
                  <c:v>Skilled Nursing</c:v>
                </c:pt>
                <c:pt idx="3">
                  <c:v>Emergency</c:v>
                </c:pt>
                <c:pt idx="4">
                  <c:v>3-4</c:v>
                </c:pt>
                <c:pt idx="5">
                  <c:v>2</c:v>
                </c:pt>
              </c:strCache>
            </c:strRef>
          </c:cat>
          <c:val>
            <c:numRef>
              <c:f>'Chart Data'!$B$2:$B$7</c:f>
              <c:numCache>
                <c:formatCode>0%</c:formatCode>
                <c:ptCount val="6"/>
                <c:pt idx="0">
                  <c:v>0.6234</c:v>
                </c:pt>
                <c:pt idx="1">
                  <c:v>0.5702</c:v>
                </c:pt>
                <c:pt idx="2">
                  <c:v>0.5435</c:v>
                </c:pt>
                <c:pt idx="3">
                  <c:v>0.5088</c:v>
                </c:pt>
                <c:pt idx="4">
                  <c:v>0.4956</c:v>
                </c:pt>
                <c:pt idx="5">
                  <c:v>0.4619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>
                  <a:solidFill>
                    <a:srgbClr val="0B2A33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0.75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8F0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25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Model performance comparison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 b="1">
              <a:solidFill>
                <a:srgbClr val="0B2A33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Baseline</c:v>
          </c:tx>
          <c:spPr>
            <a:solidFill xmlns:a="http://schemas.openxmlformats.org/drawingml/2006/main">
              <a:srgbClr val="94A3B8"/>
            </a:solidFill>
          </c:spPr>
          <c:cat>
            <c:strRef>
              <c:f>'Chart Data'!$A$2:$A$6</c:f>
              <c:strCache>
                <c:ptCount val="5"/>
                <c:pt idx="0">
                  <c:v>Accuracy</c:v>
                </c:pt>
                <c:pt idx="1">
                  <c:v>Precision</c:v>
                </c:pt>
                <c:pt idx="2">
                  <c:v>Recall</c:v>
                </c:pt>
                <c:pt idx="3">
                  <c:v>F1</c:v>
                </c:pt>
                <c:pt idx="4">
                  <c:v>ROC-AUC</c:v>
                </c:pt>
              </c:strCache>
            </c:strRef>
          </c:cat>
          <c:val>
            <c:numRef>
              <c:f>'Chart Data'!$B$2:$B$6</c:f>
              <c:numCache>
                <c:formatCode>0%</c:formatCode>
                <c:ptCount val="5"/>
                <c:pt idx="0">
                  <c:v>0.6572</c:v>
                </c:pt>
                <c:pt idx="1">
                  <c:v>0.6333</c:v>
                </c:pt>
                <c:pt idx="2">
                  <c:v>0.5013</c:v>
                </c:pt>
                <c:pt idx="3">
                  <c:v>0.5596</c:v>
                </c:pt>
                <c:pt idx="4">
                  <c:v>0.7071</c:v>
                </c:pt>
              </c:numCache>
            </c:numRef>
          </c:val>
        </c:ser>
        <c:ser>
          <c:idx val="1"/>
          <c:order val="1"/>
          <c:tx>
            <c:v>Expanded</c:v>
          </c:tx>
          <c:spPr>
            <a:solidFill xmlns:a="http://schemas.openxmlformats.org/drawingml/2006/main">
              <a:srgbClr val="0F6B78"/>
            </a:solidFill>
          </c:spPr>
          <c:cat>
            <c:strRef>
              <c:f>'Chart Data'!$C$2:$C$6</c:f>
              <c:strCache>
                <c:ptCount val="5"/>
                <c:pt idx="0">
                  <c:v>Accuracy</c:v>
                </c:pt>
                <c:pt idx="1">
                  <c:v>Precision</c:v>
                </c:pt>
                <c:pt idx="2">
                  <c:v>Recall</c:v>
                </c:pt>
                <c:pt idx="3">
                  <c:v>F1</c:v>
                </c:pt>
                <c:pt idx="4">
                  <c:v>ROC-AUC</c:v>
                </c:pt>
              </c:strCache>
            </c:strRef>
          </c:cat>
          <c:val>
            <c:numRef>
              <c:f>'Chart Data'!$D$2:$D$6</c:f>
              <c:numCache>
                <c:formatCode>0%</c:formatCode>
                <c:ptCount val="5"/>
                <c:pt idx="0">
                  <c:v>0.6831</c:v>
                </c:pt>
                <c:pt idx="1">
                  <c:v>0.6618</c:v>
                </c:pt>
                <c:pt idx="2">
                  <c:v>0.5531</c:v>
                </c:pt>
                <c:pt idx="3">
                  <c:v>0.6026</c:v>
                </c:pt>
                <c:pt idx="4">
                  <c:v>0.7396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>
                  <a:solidFill>
                    <a:srgbClr val="0B2A33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0.8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8F0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>
              <a:solidFill>
                <a:srgbClr val="516773"/>
              </a:solidFill>
              <a:latin typeface="Helvetica Neue"/>
              <a:ea typeface="Helvetica Neue"/>
              <a:cs typeface="Helvetica Neue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25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Observed readmission rate by model risk decile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 b="1">
              <a:solidFill>
                <a:srgbClr val="0B2A33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Rate</c:v>
          </c:tx>
          <c:spPr>
            <a:solidFill xmlns:a="http://schemas.openxmlformats.org/drawingml/2006/main">
              <a:srgbClr val="0F6B78"/>
            </a:solidFill>
          </c:spPr>
          <c:cat>
            <c:strRef>
              <c:f>'Chart Data'!$A$2:$A$11</c:f>
              <c:strCache>
                <c:ptCount val="1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</c:strCache>
            </c:strRef>
          </c:cat>
          <c:val>
            <c:numRef>
              <c:f>'Chart Data'!$B$2:$B$11</c:f>
              <c:numCache>
                <c:formatCode>0%</c:formatCode>
                <c:ptCount val="10"/>
                <c:pt idx="0">
                  <c:v>0.1183</c:v>
                </c:pt>
                <c:pt idx="1">
                  <c:v>0.2083</c:v>
                </c:pt>
                <c:pt idx="2">
                  <c:v>0.2575</c:v>
                </c:pt>
                <c:pt idx="3">
                  <c:v>0.3033</c:v>
                </c:pt>
                <c:pt idx="4">
                  <c:v>0.365</c:v>
                </c:pt>
                <c:pt idx="5">
                  <c:v>0.4675</c:v>
                </c:pt>
                <c:pt idx="6">
                  <c:v>0.5183</c:v>
                </c:pt>
                <c:pt idx="7">
                  <c:v>0.5767</c:v>
                </c:pt>
                <c:pt idx="8">
                  <c:v>0.6817</c:v>
                </c:pt>
                <c:pt idx="9">
                  <c:v>0.8233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>
                  <a:solidFill>
                    <a:srgbClr val="0B2A33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0.9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8F0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25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Observed readmission difference with intervention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 b="1">
              <a:solidFill>
                <a:srgbClr val="0B2A33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Rate</c:v>
          </c:tx>
          <c:spPr>
            <a:solidFill xmlns:a="http://schemas.openxmlformats.org/drawingml/2006/main">
              <a:srgbClr val="E4B73D"/>
            </a:solidFill>
          </c:spPr>
          <c:invertIfNegative val="0"/>
          <c:cat>
            <c:strRef>
              <c:f>'Chart Data'!$A$2:$A$7</c:f>
              <c:strCache>
                <c:ptCount val="6"/>
                <c:pt idx="0">
                  <c:v>Medication review completed</c:v>
                </c:pt>
                <c:pt idx="1">
                  <c:v>Any post-discharge call</c:v>
                </c:pt>
                <c:pt idx="2">
                  <c:v>Care coordinator assigned</c:v>
                </c:pt>
                <c:pt idx="3">
                  <c:v>Follow-up completed</c:v>
                </c:pt>
                <c:pt idx="4">
                  <c:v>Transportation</c:v>
                </c:pt>
                <c:pt idx="5">
                  <c:v>Home health referral</c:v>
                </c:pt>
              </c:strCache>
            </c:strRef>
          </c:cat>
          <c:val>
            <c:numRef>
              <c:f>'Chart Data'!$B$2:$B$7</c:f>
              <c:numCache>
                <c:formatCode>0.0%</c:formatCode>
                <c:ptCount val="6"/>
                <c:pt idx="0">
                  <c:v>0.0321</c:v>
                </c:pt>
                <c:pt idx="1">
                  <c:v>0.0266</c:v>
                </c:pt>
                <c:pt idx="2">
                  <c:v>0.0133</c:v>
                </c:pt>
                <c:pt idx="3">
                  <c:v>0.0012</c:v>
                </c:pt>
                <c:pt idx="4">
                  <c:v>-0.0017</c:v>
                </c:pt>
                <c:pt idx="5">
                  <c:v>-0.0029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>
                  <a:solidFill>
                    <a:srgbClr val="0B2A33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0.04"/>
          <c:min val="-0.01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8F0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25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Cost components in cleaned dataset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 b="1">
              <a:solidFill>
                <a:srgbClr val="0B2A33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Rate</c:v>
          </c:tx>
          <c:spPr>
            <a:solidFill xmlns:a="http://schemas.openxmlformats.org/drawingml/2006/main">
              <a:srgbClr val="DC2626"/>
            </a:solidFill>
          </c:spPr>
          <c:cat>
            <c:strRef>
              <c:f>'Chart Data'!$A$2:$A$5</c:f>
              <c:strCache>
                <c:ptCount val="4"/>
                <c:pt idx="0">
                  <c:v>Follow-up program</c:v>
                </c:pt>
                <c:pt idx="1">
                  <c:v>CMS penalty</c:v>
                </c:pt>
                <c:pt idx="2">
                  <c:v>Length-of-stay</c:v>
                </c:pt>
                <c:pt idx="3">
                  <c:v>Readmission</c:v>
                </c:pt>
              </c:strCache>
            </c:strRef>
          </c:cat>
          <c:val>
            <c:numRef>
              <c:f>'Chart Data'!$B$2:$B$5</c:f>
              <c:numCache>
                <c:formatCode>$0M</c:formatCode>
                <c:ptCount val="4"/>
                <c:pt idx="0">
                  <c:v>5.3024</c:v>
                </c:pt>
                <c:pt idx="1">
                  <c:v>21.2479</c:v>
                </c:pt>
                <c:pt idx="2">
                  <c:v>74.603</c:v>
                </c:pt>
                <c:pt idx="3">
                  <c:v>223.1229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>
                  <a:solidFill>
                    <a:srgbClr val="0B2A33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24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8F0"/>
              </a:solidFill>
              <a:prstDash val="solid"/>
            </a:ln>
          </c:spPr>
        </c:majorGridlines>
        <c:numFmt formatCode="$0M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7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25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Estimated net savings by scenario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 b="1">
              <a:solidFill>
                <a:srgbClr val="0B2A33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Rate</c:v>
          </c:tx>
          <c:spPr>
            <a:solidFill xmlns:a="http://schemas.openxmlformats.org/drawingml/2006/main">
              <a:srgbClr val="16A34A"/>
            </a:solidFill>
          </c:spPr>
          <c:cat>
            <c:strRef>
              <c:f>'Chart Data'!$A$2:$A$4</c:f>
              <c:strCache>
                <c:ptCount val="3"/>
                <c:pt idx="0">
                  <c:v>Conservative</c:v>
                </c:pt>
                <c:pt idx="1">
                  <c:v>Expected</c:v>
                </c:pt>
                <c:pt idx="2">
                  <c:v>Optimistic</c:v>
                </c:pt>
              </c:strCache>
            </c:strRef>
          </c:cat>
          <c:val>
            <c:numRef>
              <c:f>'Chart Data'!$B$2:$B$4</c:f>
              <c:numCache>
                <c:formatCode>$0.0M</c:formatCode>
                <c:ptCount val="3"/>
                <c:pt idx="0">
                  <c:v>4.2797</c:v>
                </c:pt>
                <c:pt idx="1">
                  <c:v>8.8094</c:v>
                </c:pt>
                <c:pt idx="2">
                  <c:v>13.3595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>
                  <a:solidFill>
                    <a:srgbClr val="0B2A33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15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8F0"/>
              </a:solidFill>
              <a:prstDash val="solid"/>
            </a:ln>
          </c:spPr>
        </c:majorGridlines>
        <c:numFmt formatCode="$0.0M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F47C6B-E37D-4769-B9EB-16A9AA5FC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CFDD7E-8659-4F02-9961-84022861A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1AFFE9-451F-45B5-B99B-20833220A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8001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651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National Hospital Network readmission challenge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B346E8-DC54-40A3-9EDF-E0F145E2A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F3848E-9F2A-406E-BB69-326C2C299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8571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Executive Board presentation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779306-30D3-41CB-A88F-0976FF9A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944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29444F"/>
                </a:solidFill>
                <a:latin typeface="Helvetica Neue"/>
                <a:ea typeface="Helvetica Neue"/>
                <a:cs typeface="Helvetica Neue"/>
              </a:rPr>
              <a:t>Clinical analytics, financial impact, care coordination, and 12-month implementation plan.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DD9256-BA87-463A-8E47-D6F01C2C8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209800"/>
            <a:ext cx="0" cy="3619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6D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6DD828-E5A5-4458-B3E3-B7A183587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8600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8571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Current decision context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5530D0-103E-4B88-AB33-D0BC2413C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800350"/>
            <a:ext cx="4000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69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944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29444F"/>
                </a:solidFill>
                <a:latin typeface="Helvetica Neue"/>
                <a:ea typeface="Helvetica Neue"/>
                <a:cs typeface="Helvetica Neue"/>
              </a:rPr>
              <a:t>NHN has rising 30-day readmissions, elevated analytical-sample risk, and a material financial opportunity if intervention targeting improves.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50A18D-431F-4F7A-B3DB-CB223E8C1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447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D6D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D738D0-242C-4B08-8EF3-4E2B6D852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ANALYTICAL PATIENTS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E3BF46-3AE2-4C97-9DE2-A05D31D7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200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556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12,000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D96AF2-4884-4661-B111-7DFE5861A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Matched across 3 datasets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C1D3D-CE9F-4D33-B0B2-F78D0A018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767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READMISSION RATE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759642-960E-41E7-9C6F-BC6F46D68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343400"/>
            <a:ext cx="200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556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4B7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E4B73D"/>
                </a:solidFill>
                <a:latin typeface="Helvetica Neue"/>
                <a:ea typeface="Helvetica Neue"/>
                <a:cs typeface="Helvetica Neue"/>
              </a:rPr>
              <a:t>43.2%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E8DCA5-D10A-4EF6-88F0-C6F555D80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7625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Current analytical sample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D746D8-CB6C-4F6C-83B3-20AC035D5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0767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EXPECTED NET SAVINGS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863D45-B03B-41C0-A6C4-A91B518C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43400"/>
            <a:ext cx="200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556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A3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6A34A"/>
                </a:solidFill>
                <a:latin typeface="Helvetica Neue"/>
                <a:ea typeface="Helvetica Neue"/>
                <a:cs typeface="Helvetica Neue"/>
              </a:rPr>
              <a:t>$8.8M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28970D-BF10-4569-954F-708295E9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7625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Before cost validation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5A6B0F-3C2B-492C-95A2-A965A505B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767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MODEL ROC-AUC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5546BA-1C2A-4BEF-AA4E-452F29F8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343400"/>
            <a:ext cx="200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556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rPr>
              <a:t>0.74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F8E01D-7399-4B29-9FF3-7817C9FB4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625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Expanded clinical model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582B4D-234C-4ED6-B395-C1A1AEF2A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C3E40D-397A-4777-B338-AA96B3EC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</p:spTree>
    <p:extLst>
      <p:ext uri="{BB962C8B-B14F-4D97-AF65-F5344CB8AC3E}">
        <p14:creationId xmlns:p14="http://schemas.microsoft.com/office/powerpoint/2010/main" val="20103594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D13E21-865E-496E-9366-313B4BCE5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D3FD1C-9030-49CA-9B37-E8C854129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651FC8-657F-4C89-8526-C96BCF69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DECISION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E0BFF2-C689-4031-8DD8-192038F7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Executive Summary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BF026B-1E3D-49FE-BC12-87469BCB3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0EE201-5D7A-4CA2-A52D-A563C5286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37F1C2-C859-46C5-A4FA-8DD47FFB1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9DB6DF-93AA-409F-AB78-EDC251D1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READMISSION RATE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9357B1-986D-470F-9E7D-EB5F42E5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556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4B7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E4B73D"/>
                </a:solidFill>
                <a:latin typeface="Helvetica Neue"/>
                <a:ea typeface="Helvetica Neue"/>
                <a:cs typeface="Helvetica Neue"/>
              </a:rPr>
              <a:t>43.2%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FE9676-0CFF-4FD8-B919-C5577A768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5,184 readmitted patients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5B4FE0-A3AB-4ABF-8095-A809C35AB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907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MODEL ROC-AUC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CD9D59-D699-49A1-9AB4-7D2C9FD69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05740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556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rPr>
              <a:t>74.0%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33F263-0459-4AEB-AC9F-5C1806F44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4765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Expanded clinical model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C2E288-05E8-47FB-8F7C-34D0139AF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7907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PENALTY EXPOSURE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458D57-489D-4967-9F2F-DC4820F5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05740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556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C26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DC2626"/>
                </a:solidFill>
                <a:latin typeface="Helvetica Neue"/>
                <a:ea typeface="Helvetica Neue"/>
                <a:cs typeface="Helvetica Neue"/>
              </a:rPr>
              <a:t>$21.2M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13DDAB-3202-4BA5-817D-5703BFF5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4765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Nonnegative exposure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EE9076-F010-481D-A58E-81E8B691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7907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EXPECTED ROI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9401A6-286A-4C51-9B07-F68C6DDEF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05740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556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A3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6A34A"/>
                </a:solidFill>
                <a:latin typeface="Helvetica Neue"/>
                <a:ea typeface="Helvetica Neue"/>
                <a:cs typeface="Helvetica Neue"/>
              </a:rPr>
              <a:t>5.03x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950ADB-CB8D-4B8A-A197-EEA5CEE3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4765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$8.8M net savings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251905-8E69-4993-95D9-40176F6E0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3377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F49D19-0DD7-4E42-8DE9-BDAD2E9B6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433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21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Prioritize emergency admissions, skilled nursing discharges, high chronic-condition burden, and repeat admissions.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EE77E0-8C40-45E4-9C2E-AD8142EED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862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B45328-2F3E-474A-ABF5-A32ACCD9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957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Use an explainable pre-discharge risk score so care teams can intervene before patients leave the hospital.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A4F077-1F29-4E7A-BAC0-1A83841E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3867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FD1A10-05F4-4D66-B5D4-8A1AB827E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482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Build the executive dashboard in Tableau or Power BI using the prepared extract and KPI definitions.</a:t>
            </a:r>
          </a:p>
        </p:txBody>
      </p:sp>
    </p:spTree>
    <p:extLst>
      <p:ext uri="{BB962C8B-B14F-4D97-AF65-F5344CB8AC3E}">
        <p14:creationId xmlns:p14="http://schemas.microsoft.com/office/powerpoint/2010/main" val="2877910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E16C75-FBC7-4C15-B23E-DDB71FE75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0BA108-6A30-4FBD-B810-955AAB4B6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BAE0A1-668F-4B3D-9564-6E8950007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BUSINESS 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E05F84-67E6-4CF6-837D-9EB8C4BCF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Readmissions Are Moving In The Wrong Direction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4AF7CF-E3AF-4A22-8D58-4FF7E830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627083-EBD7-4CB4-82D0-604B74FF5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96B7B6-7223-4CFA-AB00-E37A1CDE8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685800" y="1638300"/>
          <a:ext xmlns:a="http://schemas.openxmlformats.org/drawingml/2006/main" cx="53340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08d729e3edd4a8c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92F078-0632-403A-A6A7-1838B42E6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5737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DC26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DC2626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1E6AE3-1D1A-437C-AD1D-AECD432B2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86690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634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Readmissions increased from 14.2% in 2022 to 18.4% in 2025.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671F05-ACEB-47A1-B79C-4FA31EF68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765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DC26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DC2626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BC612E-2567-4E07-BB32-BCA5CBCC0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68605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675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Leadership estimates more than $42M in annual readmission-related cost.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710B36-3D48-4B75-A9A0-96D46AE64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9567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DC262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DC2626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DD80BC-910F-412E-825F-5648298DD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50520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675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The challenge affects patient outcomes, inpatient capacity, staff workload, and CMS penalty exposure.</a:t>
            </a:r>
          </a:p>
        </p:txBody>
      </p:sp>
    </p:spTree>
    <p:extLst>
      <p:ext uri="{BB962C8B-B14F-4D97-AF65-F5344CB8AC3E}">
        <p14:creationId xmlns:p14="http://schemas.microsoft.com/office/powerpoint/2010/main" val="2511461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3850A-58E4-486C-84EC-FC67E505C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747CF3-B703-4F68-B915-8367D245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77FEC7-27FC-4471-B3FC-3EE1C4A00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DATA OVERVIEW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2AAC38-2F4F-40E7-88B5-F4C5BA326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Integrated Data Foundation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B3847B-60A5-45E2-89C6-B5BF6223E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267C47-C243-4932-836C-5C178133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25705B-38CC-4A83-BE2D-A692C59F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85800" y="1600200"/>
          <a:ext xmlns:a="http://schemas.openxmlformats.org/drawingml/2006/main" cx="5334000" cy="2476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697182"/>
                <a:gridCol w="969818"/>
                <a:gridCol w="2667000"/>
              </a:tblGrid>
              <a:tr h="619125"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Dataset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Records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Role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Patient readmissions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12,000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Clinical profile and target</a:t>
                      </a:r>
                    </a:p>
                  </a:txBody>
                  <a:tcPr marL="91440" marR="91440" marT="45720" marB="45720"/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Financial impact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12,000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Cost, penalty, and reimbursement fields</a:t>
                      </a:r>
                    </a:p>
                  </a:txBody>
                  <a:tcPr marL="91440" marR="91440" marT="45720" marB="45720"/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Care coordination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12,000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Intervention and follow-up activity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graphicFrame>
        <p:nvGraphicFramePr>
          <p:cNvPr id="19" name=""/>
          <p:cNvGraphicFramePr/>
          <p:nvPr/>
        </p:nvGraphicFramePr>
        <p:xfrm>
          <a:off xmlns:a="http://schemas.openxmlformats.org/drawingml/2006/main" x="6457950" y="1600200"/>
          <a:ext xmlns:a="http://schemas.openxmlformats.org/drawingml/2006/main" cx="4953000" cy="3048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857375"/>
                <a:gridCol w="866775"/>
                <a:gridCol w="2228850"/>
              </a:tblGrid>
              <a:tr h="508000"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Data quality issue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Records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Rate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follow-up status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2,587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21.6%</a:t>
                      </a:r>
                    </a:p>
                  </a:txBody>
                  <a:tcPr marL="91440" marR="91440" marT="45720" marB="45720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insurance type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240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2.0%</a:t>
                      </a:r>
                    </a:p>
                  </a:txBody>
                  <a:tcPr marL="91440" marR="91440" marT="45720" marB="45720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length of stay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240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2.0%</a:t>
                      </a:r>
                    </a:p>
                  </a:txBody>
                  <a:tcPr marL="91440" marR="91440" marT="45720" marB="45720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penalty cost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240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2.0%</a:t>
                      </a:r>
                    </a:p>
                  </a:txBody>
                  <a:tcPr marL="91440" marR="91440" marT="45720" marB="45720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follow-up program cost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240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2.0%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30D372-3F31-4359-9DB3-72737628F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1970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Join key: patient_id. All source files match cleanly across the 12,000-patient analytical sample.</a:t>
            </a:r>
          </a:p>
        </p:txBody>
      </p:sp>
    </p:spTree>
    <p:extLst>
      <p:ext uri="{BB962C8B-B14F-4D97-AF65-F5344CB8AC3E}">
        <p14:creationId xmlns:p14="http://schemas.microsoft.com/office/powerpoint/2010/main" val="19064204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FAA30B-9727-47E2-BD1D-7BAE49D9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92A9CF-807E-49FC-BAF3-4B77396BB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405060-BF4D-4954-A161-E8BCC5B24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CLINICAL ANALYSIS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A24B55-B553-40E1-BA43-111CF587D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High-Risk Segments Are Clinically Intuitive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1FFC33-6BD5-489E-8FA8-7BCF0559A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3D3EFE-95AE-41CA-946B-E444874EC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979A5-0182-4811-B532-029C141F9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685800" y="1581150"/>
          <a:ext xmlns:a="http://schemas.openxmlformats.org/drawingml/2006/main" cx="619125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787c60b10d34c27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B7357E-CAEC-4110-B5BE-342960BEC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1927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F434E7-F8E5-4F84-9AF7-D882EB1F2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8288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675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Emergency admissions have a 50.9% observed readmission rate.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EB97BD-3871-4189-A9DB-E4CC7951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765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F1B6C1-4585-48EE-83B9-0C2374D4D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6860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675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Skilled nursing discharge and higher chronic-condition burden signal elevated risk.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1464D7-20B3-43AF-9A8C-6944D30C0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3377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E0E263-31C4-4271-B516-F00D7647B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5433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675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Prior admissions remain one of the strongest clinical predictors.</a:t>
            </a:r>
          </a:p>
        </p:txBody>
      </p:sp>
    </p:spTree>
    <p:extLst>
      <p:ext uri="{BB962C8B-B14F-4D97-AF65-F5344CB8AC3E}">
        <p14:creationId xmlns:p14="http://schemas.microsoft.com/office/powerpoint/2010/main" val="19331113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A7FB3D-6A63-49F8-8FE5-920CD4E3C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F52EDE-C4B0-47BD-A924-64D32D82A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5AC199-1C9A-4307-B0FD-80A5A663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PREDICTIVE MODELING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489640-C6F5-4709-AAE8-BEF804EE7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Expanded Clinical Model Improves Risk Detection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646B30-4E57-476F-81A5-654C902D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F819A5-6ED7-4321-8202-85977E35C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1909FC-33CF-4104-943B-0EEF1B5C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57150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4b286d63c6e4923"/>
          </a:graphicData>
        </a:graphic>
      </p:graphicFrame>
      <p:graphicFrame>
        <p:nvGraphicFramePr>
          <p:cNvPr id="18" name=""/>
          <p:cNvGraphicFramePr/>
          <p:nvPr/>
        </p:nvGraphicFramePr>
        <p:xfrm>
          <a:off xmlns:a="http://schemas.openxmlformats.org/drawingml/2006/main" x="6934200" y="1581150"/>
          <a:ext xmlns:a="http://schemas.openxmlformats.org/drawingml/2006/main" cx="4095750" cy="3333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30500"/>
                <a:gridCol w="1365250"/>
              </a:tblGrid>
              <a:tr h="476250"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Top model driver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Coefficient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Prior Admissions 12m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0.54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Chronic Conditions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0.53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Emergency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0.46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Length Of Stay Days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0.38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Age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0.35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Skilled Nursing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0.22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154864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A65A2D-963F-4478-A9F0-B2966C00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D880B1-8357-4B76-A270-79EA0435A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000E12-FA1A-4DA2-86D2-0228F68D3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OPERATIONAL USE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E905B5-59F3-4E1E-A52C-059F95781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Risk Deciles Separate Readmission Rates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8DE4B1-1CF3-41C3-B148-06869691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50A5CA-4305-4765-A80A-527072AC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5DB549-0155-4543-9BB0-C3C00001A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685800" y="1581150"/>
          <a:ext xmlns:a="http://schemas.openxmlformats.org/drawingml/2006/main" cx="723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e4afa9698eb448a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22B02A-DF32-4961-9F3D-44E23A782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09750"/>
            <a:ext cx="26289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253385-CDA6-434C-B9C9-86612111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0383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258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E53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E5360"/>
                </a:solidFill>
                <a:latin typeface="Helvetica Neue"/>
                <a:ea typeface="Helvetica Neue"/>
                <a:cs typeface="Helvetica Neue"/>
              </a:rPr>
              <a:t>Recommended operating rule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793E1A-8E61-433C-BE81-F4C0AA36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495550"/>
            <a:ext cx="2190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088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Start with deciles 8-10 for enhanced discharge review, then tune capacity thresholds with care coordination leadership.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7C7832-F0FE-427A-B422-80B7381D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943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64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rPr>
              <a:t>Top decile rate: 82.3%</a:t>
            </a:r>
          </a:p>
        </p:txBody>
      </p:sp>
    </p:spTree>
    <p:extLst>
      <p:ext uri="{BB962C8B-B14F-4D97-AF65-F5344CB8AC3E}">
        <p14:creationId xmlns:p14="http://schemas.microsoft.com/office/powerpoint/2010/main" val="8140024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DF4BE7-D3AF-4AB4-A14A-D75074A79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6C5F30-6C14-4980-9410-9FE02E7DC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C1BDA8-474B-4C81-9B1F-B30EC357A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CARE COORDINATION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2DE8DA-BB46-41E8-8078-598AA240E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Care Coordination Results Need Causal Caution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188167-EC8D-40D7-8908-9BD60877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8F3BB7-3E63-4796-A64D-920B15DC4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55BF2B-C3F0-425F-8B3A-757286C76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685800" y="1581150"/>
          <a:ext xmlns:a="http://schemas.openxmlformats.org/drawingml/2006/main" cx="619125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44fde82380842ff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27BEAE-D48A-41C8-B322-E332A9DAC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0497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4B7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E4B73D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A1D747-C62D-4A01-9910-608730CE9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145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1053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Observed differences are associations, not causal estimates.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A54CBD-0F3F-47CD-909B-522E8D8B0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003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4B7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E4B73D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4CFABA-0CA4-4620-9D87-9713C7E7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6098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1053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Higher-risk patients may receive more support, which can lift raw intervention readmission rates.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02A7C7-EF15-43EB-A361-2D2ABD3F3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9567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4B7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E4B73D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9A48CB-6EA0-4640-BE15-CBE5814C2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5052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1053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Priority should be timing, targeting, and completion for patients with high pre-discharge risk.</a:t>
            </a:r>
          </a:p>
        </p:txBody>
      </p:sp>
    </p:spTree>
    <p:extLst>
      <p:ext uri="{BB962C8B-B14F-4D97-AF65-F5344CB8AC3E}">
        <p14:creationId xmlns:p14="http://schemas.microsoft.com/office/powerpoint/2010/main" val="12088621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1DBB1E-B39C-47CE-B743-D2B86479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032C2-88E3-4A8C-BCF3-6471FDD9A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5BEFFC-BC5C-49D4-ADF7-F2BF03B0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FINANCIAL IMPACT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F760E7-E9EB-4CDB-AE40-C34D9174A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Financial Exposure Is Material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85ACB8-EB7B-4DE1-B662-0E35BF70F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EBF4D9-5452-4BAE-9A93-22172CDF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F32EA2-673D-4E6D-AE90-D459CF0E3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685800" y="1581150"/>
          <a:ext xmlns:a="http://schemas.openxmlformats.org/drawingml/2006/main" cx="59055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53b0d3fc98a41de"/>
          </a:graphicData>
        </a:graphic>
      </p:graphicFrame>
      <p:graphicFrame>
        <p:nvGraphicFramePr>
          <p:cNvPr id="19" name=""/>
          <p:cNvGraphicFramePr/>
          <p:nvPr/>
        </p:nvGraphicFramePr>
        <p:xfrm>
          <a:off xmlns:a="http://schemas.openxmlformats.org/drawingml/2006/main" x="7124700" y="1809750"/>
          <a:ext xmlns:a="http://schemas.openxmlformats.org/drawingml/2006/main" cx="4000500" cy="1809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238250"/>
                <a:gridCol w="857250"/>
                <a:gridCol w="952500"/>
                <a:gridCol w="952500"/>
              </a:tblGrid>
              <a:tr h="603250"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Group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Patients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Total cost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Penalty cost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</a:tr>
              <a:tr h="60325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Not readmitted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6,816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$172.1M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$12.1M</a:t>
                      </a:r>
                    </a:p>
                  </a:txBody>
                  <a:tcPr marL="91440" marR="91440" marT="45720" marB="45720"/>
                </a:tc>
              </a:tr>
              <a:tr h="60325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Readmitted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5,184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$131.0M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$9.1M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CD6514-0F7F-4698-92DB-1E97831B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57650"/>
            <a:ext cx="3905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055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Financial estimates should use nonnegative fields and scenario sensitivity because the raw file contains missing and negative financial values.</a:t>
            </a:r>
          </a:p>
        </p:txBody>
      </p:sp>
    </p:spTree>
    <p:extLst>
      <p:ext uri="{BB962C8B-B14F-4D97-AF65-F5344CB8AC3E}">
        <p14:creationId xmlns:p14="http://schemas.microsoft.com/office/powerpoint/2010/main" val="8879666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FFAC0A-6798-49D9-B6CB-1DE6A49F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30ECA4-BE58-45F2-8E51-A058C2DE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4775DD-A45B-4E9A-9780-3B9AA218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EXECUTIVE DASHBOARD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A83C61-BF54-4C44-8EBC-AC26F4D1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Dashboard Build Plan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3BF97B-7B88-401C-A62A-2BE5EC84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85681C-7E14-4F9F-8E03-025477B5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857D68-A153-4821-ACD4-BFD82419C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graphicFrame>
        <p:nvGraphicFramePr>
          <p:cNvPr id="23" name=""/>
          <p:cNvGraphicFramePr/>
          <p:nvPr/>
        </p:nvGraphicFramePr>
        <p:xfrm>
          <a:off xmlns:a="http://schemas.openxmlformats.org/drawingml/2006/main" x="666750" y="1714500"/>
          <a:ext xmlns:a="http://schemas.openxmlformats.org/drawingml/2006/main" cx="7620000" cy="32575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945532"/>
                <a:gridCol w="2269787"/>
                <a:gridCol w="3404681"/>
              </a:tblGrid>
              <a:tr h="542925"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Page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Purpose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Primary visuals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Executive KPI Summary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Board-level status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KPI cards, risk decile chart, recommendation table</a:t>
                      </a:r>
                    </a:p>
                  </a:txBody>
                  <a:tcPr marL="91440" marR="91440" marT="45720" marB="45720"/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Clinical Analytics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Risk drivers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Age, diagnosis, chronic burden, prior admissions</a:t>
                      </a:r>
                    </a:p>
                  </a:txBody>
                  <a:tcPr marL="91440" marR="91440" marT="45720" marB="45720"/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Financial Analytics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Cost exposure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Cost components, penalty exposure, ROI scenarios</a:t>
                      </a:r>
                    </a:p>
                  </a:txBody>
                  <a:tcPr marL="91440" marR="91440" marT="45720" marB="45720"/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Care Coordination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Operational execution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Intervention completion and follow-up timing</a:t>
                      </a:r>
                    </a:p>
                  </a:txBody>
                  <a:tcPr marL="91440" marR="91440" marT="45720" marB="45720"/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Recommendation Center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Management actions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Priority matrix, roadmap, success metrics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04BE71-57A6-4B2D-8A5F-04F26C86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8288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REQUIRED TOOL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32AB8A-51C9-4820-A361-4CBC71A4B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9550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458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rPr>
              <a:t>Tableau or Power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63A92E-EE22-48DF-B8AB-F09A7644F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5146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Build package included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662AA0-ED75-4C5E-9437-7BE8B19CC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9565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DASHBOARD ROWS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7F34F2-373C-4A4C-AD44-CE6EBCAD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6235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556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12,000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D3F808-ACA9-4926-B6BC-3CC94A36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814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One row per patient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7A758F-2C13-42C2-A279-19AB63417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57750"/>
            <a:ext cx="238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9203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Use dashboard_ready_extract.csv plus the KPI and measure definition files in section 08.</a:t>
            </a:r>
          </a:p>
        </p:txBody>
      </p:sp>
    </p:spTree>
    <p:extLst>
      <p:ext uri="{BB962C8B-B14F-4D97-AF65-F5344CB8AC3E}">
        <p14:creationId xmlns:p14="http://schemas.microsoft.com/office/powerpoint/2010/main" val="103846089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FE391E-2DC6-479E-A31F-CA9786062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2E735E-B3BA-4B90-9057-938E7E77D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BB7685-FDBD-44A7-9E28-76E801DE8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STRATEGY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3BE217-6004-4312-8612-5F07E3AC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Recommendations Link Directly To 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1510D0-2B74-47BE-A028-48C746C8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069052-7A50-410D-AF9E-435690D5F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898F5E-9DB8-40DC-BFC8-4C00BCA24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685800" y="1714500"/>
          <a:ext xmlns:a="http://schemas.openxmlformats.org/drawingml/2006/main" cx="9715500" cy="35052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067128"/>
                <a:gridCol w="5994670"/>
                <a:gridCol w="1653702"/>
              </a:tblGrid>
              <a:tr h="584200"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Recommendation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Evidence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Timing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Risk score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Expanded clinical model ROC-AUC is 0.74 and risk deciles separate observed readmission rates.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0-3 months</a:t>
                      </a:r>
                    </a:p>
                  </a:txBody>
                  <a:tcPr marL="91440" marR="91440" marT="45720" marB="45720"/>
                </a:tc>
              </a:tr>
              <a:tr h="5842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Discharge review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Emergency admissions and skilled nursing discharges show elevated readmission rates.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0-3 months</a:t>
                      </a:r>
                    </a:p>
                  </a:txBody>
                  <a:tcPr marL="91440" marR="91440" marT="45720" marB="45720"/>
                </a:tc>
              </a:tr>
              <a:tr h="5842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Follow-up gaps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Unknown follow-up status has the highest observed readmission rate and 2,587 records lack follow-up status.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0-3 months</a:t>
                      </a:r>
                    </a:p>
                  </a:txBody>
                  <a:tcPr marL="91440" marR="91440" marT="45720" marB="45720"/>
                </a:tc>
              </a:tr>
              <a:tr h="5842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Targeted care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Patients with 5+ chronic conditions and 3+ prior admissions show materially higher readmission rates.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3-6 months</a:t>
                      </a:r>
                    </a:p>
                  </a:txBody>
                  <a:tcPr marL="91440" marR="91440" marT="45720" marB="45720"/>
                </a:tc>
              </a:tr>
              <a:tr h="5842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Dashboard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project requires integrated clinical, financial, and operational reporting for executive decisions.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3-6 months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20B77F-F7B9-4892-B88A-EB91EB24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46735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1111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Highest priority: risk score, discharge review, follow-up documentation, targeted care, and executive reporting.</a:t>
            </a:r>
          </a:p>
        </p:txBody>
      </p:sp>
    </p:spTree>
    <p:extLst>
      <p:ext uri="{BB962C8B-B14F-4D97-AF65-F5344CB8AC3E}">
        <p14:creationId xmlns:p14="http://schemas.microsoft.com/office/powerpoint/2010/main" val="151750240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247C56-7D3D-449F-8AAF-11B56B523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74EC70-1356-43A8-8395-4BF2CF98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437755-C28E-492E-983A-4D680E6E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ROI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E17BD3-EADC-42AB-8128-86736F2BA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Expected Scenario Produces $8.8M Net Savings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857D1B-BCC7-41F1-82AB-5884D5BBB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915516-827C-42A1-922D-8A745A0A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192526-01E4-4EC0-A7F6-922B0C97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685800" y="1581150"/>
          <a:ext xmlns:a="http://schemas.openxmlformats.org/drawingml/2006/main" cx="53340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e212f1ca535414b"/>
          </a:graphicData>
        </a:graphic>
      </p:graphicFrame>
      <p:graphicFrame>
        <p:nvGraphicFramePr>
          <p:cNvPr id="19" name=""/>
          <p:cNvGraphicFramePr/>
          <p:nvPr/>
        </p:nvGraphicFramePr>
        <p:xfrm>
          <a:off xmlns:a="http://schemas.openxmlformats.org/drawingml/2006/main" x="6591300" y="1790700"/>
          <a:ext xmlns:a="http://schemas.openxmlformats.org/drawingml/2006/main" cx="4762500" cy="22669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992188"/>
                <a:gridCol w="892969"/>
                <a:gridCol w="1190625"/>
                <a:gridCol w="992188"/>
                <a:gridCol w="694531"/>
              </a:tblGrid>
              <a:tr h="566738"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Scenario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Reduction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Avoided readmissions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Net savings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ROI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</a:tr>
              <a:tr h="56673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Conservative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5.0%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259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$4.3M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4.28x</a:t>
                      </a:r>
                    </a:p>
                  </a:txBody>
                  <a:tcPr marL="91440" marR="91440" marT="45720" marB="45720"/>
                </a:tc>
              </a:tr>
              <a:tr h="56673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Expected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10.0%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518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$8.8M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5.03x</a:t>
                      </a:r>
                    </a:p>
                  </a:txBody>
                  <a:tcPr marL="91440" marR="91440" marT="45720" marB="45720"/>
                </a:tc>
              </a:tr>
              <a:tr h="56673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Optimistic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15.0%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778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$13.4M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5.34x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C0FDBC-9D02-4091-BF63-82BABF8A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33900"/>
            <a:ext cx="4343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Assumptions need final validation with Finance before they are treated as budget commitments.</a:t>
            </a:r>
          </a:p>
        </p:txBody>
      </p:sp>
    </p:spTree>
    <p:extLst>
      <p:ext uri="{BB962C8B-B14F-4D97-AF65-F5344CB8AC3E}">
        <p14:creationId xmlns:p14="http://schemas.microsoft.com/office/powerpoint/2010/main" val="27645207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191E56-36D9-4FBA-8658-CDCC42F6F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80293D-30DF-4EBD-A1C8-E9FCA8234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F26374-C628-43C2-B291-CC61CDFF7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IMPLEMENTATION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19FBF9-BA4E-4FFB-BCED-2F55CC4C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12-Month Implementation Roadmap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73FA37-B1AD-49A1-BACF-A86EC81B4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85874D-2EB7-4AA2-891C-D70CD8E6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10FB19-F28D-4756-ADA9-38776A1C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85800" y="1714500"/>
          <a:ext xmlns:a="http://schemas.openxmlformats.org/drawingml/2006/main" cx="9906000" cy="3905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386840"/>
                <a:gridCol w="5349240"/>
                <a:gridCol w="3169920"/>
              </a:tblGrid>
              <a:tr h="488156"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Phase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Initiative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Owner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</a:tr>
              <a:tr h="488156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0-3 months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Approve dashboard KPIs, risk model governance, and readmission reduction targets.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Executive sponsor and analytics lead</a:t>
                      </a:r>
                    </a:p>
                  </a:txBody>
                  <a:tcPr marL="91440" marR="91440" marT="45720" marB="45720"/>
                </a:tc>
              </a:tr>
              <a:tr h="488156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0-3 months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Pilot pre-discharge risk scoring for emergency admissions and skilled nursing discharges.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Clinical operations and analytics</a:t>
                      </a:r>
                    </a:p>
                  </a:txBody>
                  <a:tcPr marL="91440" marR="91440" marT="45720" marB="45720"/>
                </a:tc>
              </a:tr>
              <a:tr h="488156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0-3 months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Fix follow-up status documentation workflow and missing-value monitoring.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Care coordination leadership</a:t>
                      </a:r>
                    </a:p>
                  </a:txBody>
                  <a:tcPr marL="91440" marR="91440" marT="45720" marB="45720"/>
                </a:tc>
              </a:tr>
              <a:tr h="488156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3-6 months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Expand targeted care coordination for high-risk chronic disease and prior-admission groups.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Care coordination leadership</a:t>
                      </a:r>
                    </a:p>
                  </a:txBody>
                  <a:tcPr marL="91440" marR="91440" marT="45720" marB="45720"/>
                </a:tc>
              </a:tr>
              <a:tr h="488156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3-6 months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Build Tableau or Power BI dashboard using the prepared dashboard extract.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BI team</a:t>
                      </a:r>
                    </a:p>
                  </a:txBody>
                  <a:tcPr marL="91440" marR="91440" marT="45720" marB="45720"/>
                </a:tc>
              </a:tr>
              <a:tr h="488156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6-12 months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Track ROI, readmission reduction, CMS penalty exposure, and intervention performance monthly.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Finance and quality leadership</a:t>
                      </a:r>
                    </a:p>
                  </a:txBody>
                  <a:tcPr marL="91440" marR="91440" marT="45720" marB="45720"/>
                </a:tc>
              </a:tr>
              <a:tr h="488156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6-12 months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Refresh and validate the risk model with new outcomes and operational feedback.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Analytics and clinical governance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940807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B22CC9-775E-4E61-9D3B-E885B0C6C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A6A00E-53A1-4AC0-98A4-2678D070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D6FED3-F2F6-4DCF-B47B-602C103E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MEASUREMENT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58B553-F252-4AB4-AD90-360E17DCA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Success Measures And Governance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75CB6D-A69B-4353-A7FE-5317E07A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345EE8-AD29-4D10-B3F8-0C9A7003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6781C1-DFC0-468A-BB4B-95DE18DE3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graphicFrame>
        <p:nvGraphicFramePr>
          <p:cNvPr id="22" name=""/>
          <p:cNvGraphicFramePr/>
          <p:nvPr/>
        </p:nvGraphicFramePr>
        <p:xfrm>
          <a:off xmlns:a="http://schemas.openxmlformats.org/drawingml/2006/main" x="685800" y="1714500"/>
          <a:ext xmlns:a="http://schemas.openxmlformats.org/drawingml/2006/main" cx="7048500" cy="3238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294622"/>
                <a:gridCol w="2445398"/>
                <a:gridCol w="1582316"/>
                <a:gridCol w="1726163"/>
              </a:tblGrid>
              <a:tr h="462643"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Dimension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Metric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Target direction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</a:t>
                      </a:r>
                    </a:p>
                  </a:txBody>
                  <a:tcPr marL="91440" marR="91440" marT="45720" marB="45720">
                    <a:solidFill>
                      <a:srgbClr val="0E5360"/>
                    </a:solidFill>
                  </a:tcPr>
                </a:tc>
              </a:tr>
              <a:tr h="46264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Clinical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Readmission rate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Decrease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Dashboard extract</a:t>
                      </a:r>
                    </a:p>
                  </a:txBody>
                  <a:tcPr marL="91440" marR="91440" marT="45720" marB="45720"/>
                </a:tc>
              </a:tr>
              <a:tr h="46264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Clinical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High-risk patient intervention completion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Increase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Care coordination data</a:t>
                      </a:r>
                    </a:p>
                  </a:txBody>
                  <a:tcPr marL="91440" marR="91440" marT="45720" marB="45720"/>
                </a:tc>
              </a:tr>
              <a:tr h="46264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Financial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CMS penalty exposure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Decrease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Financial impact data</a:t>
                      </a:r>
                    </a:p>
                  </a:txBody>
                  <a:tcPr marL="91440" marR="91440" marT="45720" marB="45720"/>
                </a:tc>
              </a:tr>
              <a:tr h="46264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Financial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Net savings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Increase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ROI scenario model</a:t>
                      </a:r>
                    </a:p>
                  </a:txBody>
                  <a:tcPr marL="91440" marR="91440" marT="45720" marB="45720"/>
                </a:tc>
              </a:tr>
              <a:tr h="46264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Operational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Unknown follow-up status rate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Decrease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Patient readmission data</a:t>
                      </a:r>
                    </a:p>
                  </a:txBody>
                  <a:tcPr marL="91440" marR="91440" marT="45720" marB="45720"/>
                </a:tc>
              </a:tr>
              <a:tr h="462643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Analytics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Model ROC-AUC and recall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Maintain or improve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0B2A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Model evaluation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08D740-5D49-4345-969E-24BA8B39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240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FB9C50-2E4D-40B0-B720-98287A1CB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7335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68131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Monthly executive review of readmission rate, penalties, net savings, and intervention completion.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97FA47-D6FC-42D7-8F7A-A6DEB1EC9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6384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431BDB-F89F-4D9C-A531-76DCA38D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6479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Quarterly model refresh review with clinical governance.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3DC517-3E5B-4A43-9115-5840558CD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528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F6B78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8A276A-3413-4B06-A455-1395DEC0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5623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Dashboard data quality checks before every executive reporting cycle.</a:t>
            </a:r>
          </a:p>
        </p:txBody>
      </p:sp>
    </p:spTree>
    <p:extLst>
      <p:ext uri="{BB962C8B-B14F-4D97-AF65-F5344CB8AC3E}">
        <p14:creationId xmlns:p14="http://schemas.microsoft.com/office/powerpoint/2010/main" val="104343413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8575E5-D0E2-4DFA-93EF-4B024A0F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360"/>
          </a:solidFill>
          <a:ln xmlns:a="http://schemas.openxmlformats.org/drawingml/2006/main" w="0">
            <a:solidFill>
              <a:srgbClr val="0E536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3DA75A-5A47-455C-9808-48E376504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6F75"/>
                </a:solidFill>
                <a:latin typeface="Helvetica Neue"/>
                <a:ea typeface="Helvetica Neue"/>
                <a:cs typeface="Helvetica Neue"/>
              </a:rPr>
              <a:t>Meds Consulting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3D5F78-E733-4D83-837C-76FEAA1AF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16773"/>
                </a:solidFill>
                <a:latin typeface="Helvetica Neue"/>
                <a:ea typeface="Helvetica Neue"/>
                <a:cs typeface="Helvetica Neue"/>
              </a:rPr>
              <a:t>CLOSE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EC1582-222B-4637-98F1-FE56545A8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Board Decision Points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393B7B-7A46-4BF8-B4B2-9BE54C1C4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4B7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6B2FB2-33B0-4C85-9EE2-40A5BE9D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FE0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8BF13E-726A-4419-A9C5-0D2C7F551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6808A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analysis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BE27CF-5B59-4B87-931F-4F3E7E80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7240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A3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6A34A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A17AD4-EC98-4659-A047-E860477E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7335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Approve a pilot for pre-discharge readmission risk scoring.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681293-E634-4857-A786-207B1F06F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622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A3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6A34A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C79291-C76F-4984-9EA9-F1A24684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5717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Approve dashboard development in Tableau or Power BI.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1FC08-3DF3-4BFE-87EF-EC9FDF42D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004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A3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6A34A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40699B-E916-4680-A6C8-96831769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099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Approve follow-up documentation workflow improvements.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371132-DD4F-47D9-9309-1BBF10AA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386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94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A3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6A34A"/>
                </a:solidFill>
                <a:latin typeface="Helvetica Neue"/>
                <a:ea typeface="Helvetica Neue"/>
                <a:cs typeface="Helvetica Neue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332C8C-72A0-4E3B-A0E6-FC38FA9FB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2481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B2A33"/>
                </a:solidFill>
                <a:latin typeface="Helvetica Neue"/>
                <a:ea typeface="Helvetica Neue"/>
                <a:cs typeface="Helvetica Neue"/>
              </a:rPr>
              <a:t>Validate implementation cost assumptions for ROI tracking.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D2E541-1524-4572-A10B-30D43EEE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314950"/>
            <a:ext cx="9334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083CF2-0050-4706-98A9-CE45D25B6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46735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8825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665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66534"/>
                </a:solidFill>
                <a:latin typeface="Helvetica Neue"/>
                <a:ea typeface="Helvetica Neue"/>
                <a:cs typeface="Helvetica Neue"/>
              </a:rPr>
              <a:t>Recommended decision: fund the 0-3 month pilot and dashboard build, then review ROI monthly.</a:t>
            </a:r>
          </a:p>
        </p:txBody>
      </p:sp>
    </p:spTree>
    <p:extLst>
      <p:ext uri="{BB962C8B-B14F-4D97-AF65-F5344CB8AC3E}">
        <p14:creationId xmlns:p14="http://schemas.microsoft.com/office/powerpoint/2010/main" val="5817535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2026-09-18T18:47:21.9460000Z</dcterms:created>
  <dcterms:modified xsi:type="dcterms:W3CDTF">2026-09-18T18:47:21.9460000Z</dcterms:modified>
</coreProperties>
</file>