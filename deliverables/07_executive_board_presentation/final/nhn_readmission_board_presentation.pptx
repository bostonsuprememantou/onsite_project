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6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7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354916c1b240cf" /><Relationship Type="http://schemas.openxmlformats.org/officeDocument/2006/relationships/extended-properties" Target="/docProps/app.xml" Id="R53da81624ae249fb" /><Relationship Type="http://schemas.openxmlformats.org/officeDocument/2006/relationships/officeDocument" Target="/ppt/presentation.xml" Id="R10c747abcf5640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8c7291d28645b7"/>
  </p:sldMasterIdLst>
  <p:notesMasterIdLst>
    <p:notesMasterId xmlns:r="http://schemas.openxmlformats.org/officeDocument/2006/relationships" r:id="Rf80748d49a204cb0"/>
  </p:notesMasterIdLst>
  <p:sldIdLst>
    <p:sldId xmlns:r="http://schemas.openxmlformats.org/officeDocument/2006/relationships" id="256" r:id="R09f034d214c44bbc"/>
    <p:sldId xmlns:r="http://schemas.openxmlformats.org/officeDocument/2006/relationships" id="257" r:id="R5fd6fa4608fa4a49"/>
    <p:sldId xmlns:r="http://schemas.openxmlformats.org/officeDocument/2006/relationships" id="258" r:id="Rc7f4198a6b434252"/>
    <p:sldId xmlns:r="http://schemas.openxmlformats.org/officeDocument/2006/relationships" id="259" r:id="Rbfba2d1cd4b34a6a"/>
    <p:sldId xmlns:r="http://schemas.openxmlformats.org/officeDocument/2006/relationships" id="260" r:id="Ra240ff8394cd4e6c"/>
    <p:sldId xmlns:r="http://schemas.openxmlformats.org/officeDocument/2006/relationships" id="261" r:id="R549b295a97b94020"/>
    <p:sldId xmlns:r="http://schemas.openxmlformats.org/officeDocument/2006/relationships" id="262" r:id="R1604128c85c7422a"/>
    <p:sldId xmlns:r="http://schemas.openxmlformats.org/officeDocument/2006/relationships" id="263" r:id="R0cc1a80b40f84e72"/>
    <p:sldId xmlns:r="http://schemas.openxmlformats.org/officeDocument/2006/relationships" id="264" r:id="Rb04c3a1270b346e3"/>
    <p:sldId xmlns:r="http://schemas.openxmlformats.org/officeDocument/2006/relationships" id="265" r:id="R997aa3b63aa04b53"/>
    <p:sldId xmlns:r="http://schemas.openxmlformats.org/officeDocument/2006/relationships" id="266" r:id="Ra7210b3d6da44f36"/>
    <p:sldId xmlns:r="http://schemas.openxmlformats.org/officeDocument/2006/relationships" id="267" r:id="R7c839596696f4a2f"/>
    <p:sldId xmlns:r="http://schemas.openxmlformats.org/officeDocument/2006/relationships" id="268" r:id="R06e483fb30534cd1"/>
    <p:sldId xmlns:r="http://schemas.openxmlformats.org/officeDocument/2006/relationships" id="269" r:id="R51543605088041f3"/>
    <p:sldId xmlns:r="http://schemas.openxmlformats.org/officeDocument/2006/relationships" id="270" r:id="R9535caf8ae1e4d1f"/>
    <p:sldId xmlns:r="http://schemas.openxmlformats.org/officeDocument/2006/relationships" id="271" r:id="R963551852a9d4d1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a12a59be024806" /><Relationship Type="http://schemas.openxmlformats.org/officeDocument/2006/relationships/slideMaster" Target="/ppt/slideMasters/slideMaster1.xml" Id="R3a8c7291d28645b7" /><Relationship Type="http://schemas.openxmlformats.org/officeDocument/2006/relationships/notesMaster" Target="/ppt/notesMasters/notesMaster1.xml" Id="Rf80748d49a204cb0" /><Relationship Type="http://schemas.openxmlformats.org/officeDocument/2006/relationships/presProps" Target="/ppt/presProps.xml" Id="Ra943757cf1c0438a" /><Relationship Type="http://schemas.openxmlformats.org/officeDocument/2006/relationships/tableStyles" Target="/ppt/tableStyles.xml" Id="R4f8be83e9a444b96" /><Relationship Type="http://schemas.openxmlformats.org/officeDocument/2006/relationships/slide" Target="/ppt/slides/slide1.xml" Id="R09f034d214c44bbc" /><Relationship Type="http://schemas.openxmlformats.org/officeDocument/2006/relationships/slide" Target="/ppt/slides/slide2.xml" Id="R5fd6fa4608fa4a49" /><Relationship Type="http://schemas.openxmlformats.org/officeDocument/2006/relationships/slide" Target="/ppt/slides/slide3.xml" Id="Rc7f4198a6b434252" /><Relationship Type="http://schemas.openxmlformats.org/officeDocument/2006/relationships/slide" Target="/ppt/slides/slide4.xml" Id="Rbfba2d1cd4b34a6a" /><Relationship Type="http://schemas.openxmlformats.org/officeDocument/2006/relationships/slide" Target="/ppt/slides/slide5.xml" Id="Ra240ff8394cd4e6c" /><Relationship Type="http://schemas.openxmlformats.org/officeDocument/2006/relationships/slide" Target="/ppt/slides/slide6.xml" Id="R549b295a97b94020" /><Relationship Type="http://schemas.openxmlformats.org/officeDocument/2006/relationships/slide" Target="/ppt/slides/slide7.xml" Id="R1604128c85c7422a" /><Relationship Type="http://schemas.openxmlformats.org/officeDocument/2006/relationships/slide" Target="/ppt/slides/slide8.xml" Id="R0cc1a80b40f84e72" /><Relationship Type="http://schemas.openxmlformats.org/officeDocument/2006/relationships/slide" Target="/ppt/slides/slide9.xml" Id="Rb04c3a1270b346e3" /><Relationship Type="http://schemas.openxmlformats.org/officeDocument/2006/relationships/slide" Target="/ppt/slides/slide10.xml" Id="R997aa3b63aa04b53" /><Relationship Type="http://schemas.openxmlformats.org/officeDocument/2006/relationships/slide" Target="/ppt/slides/slide11.xml" Id="Ra7210b3d6da44f36" /><Relationship Type="http://schemas.openxmlformats.org/officeDocument/2006/relationships/slide" Target="/ppt/slides/slide12.xml" Id="R7c839596696f4a2f" /><Relationship Type="http://schemas.openxmlformats.org/officeDocument/2006/relationships/slide" Target="/ppt/slides/slide13.xml" Id="R06e483fb30534cd1" /><Relationship Type="http://schemas.openxmlformats.org/officeDocument/2006/relationships/slide" Target="/ppt/slides/slide14.xml" Id="R51543605088041f3" /><Relationship Type="http://schemas.openxmlformats.org/officeDocument/2006/relationships/slide" Target="/ppt/slides/slide15.xml" Id="R9535caf8ae1e4d1f" /><Relationship Type="http://schemas.openxmlformats.org/officeDocument/2006/relationships/slide" Target="/ppt/slides/slide16.xml" Id="R963551852a9d4d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97113ec7924f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465c45802f48b2" /><Relationship Type="http://schemas.openxmlformats.org/officeDocument/2006/relationships/notesMaster" Target="/ppt/notesMasters/notesMaster1.xml" Id="R7265e16bd910415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a4473fc69a4237" /><Relationship Type="http://schemas.openxmlformats.org/officeDocument/2006/relationships/notesMaster" Target="/ppt/notesMasters/notesMaster1.xml" Id="R680fecccf3a444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811472f28bd4a15" /><Relationship Type="http://schemas.openxmlformats.org/officeDocument/2006/relationships/notesMaster" Target="/ppt/notesMasters/notesMaster1.xml" Id="Rb488776960f14f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eabdfec1ed473e" /><Relationship Type="http://schemas.openxmlformats.org/officeDocument/2006/relationships/notesMaster" Target="/ppt/notesMasters/notesMaster1.xml" Id="R27e6a7d9568c4f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3a075e3b1f4f27" /><Relationship Type="http://schemas.openxmlformats.org/officeDocument/2006/relationships/notesMaster" Target="/ppt/notesMasters/notesMaster1.xml" Id="R869a6ca9753848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81864e37e9e4c47" /><Relationship Type="http://schemas.openxmlformats.org/officeDocument/2006/relationships/notesMaster" Target="/ppt/notesMasters/notesMaster1.xml" Id="R99f75edbf0b24c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d7585e0de146a8" /><Relationship Type="http://schemas.openxmlformats.org/officeDocument/2006/relationships/notesMaster" Target="/ppt/notesMasters/notesMaster1.xml" Id="Re6b4d1776346433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2e7ab61d8c04520" /><Relationship Type="http://schemas.openxmlformats.org/officeDocument/2006/relationships/notesMaster" Target="/ppt/notesMasters/notesMaster1.xml" Id="R620f676823e440e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ff6515a39e146a2" /><Relationship Type="http://schemas.openxmlformats.org/officeDocument/2006/relationships/notesMaster" Target="/ppt/notesMasters/notesMaster1.xml" Id="R42a050b154d149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89c679316414f36" /><Relationship Type="http://schemas.openxmlformats.org/officeDocument/2006/relationships/notesMaster" Target="/ppt/notesMasters/notesMaster1.xml" Id="Rced3ada9ffd541e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6fb602b8c5a41ad" /><Relationship Type="http://schemas.openxmlformats.org/officeDocument/2006/relationships/notesMaster" Target="/ppt/notesMasters/notesMaster1.xml" Id="R9c6e201d947d4d0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b2610e488941ba" /><Relationship Type="http://schemas.openxmlformats.org/officeDocument/2006/relationships/notesMaster" Target="/ppt/notesMasters/notesMaster1.xml" Id="R28181d5df2684bd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75957bdd18f4866" /><Relationship Type="http://schemas.openxmlformats.org/officeDocument/2006/relationships/notesMaster" Target="/ppt/notesMasters/notesMaster1.xml" Id="R7def2507acf84f4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dcd068e915b43ea" /><Relationship Type="http://schemas.openxmlformats.org/officeDocument/2006/relationships/notesMaster" Target="/ppt/notesMasters/notesMaster1.xml" Id="R6ca05ccfaf64450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ecf58a2edb44e05" /><Relationship Type="http://schemas.openxmlformats.org/officeDocument/2006/relationships/notesMaster" Target="/ppt/notesMasters/notesMaster1.xml" Id="Rfa74f9ff4ab8491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c90ba06e0ea46e3" /><Relationship Type="http://schemas.openxmlformats.org/officeDocument/2006/relationships/notesMaster" Target="/ppt/notesMasters/notesMaster1.xml" Id="R81e32314dd8242b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core ask: reduce avoidable readmissions while protecting quality, capacity, and financial performance. The opening metrics come from the integrated NHN analysis and ROI scenario 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INT-1, INT-2, INT-6, EXT-1.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summary combines clinical, financial, and operating findings into the Board-level decision path. Present the model as a staged risk input and keep the expected ROI as a planning scenario.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INT-6, EXT-1, EXT-7.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frame why the work matters before moving into the integrated data and analysis. The business problem should cover clinical quality, capacity, care workload, and financial exposure.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INT-1, EXT-1, EXT-3, EXT-4.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Call out that the data joins cleanly, while follow-up documentation and financial field quality remain limitations. These caveats should stay visible in the main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INT-3, INT-4, INT-5, INT-6.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 the high-risk segments back to operational decisions such as discharge review and care coordination assignment. Treat segment findings as observed risk patterns from the analysis 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INT-3, INT-6, EXT-3.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model is not positioned as a single decision engine. Use staged risk scoring, clinical rules, and operational review to balance recall and precision.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INT-6, EXT-7, EXT-8.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Risk deciles turn the model into an operational queue, but coverage should be broad and supported by clinical rules rather than a narrow decile-10-only pilot.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INT-6, EXT-7.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causal caveat visible, then make the stronger operational point: NHN should redesign targeting, timing, and intervention completion for high-risk patients.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INT-5, INT-6, EXT-5, EXT-6.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analysis gives a strong directional financial case while preserving data quality caveats. Use nonnegative financial fields and scenario sensitivity when presenting ROI.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INT-4, INT-6, EXT-1, EXT-4.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handoff from analytics to a Tableau executive dashboard build for presentation and executive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INT-2, INT-6, EXT-1.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table is structured for Board discussion. It keeps recommendations traceable to evidence and timing, with no single recommendation treated as the only strategy.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INT-6, EXT-5, EXT-6, EXT-7.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ROI slide should be presented as a planning scenario, not a guaranteed budget result. Retain the current implementation cost assumptions and ask Finance to validate them before budget commitment.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INT-4, INT-6, EXT-1, EXT-4.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roadmap as a staged implementation, starting with governance, pilot design, and data quality. The first native dashboard build path is Tableau.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INT-2, INT-6.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how the organization will know whether the program is working after launch. Include model monitoring so clinical governance can track drift, recall, and precision over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INT-6, EXT-7.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asking for concrete approvals tied to a controlled pilot and transparent measurement cadence. Reinforce the data caveats before presenting the funding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INT-2, EXT-1, EXT-7.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appendix slide when asked where the numbers and outside evidence came from. Full citations and internal source definitions are in REFERENCES.md.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References: INT-1, INT-2, INT-3, INT-4, INT-5, INT-6, EXT-1, EXT-2, EXT-3, EXT-4, EXT-5, EXT-6, EXT-7, EXT-8. Full citations are maintained in REFERENCES.md.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05119f7b2144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7129fa54f64a2a" /><Relationship Type="http://schemas.openxmlformats.org/officeDocument/2006/relationships/slideLayout" Target="/ppt/slideLayouts/slideLayout1.xml" Id="Rcd62bc10a77549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62bc10a77549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6d8db64dea4fd1" /><Relationship Type="http://schemas.openxmlformats.org/officeDocument/2006/relationships/notesSlide" Target="/ppt/notesSlides/notesSlide1.xml" Id="Ra7f5f81218c14a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611441765d4bbc" /><Relationship Type="http://schemas.openxmlformats.org/officeDocument/2006/relationships/notesSlide" Target="/ppt/notesSlides/notesSlide2.xml" Id="R2f9c6a35069f413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d944f3aa3b4a39" /><Relationship Type="http://schemas.openxmlformats.org/officeDocument/2006/relationships/chart" Target="/ppt/slides/charts/chart1.xml" Id="R945e4001f8e14085" /><Relationship Type="http://schemas.openxmlformats.org/officeDocument/2006/relationships/notesSlide" Target="/ppt/notesSlides/notesSlide3.xml" Id="R50dececa895d44d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be35b01390407f" /><Relationship Type="http://schemas.openxmlformats.org/officeDocument/2006/relationships/notesSlide" Target="/ppt/notesSlides/notesSlide4.xml" Id="R7809acc33b29478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a6af986cd4fcb" /><Relationship Type="http://schemas.openxmlformats.org/officeDocument/2006/relationships/chart" Target="/ppt/slides/charts/chart2.xml" Id="R197e08bf427942c9" /><Relationship Type="http://schemas.openxmlformats.org/officeDocument/2006/relationships/notesSlide" Target="/ppt/notesSlides/notesSlide5.xml" Id="Rfc7ca4c8124b48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0e97aa97e34301" /><Relationship Type="http://schemas.openxmlformats.org/officeDocument/2006/relationships/chart" Target="/ppt/slides/charts/chart3.xml" Id="R1e1ae4342807431e" /><Relationship Type="http://schemas.openxmlformats.org/officeDocument/2006/relationships/notesSlide" Target="/ppt/notesSlides/notesSlide6.xml" Id="Ra9025b6d01074b9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8cb6a99edd419c" /><Relationship Type="http://schemas.openxmlformats.org/officeDocument/2006/relationships/chart" Target="/ppt/slides/charts/chart4.xml" Id="R427db85df41f4245" /><Relationship Type="http://schemas.openxmlformats.org/officeDocument/2006/relationships/notesSlide" Target="/ppt/notesSlides/notesSlide7.xml" Id="R6e8f0c1e69934ba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80682a3ac04a35" /><Relationship Type="http://schemas.openxmlformats.org/officeDocument/2006/relationships/chart" Target="/ppt/slides/charts/chart5.xml" Id="R2a3f965b2d1c4fb1" /><Relationship Type="http://schemas.openxmlformats.org/officeDocument/2006/relationships/notesSlide" Target="/ppt/notesSlides/notesSlide8.xml" Id="R66d1207141504e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16641f226441f9" /><Relationship Type="http://schemas.openxmlformats.org/officeDocument/2006/relationships/chart" Target="/ppt/slides/charts/chart6.xml" Id="R5b1221c945c3489f" /><Relationship Type="http://schemas.openxmlformats.org/officeDocument/2006/relationships/notesSlide" Target="/ppt/notesSlides/notesSlide9.xml" Id="Rfab99720fd0e440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dcbeb8cc424e75" /><Relationship Type="http://schemas.openxmlformats.org/officeDocument/2006/relationships/notesSlide" Target="/ppt/notesSlides/notesSlide10.xml" Id="R70bc21c7100740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06ff12edc140bf" /><Relationship Type="http://schemas.openxmlformats.org/officeDocument/2006/relationships/notesSlide" Target="/ppt/notesSlides/notesSlide11.xml" Id="Rd5b7f6986ff041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2d235b87334f86" /><Relationship Type="http://schemas.openxmlformats.org/officeDocument/2006/relationships/chart" Target="/ppt/slides/charts/chart7.xml" Id="Ra59fd6fde9df49b5" /><Relationship Type="http://schemas.openxmlformats.org/officeDocument/2006/relationships/notesSlide" Target="/ppt/notesSlides/notesSlide12.xml" Id="R500669c9618d47a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c58eb8edd442d8" /><Relationship Type="http://schemas.openxmlformats.org/officeDocument/2006/relationships/notesSlide" Target="/ppt/notesSlides/notesSlide13.xml" Id="R05c814bd43f941b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8cb6f6e391437c" /><Relationship Type="http://schemas.openxmlformats.org/officeDocument/2006/relationships/notesSlide" Target="/ppt/notesSlides/notesSlide14.xml" Id="R31517f950894465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ebaa536844c03" /><Relationship Type="http://schemas.openxmlformats.org/officeDocument/2006/relationships/notesSlide" Target="/ppt/notesSlides/notesSlide15.xml" Id="R90cc054d46cc4fd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2c3630b5f64958" /><Relationship Type="http://schemas.openxmlformats.org/officeDocument/2006/relationships/notesSlide" Target="/ppt/notesSlides/notesSlide16.xml" Id="R75c91395d11f4b2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Historical NHN readmission trend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 b="1">
              <a:solidFill>
                <a:srgbClr val="0B2A33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Rate</c:v>
          </c:tx>
          <c:spPr>
            <a:ln xmlns:a="http://schemas.openxmlformats.org/drawingml/2006/main" w="28575">
              <a:solidFill>
                <a:srgbClr val="DC2626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DC2626"/>
              </a:solidFill>
            </c:spPr>
          </c:marker>
          <c:cat>
            <c:numRef>
              <c:f>'Chart Data'!$A$2:$A$5</c:f>
              <c:numCache>
                <c:formatCode>General</c:formatCod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numCache>
            </c:num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0.142</c:v>
                </c:pt>
                <c:pt idx="1">
                  <c:v>0.158</c:v>
                </c:pt>
                <c:pt idx="2">
                  <c:v>0.169</c:v>
                </c:pt>
                <c:pt idx="3">
                  <c:v>0.184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>
                  <a:solidFill>
                    <a:srgbClr val="0B2A33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2"/>
          <c:min val="0.1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Readmission rate by selected high-risk segment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 b="1">
              <a:solidFill>
                <a:srgbClr val="0B2A33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Rate</c:v>
          </c:tx>
          <c:spPr>
            <a:solidFill xmlns:a="http://schemas.openxmlformats.org/drawingml/2006/main">
              <a:srgbClr val="0B6F75"/>
            </a:solidFill>
          </c:spPr>
          <c:cat>
            <c:strRef>
              <c:f>'Chart Data'!$A$2:$A$7</c:f>
              <c:strCache>
                <c:ptCount val="6"/>
                <c:pt idx="0">
                  <c:v>5+</c:v>
                </c:pt>
                <c:pt idx="1">
                  <c:v>3+</c:v>
                </c:pt>
                <c:pt idx="2">
                  <c:v>Skilled Nursing</c:v>
                </c:pt>
                <c:pt idx="3">
                  <c:v>Emergency</c:v>
                </c:pt>
                <c:pt idx="4">
                  <c:v>3-4</c:v>
                </c:pt>
                <c:pt idx="5">
                  <c:v>2</c:v>
                </c:pt>
              </c:strCache>
            </c:strRef>
          </c:cat>
          <c:val>
            <c:numRef>
              <c:f>'Chart Data'!$B$2:$B$7</c:f>
              <c:numCache>
                <c:formatCode>0%</c:formatCode>
                <c:ptCount val="6"/>
                <c:pt idx="0">
                  <c:v>0.6234</c:v>
                </c:pt>
                <c:pt idx="1">
                  <c:v>0.5702</c:v>
                </c:pt>
                <c:pt idx="2">
                  <c:v>0.5435</c:v>
                </c:pt>
                <c:pt idx="3">
                  <c:v>0.5088</c:v>
                </c:pt>
                <c:pt idx="4">
                  <c:v>0.4956</c:v>
                </c:pt>
                <c:pt idx="5">
                  <c:v>0.4619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>
                  <a:solidFill>
                    <a:srgbClr val="0B2A33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75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Model performance comparison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 b="1">
              <a:solidFill>
                <a:srgbClr val="0B2A33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Baseline</c:v>
          </c:tx>
          <c:spPr>
            <a:solidFill xmlns:a="http://schemas.openxmlformats.org/drawingml/2006/main">
              <a:srgbClr val="94A3B8"/>
            </a:solidFill>
          </c:spPr>
          <c:cat>
            <c:strRef>
              <c:f>'Chart Data'!$A$2:$A$6</c:f>
              <c:strCache>
                <c:ptCount val="5"/>
                <c:pt idx="0">
                  <c:v>Accuracy</c:v>
                </c:pt>
                <c:pt idx="1">
                  <c:v>Precision</c:v>
                </c:pt>
                <c:pt idx="2">
                  <c:v>Recall</c:v>
                </c:pt>
                <c:pt idx="3">
                  <c:v>F1</c:v>
                </c:pt>
                <c:pt idx="4">
                  <c:v>ROC-AUC</c:v>
                </c:pt>
              </c:strCache>
            </c:strRef>
          </c:cat>
          <c:val>
            <c:numRef>
              <c:f>'Chart Data'!$B$2:$B$6</c:f>
              <c:numCache>
                <c:formatCode>0%</c:formatCode>
                <c:ptCount val="5"/>
                <c:pt idx="0">
                  <c:v>0.6572</c:v>
                </c:pt>
                <c:pt idx="1">
                  <c:v>0.6333</c:v>
                </c:pt>
                <c:pt idx="2">
                  <c:v>0.5013</c:v>
                </c:pt>
                <c:pt idx="3">
                  <c:v>0.5596</c:v>
                </c:pt>
                <c:pt idx="4">
                  <c:v>0.7071</c:v>
                </c:pt>
              </c:numCache>
            </c:numRef>
          </c:val>
        </c:ser>
        <c:ser>
          <c:idx val="1"/>
          <c:order val="1"/>
          <c:tx>
            <c:v>Expanded</c:v>
          </c:tx>
          <c:spPr>
            <a:solidFill xmlns:a="http://schemas.openxmlformats.org/drawingml/2006/main">
              <a:srgbClr val="0F6B78"/>
            </a:solidFill>
          </c:spPr>
          <c:cat>
            <c:strRef>
              <c:f>'Chart Data'!$C$2:$C$6</c:f>
              <c:strCache>
                <c:ptCount val="5"/>
                <c:pt idx="0">
                  <c:v>Accuracy</c:v>
                </c:pt>
                <c:pt idx="1">
                  <c:v>Precision</c:v>
                </c:pt>
                <c:pt idx="2">
                  <c:v>Recall</c:v>
                </c:pt>
                <c:pt idx="3">
                  <c:v>F1</c:v>
                </c:pt>
                <c:pt idx="4">
                  <c:v>ROC-AUC</c:v>
                </c:pt>
              </c:strCache>
            </c:strRef>
          </c:cat>
          <c:val>
            <c:numRef>
              <c:f>'Chart Data'!$D$2:$D$6</c:f>
              <c:numCache>
                <c:formatCode>0%</c:formatCode>
                <c:ptCount val="5"/>
                <c:pt idx="0">
                  <c:v>0.6831</c:v>
                </c:pt>
                <c:pt idx="1">
                  <c:v>0.6618</c:v>
                </c:pt>
                <c:pt idx="2">
                  <c:v>0.5531</c:v>
                </c:pt>
                <c:pt idx="3">
                  <c:v>0.6026</c:v>
                </c:pt>
                <c:pt idx="4">
                  <c:v>0.7396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>
                  <a:solidFill>
                    <a:srgbClr val="0B2A33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8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516773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Observed readmission rate by model risk decile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 b="1">
              <a:solidFill>
                <a:srgbClr val="0B2A33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Rate</c:v>
          </c:tx>
          <c:spPr>
            <a:solidFill xmlns:a="http://schemas.openxmlformats.org/drawingml/2006/main">
              <a:srgbClr val="0F6B78"/>
            </a:solidFill>
          </c:spPr>
          <c:cat>
            <c:strRef>
              <c:f>'Chart Data'!$A$2:$A$11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'Chart Data'!$B$2:$B$11</c:f>
              <c:numCache>
                <c:formatCode>0%</c:formatCode>
                <c:ptCount val="10"/>
                <c:pt idx="0">
                  <c:v>0.1183</c:v>
                </c:pt>
                <c:pt idx="1">
                  <c:v>0.2083</c:v>
                </c:pt>
                <c:pt idx="2">
                  <c:v>0.2575</c:v>
                </c:pt>
                <c:pt idx="3">
                  <c:v>0.3033</c:v>
                </c:pt>
                <c:pt idx="4">
                  <c:v>0.365</c:v>
                </c:pt>
                <c:pt idx="5">
                  <c:v>0.4675</c:v>
                </c:pt>
                <c:pt idx="6">
                  <c:v>0.5183</c:v>
                </c:pt>
                <c:pt idx="7">
                  <c:v>0.5767</c:v>
                </c:pt>
                <c:pt idx="8">
                  <c:v>0.6817</c:v>
                </c:pt>
                <c:pt idx="9">
                  <c:v>0.8233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>
                  <a:solidFill>
                    <a:srgbClr val="0B2A33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9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Observed readmission difference with intervention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 b="1">
              <a:solidFill>
                <a:srgbClr val="0B2A33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Rate</c:v>
          </c:tx>
          <c:spPr>
            <a:solidFill xmlns:a="http://schemas.openxmlformats.org/drawingml/2006/main">
              <a:srgbClr val="E4B73D"/>
            </a:solidFill>
          </c:spPr>
          <c:invertIfNegative val="0"/>
          <c:cat>
            <c:strRef>
              <c:f>'Chart Data'!$A$2:$A$7</c:f>
              <c:strCache>
                <c:ptCount val="6"/>
                <c:pt idx="0">
                  <c:v>Medication review</c:v>
                </c:pt>
                <c:pt idx="1">
                  <c:v>Post-discharge call</c:v>
                </c:pt>
                <c:pt idx="2">
                  <c:v>Coordinator</c:v>
                </c:pt>
                <c:pt idx="3">
                  <c:v>Follow-up</c:v>
                </c:pt>
                <c:pt idx="4">
                  <c:v>Transport</c:v>
                </c:pt>
                <c:pt idx="5">
                  <c:v>Home health</c:v>
                </c:pt>
              </c:strCache>
            </c:strRef>
          </c:cat>
          <c:val>
            <c:numRef>
              <c:f>'Chart Data'!$B$2:$B$7</c:f>
              <c:numCache>
                <c:formatCode>0.0%</c:formatCode>
                <c:ptCount val="6"/>
                <c:pt idx="0">
                  <c:v>0.0321</c:v>
                </c:pt>
                <c:pt idx="1">
                  <c:v>0.0266</c:v>
                </c:pt>
                <c:pt idx="2">
                  <c:v>0.0133</c:v>
                </c:pt>
                <c:pt idx="3">
                  <c:v>0.0012</c:v>
                </c:pt>
                <c:pt idx="4">
                  <c:v>-0.0017</c:v>
                </c:pt>
                <c:pt idx="5">
                  <c:v>-0.0029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>
                  <a:solidFill>
                    <a:srgbClr val="0B2A33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04"/>
          <c:min val="-0.01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Cost components in cleaned dataset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 b="1">
              <a:solidFill>
                <a:srgbClr val="0B2A33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Rate</c:v>
          </c:tx>
          <c:spPr>
            <a:solidFill xmlns:a="http://schemas.openxmlformats.org/drawingml/2006/main">
              <a:srgbClr val="DC2626"/>
            </a:solidFill>
          </c:spPr>
          <c:cat>
            <c:strRef>
              <c:f>'Chart Data'!$A$2:$A$5</c:f>
              <c:strCache>
                <c:ptCount val="4"/>
                <c:pt idx="0">
                  <c:v>Follow-up program</c:v>
                </c:pt>
                <c:pt idx="1">
                  <c:v>CMS penalty</c:v>
                </c:pt>
                <c:pt idx="2">
                  <c:v>Length-of-stay</c:v>
                </c:pt>
                <c:pt idx="3">
                  <c:v>Readmission</c:v>
                </c:pt>
              </c:strCache>
            </c:strRef>
          </c:cat>
          <c:val>
            <c:numRef>
              <c:f>'Chart Data'!$B$2:$B$5</c:f>
              <c:numCache>
                <c:formatCode>$0M</c:formatCode>
                <c:ptCount val="4"/>
                <c:pt idx="0">
                  <c:v>5.3024</c:v>
                </c:pt>
                <c:pt idx="1">
                  <c:v>21.2479</c:v>
                </c:pt>
                <c:pt idx="2">
                  <c:v>74.603</c:v>
                </c:pt>
                <c:pt idx="3">
                  <c:v>223.1229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>
                  <a:solidFill>
                    <a:srgbClr val="0B2A33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24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$0M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Estimated net savings by scenario ($M)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 b="1">
              <a:solidFill>
                <a:srgbClr val="0B2A33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Rate</c:v>
          </c:tx>
          <c:spPr>
            <a:solidFill xmlns:a="http://schemas.openxmlformats.org/drawingml/2006/main">
              <a:srgbClr val="16A34A"/>
            </a:solidFill>
          </c:spPr>
          <c:cat>
            <c:strRef>
              <c:f>'Chart Data'!$A$2:$A$4</c:f>
              <c:strCache>
                <c:ptCount val="3"/>
                <c:pt idx="0">
                  <c:v>Conservative</c:v>
                </c:pt>
                <c:pt idx="1">
                  <c:v>Expected</c:v>
                </c:pt>
                <c:pt idx="2">
                  <c:v>Optimistic</c:v>
                </c:pt>
              </c:strCache>
            </c:strRef>
          </c:cat>
          <c:val>
            <c:numRef>
              <c:f>'Chart Data'!$B$2:$B$4</c:f>
              <c:numCache>
                <c:formatCode>$0.00M</c:formatCode>
                <c:ptCount val="3"/>
                <c:pt idx="0">
                  <c:v>4.2797</c:v>
                </c:pt>
                <c:pt idx="1">
                  <c:v>8.8094</c:v>
                </c:pt>
                <c:pt idx="2">
                  <c:v>13.3595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>
                  <a:solidFill>
                    <a:srgbClr val="0B2A33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15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$0.00M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3F6426-4CDE-41ED-A209-D1AA6405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93969D-D299-48C7-9A55-E1DCCFF5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C1415C-E6A8-44BD-9D01-E6CF7158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8001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651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National Hospital Network readmission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BA78A8-B1A3-470E-9C90-3517756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4182A9-F2BB-441B-AEB9-58D563BD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571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Executive Board presentation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663D8F-0DD8-45EB-BF27-5D4BA4AF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944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29444F"/>
                </a:solidFill>
                <a:latin typeface="Helvetica Neue"/>
                <a:ea typeface="Helvetica Neue"/>
                <a:cs typeface="Helvetica Neue"/>
              </a:rPr>
              <a:t>Clinical analytics, financial impact, care coordination, and 12-month implementation plan.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488D68-39B2-44DB-A70D-2BBA696E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09800"/>
            <a:ext cx="0" cy="3619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6D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D1569D-15C7-4E4B-B807-6BCEB246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860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571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Current decision context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F5187-63BE-4E5F-92EF-89CC855C4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800350"/>
            <a:ext cx="4000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69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944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29444F"/>
                </a:solidFill>
                <a:latin typeface="Helvetica Neue"/>
                <a:ea typeface="Helvetica Neue"/>
                <a:cs typeface="Helvetica Neue"/>
              </a:rPr>
              <a:t>NHN has rising 30-day readmissions, elevated analytical-sample risk, and a material financial opportunity if intervention targeting improves.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B496CE-9BF5-42C6-BE99-867C3085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447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6D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9E34D8-EEEC-4F3D-9256-6C68BFD5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ANALYTICAL PATIENTS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9AB179-82E8-48F8-B296-693CB3F6E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12,000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77BB77-48F0-4909-8FBB-19C92CB4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Matched across 3 datasets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2D60A7-8D3D-427B-9372-2D044F0A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767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READMISSION 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FA6F78-4BEC-4FB3-A0F9-7D6EC727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4340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rPr>
              <a:t>43.2%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0D5DDA-D791-488E-9B05-23E3A9F5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7625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Current analytical sample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2F3E2A-4560-4D8A-8B69-403F43F1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767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EXPECTED NET SAVINGS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59D377-A965-47DC-A5DB-480E899D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4340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rPr>
              <a:t>$8.81M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16AF4E-33F7-4036-B8E4-438923D8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7625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Before cost validation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E5B9D7-09EA-47EB-BDFA-4A9B8BF8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767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MODEL ROC-AUC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63723B-57C2-4A66-AB4B-22BD8F16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4340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rPr>
              <a:t>0.74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FB2F94-36E2-4570-8624-9510FABF2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625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Expanded clinical model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D7CA82-88A9-4B3C-B216-0C71DA9A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882542-01DC-4610-82CC-7EFC9D91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</p:spTree>
    <p:extLst>
      <p:ext uri="{BB962C8B-B14F-4D97-AF65-F5344CB8AC3E}">
        <p14:creationId xmlns:p14="http://schemas.microsoft.com/office/powerpoint/2010/main" val="11896299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32477C-5FB7-418E-9F8D-F7601C63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BFE1D4-06F1-406B-91B8-3A00CC8D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D528B5-D0F1-4271-BFA6-CCF50919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DECISION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21D84C-96BC-402F-B065-F6DAEF00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Executive Summary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D618A2-8431-4BDA-8B1E-61C7045B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BB4768-D411-4E85-A726-94643D9C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06C2D3-3A41-481A-B9A0-49DA8DAD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A4135B-84FE-493D-95B6-9AFC3951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READMISSION RATE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86DAE1-2352-4DDD-8654-F8C774EB5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rPr>
              <a:t>43.2%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3C27C0-6C42-4BDC-8DA3-32021905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5,184 readmitted patients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BAF84A-F1C7-4CF0-96D0-5640FE0B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907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MODEL ROC-AUC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89C3C-8BFD-4D93-BEC0-3FB533B7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5740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rPr>
              <a:t>0.74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FF62CE-5021-4244-856F-81709D9F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4765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Expanded clinical 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7AB30A-6C06-469E-A4D6-C41C5C34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907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PENALTY EXPOSURE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5206DB-D8E3-478A-991D-92BD6C9F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05740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rPr>
              <a:t>$21.2M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DC23CC-34E8-441C-B68D-DE1F50C1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765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Nonnegative exposure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8228B1-4A1D-463E-BABC-17D344A2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7907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EXPECTED ROI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215902-EEF7-4427-8FCE-F4F8709A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5740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rPr>
              <a:t>5.03x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9B6D39-E9BC-4996-9A8B-9B71C97D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765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$8.81M net savings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8C911C-65F2-4ADD-9346-AB1B81C9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337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8F26B7-2594-45A5-B6B3-155E72392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433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215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Use separate clinical quality, financial, capacity, care coordination, and data quality lenses for the readmission problem.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0D8547-7CE9-43C9-BCD9-821A1805F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862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F89496-AB3E-47DE-B3E8-61272FD24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915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Cover deciles 8-10 and other high-risk clinical groups rather than narrowing the pilot to one minimum segment.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32B6D0-3DF6-4E4D-A0FA-DBB67676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386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B77778-868B-4950-A821-C6563D616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482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51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Build the executive dashboard in Tableau first using the prepared extract, KPI definitions, and validation checks.</a:t>
            </a:r>
          </a:p>
        </p:txBody>
      </p:sp>
    </p:spTree>
    <p:extLst>
      <p:ext uri="{BB962C8B-B14F-4D97-AF65-F5344CB8AC3E}">
        <p14:creationId xmlns:p14="http://schemas.microsoft.com/office/powerpoint/2010/main" val="11976996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BD1461-9006-4FF7-88F8-D91C9466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E71EF6-E127-414D-9211-375B7C5D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8E3378-DDFD-4EE8-BDE1-367638B8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BUSINESS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80A08D-6F44-43B0-8A95-A2AD0F1D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Readmissions Are Moving In The Wrong Direction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DE506C-FE63-4EE4-96CC-16D1CD5F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265940-D258-4EEB-9F43-608D0BDD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3E0CB6-CEF0-4375-9BE8-E518623B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685800" y="1638300"/>
          <a:ext xmlns:a="http://schemas.openxmlformats.org/drawingml/2006/main" cx="5334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45e4001f8e14085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7CE20F-8FCD-441E-9108-9DEE482E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573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8EF4B7-044D-4FE0-A8D0-B619F0CE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669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634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Readmissions increased from 14.2% in 2022 to 18.4% in 2025.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26A4FD-4C3A-4B6C-8F7D-71B1AB6E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765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08F651-D91F-41A8-B40E-D6A7C80B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860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75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Leadership estimates more than $42M in annual readmission-related cost.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195288-99B9-4BD6-934C-06A39717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956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C69412-F2FC-4726-8FC8-C7808F2C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5052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75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The challenge affects patient outcomes, inpatient capacity, staff workload, and CMS penalty exposure.</a:t>
            </a:r>
          </a:p>
        </p:txBody>
      </p:sp>
    </p:spTree>
    <p:extLst>
      <p:ext uri="{BB962C8B-B14F-4D97-AF65-F5344CB8AC3E}">
        <p14:creationId xmlns:p14="http://schemas.microsoft.com/office/powerpoint/2010/main" val="820866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157C25-3F20-4F94-A7CD-EEDB0904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76A669-5DF7-40D6-90DC-648B1DBA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E77168-7B7E-40E1-8440-5B09D17B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DATA OVERVIEW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A44AE4-9804-4F8D-AADD-7451A4FD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Integrated Data Foundation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BFBB99-8612-4FD7-877F-6017A6C9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58FA26-30A0-4BDA-A2E2-9E92641B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FE98A7-2444-4C51-B427-FBAAA05F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85800" y="1600200"/>
          <a:ext xmlns:a="http://schemas.openxmlformats.org/drawingml/2006/main" cx="5334000" cy="2476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697182"/>
                <a:gridCol w="969818"/>
                <a:gridCol w="2667000"/>
              </a:tblGrid>
              <a:tr h="619125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Dataset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Records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Role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Patient readmissions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12,000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 profile and target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Financial impact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12,000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Cost, penalty, and reimbursement fields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Care coordination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12,000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Intervention and follow-up activity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graphicFrame>
        <p:nvGraphicFramePr>
          <p:cNvPr id="19" name=""/>
          <p:cNvGraphicFramePr/>
          <p:nvPr/>
        </p:nvGraphicFramePr>
        <p:xfrm>
          <a:off xmlns:a="http://schemas.openxmlformats.org/drawingml/2006/main" x="6457950" y="1600200"/>
          <a:ext xmlns:a="http://schemas.openxmlformats.org/drawingml/2006/main" cx="4953000" cy="3048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857375"/>
                <a:gridCol w="866775"/>
                <a:gridCol w="2228850"/>
              </a:tblGrid>
              <a:tr h="508000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Data quality issue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Records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Rate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follow-up status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2,587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21.6%</a:t>
                      </a:r>
                    </a:p>
                  </a:txBody>
                  <a:tcPr marL="91440" marR="91440" marT="45720" marB="45720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insurance type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2.0%</a:t>
                      </a:r>
                    </a:p>
                  </a:txBody>
                  <a:tcPr marL="91440" marR="91440" marT="45720" marB="45720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length of stay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2.0%</a:t>
                      </a:r>
                    </a:p>
                  </a:txBody>
                  <a:tcPr marL="91440" marR="91440" marT="45720" marB="45720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penalty cost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2.0%</a:t>
                      </a:r>
                    </a:p>
                  </a:txBody>
                  <a:tcPr marL="91440" marR="91440" marT="45720" marB="45720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follow-up program cost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2.0%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25271A-7132-4469-8F36-DBCE5037C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Join key: patient_id. All source files match cleanly across the 12,000-patient analytical sample.</a:t>
            </a:r>
          </a:p>
        </p:txBody>
      </p:sp>
    </p:spTree>
    <p:extLst>
      <p:ext uri="{BB962C8B-B14F-4D97-AF65-F5344CB8AC3E}">
        <p14:creationId xmlns:p14="http://schemas.microsoft.com/office/powerpoint/2010/main" val="15288451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A54DD1-6BBE-4BD5-ACA2-E439875B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E6B475-9103-4708-B711-C75925D7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D2F288-5BD1-48AE-AAA9-B13FAAD4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CLINICAL ANALYSIS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6E6F63-E2B2-4DD8-8135-B15E8F4C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High-Risk Segments Are Clinically Intuitive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5DD356-A533-46CE-B685-33FE0AC4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00193A-4981-40FA-AE84-3D29D337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12945E-E665-4B1C-AF1F-626085A1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6191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7e08bf427942c9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9F3DAC-406B-437F-BB00-B5BB1957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192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2240EC-C059-415E-99E8-793B90A2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288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75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Emergency admissions have a 50.9% observed readmission rate.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EBE5F6-A025-471D-B554-BE379657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765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DC5AF0-5E1A-4F4E-854D-43AF811F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860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75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Skilled nursing discharge and higher chronic-condition burden signal elevated risk.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6D94EB-FF9F-450A-9761-FE76D441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337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A13B91-49DB-4DBD-8F4D-F3E5E946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5433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75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Prior admissions remain one of the strongest clinical predictors.</a:t>
            </a:r>
          </a:p>
        </p:txBody>
      </p:sp>
    </p:spTree>
    <p:extLst>
      <p:ext uri="{BB962C8B-B14F-4D97-AF65-F5344CB8AC3E}">
        <p14:creationId xmlns:p14="http://schemas.microsoft.com/office/powerpoint/2010/main" val="20590295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D2575F-F388-4EAE-9E9E-1CD1402E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6DFCB-8E80-4FE5-BBDE-EEF25D3E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70504D-90F9-46F5-A1B8-24ED801C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PREDICTIVE MODELING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BCA50A-5BF0-4CDA-899D-D78AB113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Use A Staged Modeling Approach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4579BD-CE4D-4373-9851-555FB697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B91B3F-75E9-47EE-8D7E-86DF39C8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03BFA5-D6DD-464C-9365-113260DE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5715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1ae4342807431e"/>
          </a:graphicData>
        </a:graphic>
      </p:graphicFrame>
      <p:graphicFrame>
        <p:nvGraphicFramePr>
          <p:cNvPr id="19" name=""/>
          <p:cNvGraphicFramePr/>
          <p:nvPr/>
        </p:nvGraphicFramePr>
        <p:xfrm>
          <a:off xmlns:a="http://schemas.openxmlformats.org/drawingml/2006/main" x="6934200" y="1581150"/>
          <a:ext xmlns:a="http://schemas.openxmlformats.org/drawingml/2006/main" cx="409575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30500"/>
                <a:gridCol w="1365250"/>
              </a:tblGrid>
              <a:tr h="476250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Top model driver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Coefficient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Prior Admissions 12m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0.54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Chronic Conditions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0.53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Emergency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0.46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Length Of Stay Days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0.38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Age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0.35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Skilled Nursing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0.22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C167F-D52E-48EF-9099-A7C9AA11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2197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4314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Use model output as one layer in a broader risk workflow, not as the only decision rule.</a:t>
            </a:r>
          </a:p>
        </p:txBody>
      </p:sp>
    </p:spTree>
    <p:extLst>
      <p:ext uri="{BB962C8B-B14F-4D97-AF65-F5344CB8AC3E}">
        <p14:creationId xmlns:p14="http://schemas.microsoft.com/office/powerpoint/2010/main" val="6779771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3BE426-BADE-4B3B-B1B3-C59F0AA5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C88470-9AC5-4EA0-8365-C6DDA327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04BB34-D3CF-464C-B212-46B62B69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OPERATIONAL USE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2C39B7-31B6-4C28-A018-DDD7E3BA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Risk Deciles Separate Readmission Rates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2963F-ED0E-457E-B7C1-EA1D2161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959EA-2F12-4EBD-AE53-52DF332F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CA2CEC-95FE-46AD-A0F5-20F13873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723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27db85df41f4245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4BF552-5991-4F85-98A9-938FBA34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26289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6F6F12-A485-4A91-9762-E43C89B7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383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25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E53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E5360"/>
                </a:solidFill>
                <a:latin typeface="Helvetica Neue"/>
                <a:ea typeface="Helvetica Neue"/>
                <a:cs typeface="Helvetica Neue"/>
              </a:rPr>
              <a:t>Recommended operating rule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4C757D-502D-40E2-80FA-13720D0A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95550"/>
            <a:ext cx="2190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7866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Start with deciles 8-10 plus clinical rules for repeat admissions, chronic burden, emergency admission, and skilled nursing discharge.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14D308-8BAB-470C-B01A-0377A3C7D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43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64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rPr>
              <a:t>Top decile rate: 82.3%</a:t>
            </a:r>
          </a:p>
        </p:txBody>
      </p:sp>
    </p:spTree>
    <p:extLst>
      <p:ext uri="{BB962C8B-B14F-4D97-AF65-F5344CB8AC3E}">
        <p14:creationId xmlns:p14="http://schemas.microsoft.com/office/powerpoint/2010/main" val="11756820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91240C-2833-452F-A9E0-F2ACD383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4C7C1A-FE2B-4DAF-8B11-CE05014F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05DE4F-FA41-420B-9408-B5B3BFA0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CARE COORDINATION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3214CA-6A6E-4AAC-8D8D-69B9B255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Redesign Targeting And Timing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582EED-EEB9-43E2-9EF2-512805E0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A5FBA-779B-4057-86AA-81D9E251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AEA5F-97AA-47DB-B601-B625F631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619125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3f965b2d1c4fb1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BAD7C0-E163-4209-9CBD-6F0EF7F7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049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FC5BA0-EDF6-469C-BB9B-B4FF611A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145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1053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Observed differences are associations, not causal estimates.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B21FBA-7E01-48A4-A6C7-DAE5FC3E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003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CB023C-3D85-41B7-9F30-07C36E13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098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1053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Selection bias strengthens the case for better targeting and earlier intervention timing.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ECE31F-82B7-4D7D-BB09-2C33CBAA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956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5BAD29-B436-4230-8D39-61C99BCE5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5052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1053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Priority should be broad high-risk coverage, completion tracking, and redesign of intervention assignment rules.</a:t>
            </a:r>
          </a:p>
        </p:txBody>
      </p:sp>
    </p:spTree>
    <p:extLst>
      <p:ext uri="{BB962C8B-B14F-4D97-AF65-F5344CB8AC3E}">
        <p14:creationId xmlns:p14="http://schemas.microsoft.com/office/powerpoint/2010/main" val="7178515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A834A5-0660-44EC-8EAD-65669525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1E9FDA-12AB-413E-91B8-F81E5F60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1E9665-9182-4888-B466-238C1C94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FINANCIAL IMPACT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F02E54-270E-4E4A-9F30-EE2BA196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Financial Exposure Is Material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799408-DB62-4B09-A533-1BFCF4C8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363115-1E69-4900-BEE4-25C43B3E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BED3B3-060F-4410-B59F-57CA1F2A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5905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b1221c945c3489f"/>
          </a:graphicData>
        </a:graphic>
      </p:graphicFrame>
      <p:graphicFrame>
        <p:nvGraphicFramePr>
          <p:cNvPr id="19" name=""/>
          <p:cNvGraphicFramePr/>
          <p:nvPr/>
        </p:nvGraphicFramePr>
        <p:xfrm>
          <a:off xmlns:a="http://schemas.openxmlformats.org/drawingml/2006/main" x="7124700" y="1809750"/>
          <a:ext xmlns:a="http://schemas.openxmlformats.org/drawingml/2006/main" cx="4000500" cy="1809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238250"/>
                <a:gridCol w="857250"/>
                <a:gridCol w="952500"/>
                <a:gridCol w="952500"/>
              </a:tblGrid>
              <a:tr h="603250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Group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Patients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Total cost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Penalty cost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Not readmitted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6,816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$172.11M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$12.11M</a:t>
                      </a:r>
                    </a:p>
                  </a:txBody>
                  <a:tcPr marL="91440" marR="91440" marT="45720" marB="45720"/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Readmitted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5,184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$131.01M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$9.14M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D301F-6FC7-4E9E-AB53-93194BE5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57650"/>
            <a:ext cx="3905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055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Financial estimates should use nonnegative fields and scenario sensitivity because the raw file contains missing and negative financial values.</a:t>
            </a:r>
          </a:p>
        </p:txBody>
      </p:sp>
    </p:spTree>
    <p:extLst>
      <p:ext uri="{BB962C8B-B14F-4D97-AF65-F5344CB8AC3E}">
        <p14:creationId xmlns:p14="http://schemas.microsoft.com/office/powerpoint/2010/main" val="3896670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F22199-8300-4353-9B8E-1321924E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B2B3CB-7E73-4BF3-A30C-868303EB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CBC25A-C5B7-4FCD-8DDD-99A0B6B3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EXECUTIVE DASHBOARD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28CED7-8F03-4C4F-8D5F-874DAA5E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Dashboard Build Plan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490C71-ADBE-49E4-95A5-6C253B86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13ECD4-476F-487C-99A8-87CCB874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C5A1F1-90AD-4850-BD85-D729C659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666750" y="1714500"/>
          <a:ext xmlns:a="http://schemas.openxmlformats.org/drawingml/2006/main" cx="7620000" cy="32575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945532"/>
                <a:gridCol w="2269787"/>
                <a:gridCol w="3404681"/>
              </a:tblGrid>
              <a:tr h="542925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Page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Purpose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Primary visuals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Executive KPI Summary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Presentation-level status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KPI cards, risk decile chart, recommendation table</a:t>
                      </a:r>
                    </a:p>
                  </a:txBody>
                  <a:tcPr marL="91440" marR="91440" marT="45720" marB="45720"/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 Analytics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Risk drivers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Age, diagnosis, chronic burden, prior admissions</a:t>
                      </a:r>
                    </a:p>
                  </a:txBody>
                  <a:tcPr marL="91440" marR="91440" marT="45720" marB="45720"/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Financial Analytics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Cost exposure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Cost components, penalty exposure, ROI scenarios</a:t>
                      </a:r>
                    </a:p>
                  </a:txBody>
                  <a:tcPr marL="91440" marR="91440" marT="45720" marB="45720"/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Care Coordination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Operational execution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Intervention completion and follow-up timing</a:t>
                      </a:r>
                    </a:p>
                  </a:txBody>
                  <a:tcPr marL="91440" marR="91440" marT="45720" marB="45720"/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Recommendation Center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Management actions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Priority matrix, roadmap, success metrics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FA3C3B-E003-4CB8-BEF0-2E407A14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288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REQUIRED TOOL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3395CF-3F8C-4C09-AF5C-5B4AFE38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9550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rPr>
              <a:t>Tableau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08EE0E-6AC5-4CCF-A6E6-390E6C872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146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Primary dashboard path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A1AA90-69F9-487A-A86D-30F8199C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956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DASHBOARD ROWS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9F7FCC-9D73-40CB-A059-94B989FD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623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12,000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551DFB-3732-49A6-A948-E450890E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814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One row per patient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03F3CB-7B35-489C-8668-8CCA1DE60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57750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96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Use dashboard_ready_extract.csv plus the Tableau build package and validation checks in deliverable 06.</a:t>
            </a:r>
          </a:p>
        </p:txBody>
      </p:sp>
    </p:spTree>
    <p:extLst>
      <p:ext uri="{BB962C8B-B14F-4D97-AF65-F5344CB8AC3E}">
        <p14:creationId xmlns:p14="http://schemas.microsoft.com/office/powerpoint/2010/main" val="13024511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A938C9-8ECB-449C-A9FE-C467523E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EC451-9291-4A42-984B-620D200D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0714FB-BDE9-468A-9072-FCD9DF08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STRATEGY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0CBEF7-06B5-4E5A-BCAE-9DF42823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Recommendations Link Directly To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ED889-8385-46AB-8FDE-74E3E7FD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EF6A2D-AB1F-4BBC-BB98-CA695234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7E1496-1ADD-4BDD-83E6-72702EB27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85800" y="1714500"/>
          <a:ext xmlns:a="http://schemas.openxmlformats.org/drawingml/2006/main" cx="9715500" cy="35052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67128"/>
                <a:gridCol w="5994670"/>
                <a:gridCol w="1653702"/>
              </a:tblGrid>
              <a:tr h="584200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Recommendation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Timing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Risk score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Expanded clinical model ROC-AUC is 0.74 and risk deciles separate observed readmission rates.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0-3 months</a:t>
                      </a:r>
                    </a:p>
                  </a:txBody>
                  <a:tcPr marL="91440" marR="91440" marT="45720" marB="45720"/>
                </a:tc>
              </a:tr>
              <a:tr h="584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Discharge review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Emergency admissions and skilled nursing discharges show elevated readmission rates.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0-3 months</a:t>
                      </a:r>
                    </a:p>
                  </a:txBody>
                  <a:tcPr marL="91440" marR="91440" marT="45720" marB="45720"/>
                </a:tc>
              </a:tr>
              <a:tr h="584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Follow-up gaps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Unknown follow-up status has the highest observed readmission rate and 2,587 records lack follow-up status.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0-3 months</a:t>
                      </a:r>
                    </a:p>
                  </a:txBody>
                  <a:tcPr marL="91440" marR="91440" marT="45720" marB="45720"/>
                </a:tc>
              </a:tr>
              <a:tr h="584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Targeted care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Patients with 5+ chronic conditions and 3+ prior admissions show materially higher readmission rates.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3-6 months</a:t>
                      </a:r>
                    </a:p>
                  </a:txBody>
                  <a:tcPr marL="91440" marR="91440" marT="45720" marB="45720"/>
                </a:tc>
              </a:tr>
              <a:tr h="584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Dashboard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project requires integrated clinical, financial, and operational reporting for executive decisions.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3-6 months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8A363-BFEF-410C-AD61-9D236E55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673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1111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Highest priority: risk score, discharge review, follow-up documentation, targeted care, and executive reporting.</a:t>
            </a:r>
          </a:p>
        </p:txBody>
      </p:sp>
    </p:spTree>
    <p:extLst>
      <p:ext uri="{BB962C8B-B14F-4D97-AF65-F5344CB8AC3E}">
        <p14:creationId xmlns:p14="http://schemas.microsoft.com/office/powerpoint/2010/main" val="17926987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29C5E-3365-4A57-B206-0713126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7C59BE-AF39-445D-A134-2ECEAE26D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014D66-BAED-4ED0-B90F-BFBB38D5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ROI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E9EBD6-65BE-434B-BD7A-E9232C9F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Expected Scenario Produces $8.81M Net Savings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77A422-5294-4442-AC58-671660D1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2002D4-1A4B-49A2-AAA9-9112B4AA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D05FA5-99F4-4747-85CE-F37D2B0E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5334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59fd6fde9df49b5"/>
          </a:graphicData>
        </a:graphic>
      </p:graphicFrame>
      <p:graphicFrame>
        <p:nvGraphicFramePr>
          <p:cNvPr id="19" name=""/>
          <p:cNvGraphicFramePr/>
          <p:nvPr/>
        </p:nvGraphicFramePr>
        <p:xfrm>
          <a:off xmlns:a="http://schemas.openxmlformats.org/drawingml/2006/main" x="6591300" y="1790700"/>
          <a:ext xmlns:a="http://schemas.openxmlformats.org/drawingml/2006/main" cx="4762500" cy="22669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992188"/>
                <a:gridCol w="892969"/>
                <a:gridCol w="1190625"/>
                <a:gridCol w="992188"/>
                <a:gridCol w="694531"/>
              </a:tblGrid>
              <a:tr h="566738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Scenario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Reduction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Avoided readmissions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Net savings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ROI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56673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Conservative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5.0%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259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$4.28M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4.28x</a:t>
                      </a:r>
                    </a:p>
                  </a:txBody>
                  <a:tcPr marL="91440" marR="91440" marT="45720" marB="45720"/>
                </a:tc>
              </a:tr>
              <a:tr h="56673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Expected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10.0%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518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$8.81M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5.03x</a:t>
                      </a:r>
                    </a:p>
                  </a:txBody>
                  <a:tcPr marL="91440" marR="91440" marT="45720" marB="45720"/>
                </a:tc>
              </a:tr>
              <a:tr h="56673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Optimistic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15.0%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778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$13.36M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5.34x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56C27C-7357-4F00-81AC-057AAE1F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33900"/>
            <a:ext cx="4343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Assumptions need final validation with Finance before they are treated as budget commitments.</a:t>
            </a:r>
          </a:p>
        </p:txBody>
      </p:sp>
    </p:spTree>
    <p:extLst>
      <p:ext uri="{BB962C8B-B14F-4D97-AF65-F5344CB8AC3E}">
        <p14:creationId xmlns:p14="http://schemas.microsoft.com/office/powerpoint/2010/main" val="18767044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2B3AE4-F6A1-438A-8A4F-0CBCBC12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1A0E64-694C-4E45-BFE4-E3B90B59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BC45D7-7C82-491D-B4CD-69E30EA0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90B695-4BFC-469B-BFD7-B6BC6655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12-Month Implementation Roadmap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ADF9E5-019B-4F40-8620-1B41862C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C8FD7C-FD54-4598-A500-4B098618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40D6A3-16DB-4BD1-9DF8-394E1DC9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85800" y="1714500"/>
          <a:ext xmlns:a="http://schemas.openxmlformats.org/drawingml/2006/main" cx="9906000" cy="3905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386840"/>
                <a:gridCol w="5349240"/>
                <a:gridCol w="3169920"/>
              </a:tblGrid>
              <a:tr h="488156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Phase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Initiative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Owner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0-3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Approve dashboard KPIs, risk model governance, and readmission reduction targets.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Executive sponsor and analytics lead</a:t>
                      </a:r>
                    </a:p>
                  </a:txBody>
                  <a:tcPr marL="91440" marR="91440" marT="45720" marB="45720"/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0-3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Pilot pre-discharge risk scoring for emergency admissions and skilled nursing discharges.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 operations and analytics</a:t>
                      </a:r>
                    </a:p>
                  </a:txBody>
                  <a:tcPr marL="91440" marR="91440" marT="45720" marB="45720"/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0-3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Fix follow-up status documentation workflow and missing-value monitoring.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Care coordination leadership</a:t>
                      </a:r>
                    </a:p>
                  </a:txBody>
                  <a:tcPr marL="91440" marR="91440" marT="45720" marB="45720"/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3-6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Expand targeted care coordination for high-risk chronic disease and prior-admission groups.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Care coordination leadership</a:t>
                      </a:r>
                    </a:p>
                  </a:txBody>
                  <a:tcPr marL="91440" marR="91440" marT="45720" marB="45720"/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3-6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Build Tableau dashboard using the prepared dashboard extract.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BI team</a:t>
                      </a:r>
                    </a:p>
                  </a:txBody>
                  <a:tcPr marL="91440" marR="91440" marT="45720" marB="45720"/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6-12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Track ROI, readmission reduction, CMS penalty exposure, and intervention performance monthly.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Finance and quality leadership</a:t>
                      </a:r>
                    </a:p>
                  </a:txBody>
                  <a:tcPr marL="91440" marR="91440" marT="45720" marB="45720"/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6-12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Refresh and validate the risk model with new outcomes and operational feedback.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Analytics and clinical governance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5205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904F71-3191-4039-BFDB-3B420F8D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B98AE4-EC27-4394-B969-6E9EEF5A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4E2ACC-9F07-486B-97AE-0F329916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MEASUREMENT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FF4B95-9C1A-4A1B-BB2F-6B91C78D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Success Measures And Governance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C64130-E647-4988-8B68-6D89B401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555AC-8A25-4BD6-AA15-97C2FA2F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B65FFB-FE94-408F-9C66-EF0ED80E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22" name=""/>
          <p:cNvGraphicFramePr/>
          <p:nvPr/>
        </p:nvGraphicFramePr>
        <p:xfrm>
          <a:off xmlns:a="http://schemas.openxmlformats.org/drawingml/2006/main" x="685800" y="1714500"/>
          <a:ext xmlns:a="http://schemas.openxmlformats.org/drawingml/2006/main" cx="7048500" cy="3238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294622"/>
                <a:gridCol w="2445398"/>
                <a:gridCol w="1582316"/>
                <a:gridCol w="1726163"/>
              </a:tblGrid>
              <a:tr h="462643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Dimension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Metric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Target direction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Readmission rate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Decrease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Dashboard extract</a:t>
                      </a:r>
                    </a:p>
                  </a:txBody>
                  <a:tcPr marL="91440" marR="91440" marT="45720" marB="45720"/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High-risk patient intervention completion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Increase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Care coordination data</a:t>
                      </a:r>
                    </a:p>
                  </a:txBody>
                  <a:tcPr marL="91440" marR="91440" marT="45720" marB="45720"/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Financial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CMS penalty exposure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Decrease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Financial impact data</a:t>
                      </a:r>
                    </a:p>
                  </a:txBody>
                  <a:tcPr marL="91440" marR="91440" marT="45720" marB="45720"/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Financial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Net savings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Increase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ROI scenario model</a:t>
                      </a:r>
                    </a:p>
                  </a:txBody>
                  <a:tcPr marL="91440" marR="91440" marT="45720" marB="45720"/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Operational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Unknown follow-up status rate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Decrease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Patient readmission data</a:t>
                      </a:r>
                    </a:p>
                  </a:txBody>
                  <a:tcPr marL="91440" marR="91440" marT="45720" marB="45720"/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Analytics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Model ROC-AUC and recall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Maintain or improve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Model evaluation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78CB8F-7649-41FF-8DE2-81ED3F2B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240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F770E5-D141-49D7-AC23-055ABB01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7335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8131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Monthly executive review of readmission rate, penalties, net savings, and intervention completion.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6F91EE-AD56-4037-ADDB-CB9F470AB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384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0724A-FEE6-464C-B1E8-74FF21A4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479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Quarterly model refresh review with clinical governance.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C2D73B-B6F8-454C-BF7B-F60075C6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528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9C21FC-3C6D-439E-B797-4F61A6D2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623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Dashboard data quality checks before every executive reporting cycle.</a:t>
            </a:r>
          </a:p>
        </p:txBody>
      </p:sp>
    </p:spTree>
    <p:extLst>
      <p:ext uri="{BB962C8B-B14F-4D97-AF65-F5344CB8AC3E}">
        <p14:creationId xmlns:p14="http://schemas.microsoft.com/office/powerpoint/2010/main" val="64691653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257C25-928E-4516-99F2-2AF589D9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0A9F91-7006-443A-B9CF-FCC9FEA4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D5F91-1205-489E-A782-2DDC5403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CLOSE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A1A501-AD96-4D0A-9253-FF4F616B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Board Decision Points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E28A62-3323-498E-9FF0-E6C0117E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6DFAB4-7087-4E95-B6B9-F0404A6B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DE93A5-1B3C-4677-A889-5C78954F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3295EB-668E-4B8C-8A01-A5D8E8F2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478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4E07D4-71BC-404A-AA5D-D12BD305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573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72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Approve a broad high-risk readmission reduction pilot covering deciles 8-10 and clinical-rule segments.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E699EC-B61E-4D7F-847F-0F32A5B8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145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07BCC0-38A0-4A85-93CB-8375F352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3241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184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Approve staged model governance so no single model carries the full healthcare decision risk.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A99134-97B1-430A-97CF-6C3CFC35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813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33CAAF-76F6-4CB7-B891-8C745A53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908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Approve Tableau dashboard development for presentation and executive review.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0B98ED-19F2-4FD4-B40A-A70C07FDE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480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3DECC9-C977-40F3-BFA7-D9DAC4EE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576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Approve follow-up documentation workflow improvements.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5F4D6C-AB96-4364-B858-C03BC8A8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148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B78C60-762B-46C3-8499-F2EEB9C4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243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Validate implementation cost assumptions for ROI tracking.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4D1A81-A180-45D3-B1FC-256209F7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149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D6D48E-FC2B-468A-8DE1-C9AD7483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46735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882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65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66534"/>
                </a:solidFill>
                <a:latin typeface="Helvetica Neue"/>
                <a:ea typeface="Helvetica Neue"/>
                <a:cs typeface="Helvetica Neue"/>
              </a:rPr>
              <a:t>Recommended decision: fund the 0-3 month pilot and dashboard build, then review ROI monthly.</a:t>
            </a:r>
          </a:p>
        </p:txBody>
      </p:sp>
    </p:spTree>
    <p:extLst>
      <p:ext uri="{BB962C8B-B14F-4D97-AF65-F5344CB8AC3E}">
        <p14:creationId xmlns:p14="http://schemas.microsoft.com/office/powerpoint/2010/main" val="123633099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557B22-8305-410D-9E3C-056DC054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89CA61-4A80-4ACB-A30A-12BA69C2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02A09E-7085-4581-97B5-2E19AF74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E5846E-8091-4C07-A81F-17442FCD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References And Evidence Controls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DBE2C1-1639-4D41-9938-9A1B0322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3B343F-E750-4C44-8E6E-93924AA9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E508BD-06A2-44EF-9AE8-941F9A23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85800" y="1714500"/>
          <a:ext xmlns:a="http://schemas.openxmlformats.org/drawingml/2006/main" cx="9906000" cy="31813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467100"/>
                <a:gridCol w="6438900"/>
              </a:tblGrid>
              <a:tr h="454479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 area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References used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454479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Project packet and NHN data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INT-1 through INT-6</a:t>
                      </a:r>
                    </a:p>
                  </a:txBody>
                  <a:tcPr marL="91440" marR="91440" marT="45720" marB="45720"/>
                </a:tc>
              </a:tr>
              <a:tr h="454479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CMS and payment context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EXT-1 and EXT-2</a:t>
                      </a:r>
                    </a:p>
                  </a:txBody>
                  <a:tcPr marL="91440" marR="91440" marT="45720" marB="45720"/>
                </a:tc>
              </a:tr>
              <a:tr h="454479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Readmission baseline context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EXT-3 and EXT-4</a:t>
                      </a:r>
                    </a:p>
                  </a:txBody>
                  <a:tcPr marL="91440" marR="91440" marT="45720" marB="45720"/>
                </a:tc>
              </a:tr>
              <a:tr h="454479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Care transition evidence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EXT-5 and EXT-6</a:t>
                      </a:r>
                    </a:p>
                  </a:txBody>
                  <a:tcPr marL="91440" marR="91440" marT="45720" marB="45720"/>
                </a:tc>
              </a:tr>
              <a:tr h="454479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Model reporting standards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EXT-7 and EXT-8</a:t>
                      </a:r>
                    </a:p>
                  </a:txBody>
                  <a:tcPr marL="91440" marR="91440" marT="45720" marB="45720"/>
                </a:tc>
              </a:tr>
              <a:tr h="454479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Repository controls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REFERENCES.md, EVIDENCE_STANDARDS.md, REPORT_EVIDENCE_AUDIT.md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6E7B38-609F-4433-AFBD-D1A104295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57800"/>
            <a:ext cx="8839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A2E37D-0E1B-46C6-8A63-46EDF907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410200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53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E5360"/>
                </a:solidFill>
                <a:latin typeface="Helvetica Neue"/>
                <a:ea typeface="Helvetica Neue"/>
                <a:cs typeface="Helvetica Neue"/>
              </a:rPr>
              <a:t>Evidence audit passed: 8 external references used and core metrics reconciled to source files.</a:t>
            </a:r>
          </a:p>
        </p:txBody>
      </p:sp>
    </p:spTree>
    <p:extLst>
      <p:ext uri="{BB962C8B-B14F-4D97-AF65-F5344CB8AC3E}">
        <p14:creationId xmlns:p14="http://schemas.microsoft.com/office/powerpoint/2010/main" val="16950972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2026-09-18T19:30:12.6040000Z</dcterms:created>
  <dcterms:modified xsi:type="dcterms:W3CDTF">2026-09-18T19:30:12.6040000Z</dcterms:modified>
</coreProperties>
</file>